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60" d="100"/>
          <a:sy n="160" d="100"/>
        </p:scale>
        <p:origin x="922" y="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631" y="75410"/>
            <a:ext cx="2066925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294" y="615929"/>
            <a:ext cx="5065395" cy="2197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77088" y="3094619"/>
            <a:ext cx="786130" cy="1333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61601" y="3095228"/>
            <a:ext cx="161925" cy="132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lorenzo.giardini@polimi.i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lorenzo.giardini@polimi.it" TargetMode="External"/><Relationship Id="rId2" Type="http://schemas.openxmlformats.org/officeDocument/2006/relationships/hyperlink" Target="mailto:marco.mehl@polimi.i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hdl.handle.net/11311/579546" TargetMode="External"/><Relationship Id="rId2" Type="http://schemas.openxmlformats.org/officeDocument/2006/relationships/hyperlink" Target="http://hdl.handle.net/11311/57954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iblio.com/9780199660346" TargetMode="External"/><Relationship Id="rId5" Type="http://schemas.openxmlformats.org/officeDocument/2006/relationships/hyperlink" Target="http://hdl.handle.net/11311/1003033" TargetMode="External"/><Relationship Id="rId4" Type="http://schemas.openxmlformats.org/officeDocument/2006/relationships/hyperlink" Target="http://hdl.handle.net/11311/663722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it.mathworks.com/help/matlab/getting-started-with-matlab.html" TargetMode="External"/><Relationship Id="rId3" Type="http://schemas.openxmlformats.org/officeDocument/2006/relationships/hyperlink" Target="https://link.springer.com/book/10.1007/978-88-470-5644-2" TargetMode="External"/><Relationship Id="rId7" Type="http://schemas.openxmlformats.org/officeDocument/2006/relationships/hyperlink" Target="https://github.com/CRECKMODELING/Calcoli-di-Processo-dell-Ingegneria-Chimica" TargetMode="External"/><Relationship Id="rId2" Type="http://schemas.openxmlformats.org/officeDocument/2006/relationships/hyperlink" Target="https://www.amazon.it/Data-Driven-Science-Engineering-Learning-Dynamical/dp/1009098489/ref%3Dasc_df_1009098489/?tag=googshopit-21&amp;linkCode=df0&amp;hvadid=560287860614&amp;hvpos&amp;hvnetw=g&amp;hvrand=14266207767663986773&amp;hvpone&amp;hvptwo&amp;hvqmt&amp;hvdev=c&amp;hvdvcmdl&amp;hvlocint&amp;hvlocphy=1008463&amp;hvtargid=pla-1599460130783&amp;psc=1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ocw.mit.edu/courses/10-34-numerical-methods-applied-to-chemical-engineering-fall-2015/pages/syllabus/" TargetMode="External"/><Relationship Id="rId5" Type="http://schemas.openxmlformats.org/officeDocument/2006/relationships/hyperlink" Target="https://www.ibs.it/calcolo-numerico-applicato-libro-davide-manca/e/9788837116972" TargetMode="External"/><Relationship Id="rId4" Type="http://schemas.openxmlformats.org/officeDocument/2006/relationships/hyperlink" Target="https://www.amazon.it/Calcolo-Scientifico-Esercizi-problemi-risolti-dp-8847039525/dp/8847039525/ref%3Ddp_ob_title_bk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3" Type="http://schemas.openxmlformats.org/officeDocument/2006/relationships/slide" Target="slide10.xml"/><Relationship Id="rId7" Type="http://schemas.openxmlformats.org/officeDocument/2006/relationships/slide" Target="slide28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5" Type="http://schemas.openxmlformats.org/officeDocument/2006/relationships/slide" Target="slide15.xml"/><Relationship Id="rId10" Type="http://schemas.openxmlformats.org/officeDocument/2006/relationships/slide" Target="slide32.xml"/><Relationship Id="rId4" Type="http://schemas.openxmlformats.org/officeDocument/2006/relationships/slide" Target="slide11.xml"/><Relationship Id="rId9" Type="http://schemas.openxmlformats.org/officeDocument/2006/relationships/slide" Target="slide3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443242"/>
            <a:ext cx="19538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 dirty="0">
                <a:solidFill>
                  <a:srgbClr val="22373A"/>
                </a:solidFill>
              </a:rPr>
              <a:t>Introduction</a:t>
            </a:r>
            <a:r>
              <a:rPr sz="1400" spc="-70" dirty="0">
                <a:solidFill>
                  <a:srgbClr val="22373A"/>
                </a:solidFill>
              </a:rPr>
              <a:t> </a:t>
            </a:r>
            <a:r>
              <a:rPr sz="1400" spc="-20" dirty="0">
                <a:solidFill>
                  <a:srgbClr val="22373A"/>
                </a:solidFill>
              </a:rPr>
              <a:t>to</a:t>
            </a:r>
            <a:r>
              <a:rPr sz="1400" spc="-65" dirty="0">
                <a:solidFill>
                  <a:srgbClr val="22373A"/>
                </a:solidFill>
              </a:rPr>
              <a:t> </a:t>
            </a:r>
            <a:r>
              <a:rPr sz="1400" spc="-80" dirty="0">
                <a:solidFill>
                  <a:srgbClr val="22373A"/>
                </a:solidFill>
              </a:rPr>
              <a:t>MATLAB</a:t>
            </a:r>
            <a:endParaRPr sz="1400"/>
          </a:p>
        </p:txBody>
      </p:sp>
      <p:sp>
        <p:nvSpPr>
          <p:cNvPr id="3" name="object 3"/>
          <p:cNvSpPr txBox="1"/>
          <p:nvPr/>
        </p:nvSpPr>
        <p:spPr>
          <a:xfrm>
            <a:off x="347294" y="768413"/>
            <a:ext cx="294259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20" dirty="0">
                <a:solidFill>
                  <a:srgbClr val="22373A"/>
                </a:solidFill>
                <a:latin typeface="Calibri"/>
                <a:cs typeface="Calibri"/>
              </a:rPr>
              <a:t>Calcoli</a:t>
            </a:r>
            <a:r>
              <a:rPr sz="12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2373A"/>
                </a:solidFill>
                <a:latin typeface="Calibri"/>
                <a:cs typeface="Calibri"/>
              </a:rPr>
              <a:t>di</a:t>
            </a:r>
            <a:r>
              <a:rPr sz="12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2373A"/>
                </a:solidFill>
                <a:latin typeface="Calibri"/>
                <a:cs typeface="Calibri"/>
              </a:rPr>
              <a:t>Processo</a:t>
            </a:r>
            <a:r>
              <a:rPr sz="12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2373A"/>
                </a:solidFill>
                <a:latin typeface="Calibri"/>
                <a:cs typeface="Calibri"/>
              </a:rPr>
              <a:t>dell’</a:t>
            </a:r>
            <a:r>
              <a:rPr sz="12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2373A"/>
                </a:solidFill>
                <a:latin typeface="Calibri"/>
                <a:cs typeface="Calibri"/>
              </a:rPr>
              <a:t>Ingegneria</a:t>
            </a:r>
            <a:r>
              <a:rPr sz="12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Calibri"/>
                <a:cs typeface="Calibri"/>
              </a:rPr>
              <a:t>Chimica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9994" y="1201686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5040058" y="0"/>
                </a:moveTo>
                <a:lnTo>
                  <a:pt x="0" y="0"/>
                </a:lnTo>
                <a:lnTo>
                  <a:pt x="0" y="5054"/>
                </a:lnTo>
                <a:lnTo>
                  <a:pt x="5040058" y="5054"/>
                </a:lnTo>
                <a:lnTo>
                  <a:pt x="5040058" y="0"/>
                </a:lnTo>
                <a:close/>
              </a:path>
            </a:pathLst>
          </a:custGeom>
          <a:solidFill>
            <a:srgbClr val="021E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9194" y="1440771"/>
            <a:ext cx="4498340" cy="680314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25"/>
              </a:spcBef>
            </a:pPr>
            <a:r>
              <a:rPr lang="it-IT" sz="1000" spc="-55" dirty="0">
                <a:solidFill>
                  <a:srgbClr val="22373A"/>
                </a:solidFill>
                <a:latin typeface="Lucida Sans Unicode"/>
                <a:cs typeface="Lucida Sans Unicode"/>
              </a:rPr>
              <a:t>Lorenzo Giardini</a:t>
            </a:r>
          </a:p>
          <a:p>
            <a:pPr marL="50800">
              <a:lnSpc>
                <a:spcPct val="100000"/>
              </a:lnSpc>
              <a:spcBef>
                <a:spcPts val="525"/>
              </a:spcBef>
            </a:pP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Department</a:t>
            </a:r>
            <a:r>
              <a:rPr sz="8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Chemistry,</a:t>
            </a:r>
            <a:r>
              <a:rPr sz="8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Materials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Chemical</a:t>
            </a:r>
            <a:r>
              <a:rPr sz="8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Enginering,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“Giulio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Natta”,</a:t>
            </a:r>
            <a:r>
              <a:rPr sz="8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Politecnico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di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Calibri"/>
                <a:cs typeface="Calibri"/>
              </a:rPr>
              <a:t>Milano.</a:t>
            </a:r>
            <a:endParaRPr sz="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800" dirty="0">
              <a:latin typeface="Calibri"/>
              <a:cs typeface="Calibri"/>
            </a:endParaRPr>
          </a:p>
          <a:p>
            <a:pPr marL="50800" algn="just">
              <a:lnSpc>
                <a:spcPct val="100000"/>
              </a:lnSpc>
            </a:pPr>
            <a:r>
              <a:rPr sz="800" spc="-20" dirty="0">
                <a:solidFill>
                  <a:srgbClr val="22373A"/>
                </a:solidFill>
                <a:latin typeface="Lucida Sans Unicode"/>
                <a:cs typeface="Lucida Sans Unicode"/>
              </a:rPr>
              <a:t>email</a:t>
            </a:r>
            <a:r>
              <a:rPr sz="800" spc="-20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sz="800" spc="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it-IT" sz="800" u="sng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lorenzo.giardin</a:t>
            </a:r>
            <a:r>
              <a:rPr sz="800" u="sng" dirty="0" err="1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i</a:t>
            </a:r>
            <a:r>
              <a:rPr sz="800" u="sng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@</a:t>
            </a:r>
            <a:r>
              <a:rPr lang="it-IT" sz="800" u="sng" dirty="0" err="1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polimi</a:t>
            </a:r>
            <a:r>
              <a:rPr sz="800" u="sng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.it</a:t>
            </a:r>
            <a:endParaRPr sz="800" u="sng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18505" y="171782"/>
            <a:ext cx="1022985" cy="736600"/>
            <a:chOff x="4518505" y="171782"/>
            <a:chExt cx="1022985" cy="7366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18505" y="575904"/>
              <a:ext cx="1002895" cy="3322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4084" y="171782"/>
              <a:ext cx="1017309" cy="367963"/>
            </a:xfrm>
            <a:prstGeom prst="rect">
              <a:avLst/>
            </a:prstGeom>
          </p:spPr>
        </p:pic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Contacts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spc="-40" dirty="0"/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38566"/>
            <a:ext cx="4763770" cy="81724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Professor</a:t>
            </a:r>
            <a:r>
              <a:rPr sz="1100" spc="-40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Marco</a:t>
            </a:r>
            <a:r>
              <a:rPr sz="1100" spc="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Mehl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spc="-95" dirty="0">
                <a:solidFill>
                  <a:srgbClr val="22373A"/>
                </a:solidFill>
                <a:latin typeface="Lucida Sans Unicode"/>
                <a:cs typeface="Lucida Sans Unicode"/>
              </a:rPr>
              <a:t>e-</a:t>
            </a:r>
            <a:r>
              <a:rPr sz="11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mail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sz="1100" spc="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marco.mehl@polimi.it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18000"/>
              </a:lnSpc>
            </a:pP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Office</a:t>
            </a: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sz="1100" spc="3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Leonardo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Campus,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Building</a:t>
            </a:r>
            <a:r>
              <a:rPr sz="1100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6,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Department</a:t>
            </a:r>
            <a:r>
              <a:rPr sz="1100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Chemistry,</a:t>
            </a:r>
            <a:r>
              <a:rPr sz="1100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Materials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30" dirty="0">
                <a:solidFill>
                  <a:srgbClr val="22373A"/>
                </a:solidFill>
                <a:latin typeface="Calibri"/>
                <a:cs typeface="Calibri"/>
              </a:rPr>
              <a:t>and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Chemical</a:t>
            </a:r>
            <a:r>
              <a:rPr sz="1100" spc="2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Enginering,</a:t>
            </a:r>
            <a:r>
              <a:rPr sz="1100" spc="2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“Giulio</a:t>
            </a:r>
            <a:r>
              <a:rPr sz="1100" spc="2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Natta”,</a:t>
            </a:r>
            <a:r>
              <a:rPr sz="1100" spc="2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Politecnico</a:t>
            </a:r>
            <a:r>
              <a:rPr sz="1100" spc="2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di</a:t>
            </a:r>
            <a:r>
              <a:rPr sz="1100" spc="2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Milano.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1957283"/>
            <a:ext cx="4763770" cy="81724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spc="-60" dirty="0">
                <a:solidFill>
                  <a:srgbClr val="22373A"/>
                </a:solidFill>
                <a:latin typeface="Lucida Sans Unicode"/>
                <a:cs typeface="Lucida Sans Unicode"/>
              </a:rPr>
              <a:t>Teacher</a:t>
            </a:r>
            <a:r>
              <a:rPr sz="11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assistant</a:t>
            </a:r>
            <a:r>
              <a:rPr sz="1100" spc="-35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sz="11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it-IT" sz="1100" dirty="0">
                <a:solidFill>
                  <a:srgbClr val="22373A"/>
                </a:solidFill>
                <a:latin typeface="Calibri"/>
                <a:cs typeface="Calibri"/>
              </a:rPr>
              <a:t>Lorenzo Giardin</a:t>
            </a:r>
            <a:r>
              <a:rPr sz="1100" spc="-10" dirty="0" err="1">
                <a:solidFill>
                  <a:srgbClr val="22373A"/>
                </a:solidFill>
                <a:latin typeface="Calibri"/>
                <a:cs typeface="Calibri"/>
              </a:rPr>
              <a:t>i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spc="-95" dirty="0">
                <a:solidFill>
                  <a:srgbClr val="22373A"/>
                </a:solidFill>
                <a:latin typeface="Lucida Sans Unicode"/>
                <a:cs typeface="Lucida Sans Unicode"/>
              </a:rPr>
              <a:t>e-</a:t>
            </a:r>
            <a:r>
              <a:rPr sz="11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mail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sz="1100" spc="2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it-IT" sz="1100" u="sng" dirty="0">
                <a:solidFill>
                  <a:srgbClr val="22373A"/>
                </a:solidFill>
                <a:latin typeface="Calibri"/>
                <a:cs typeface="Calibri"/>
                <a:hlinkClick r:id="rId3"/>
              </a:rPr>
              <a:t>lorenzo.giardini@polimi.it</a:t>
            </a:r>
            <a:endParaRPr lang="en-US" sz="1100" dirty="0">
              <a:latin typeface="Calibri"/>
              <a:cs typeface="Calibri"/>
            </a:endParaRPr>
          </a:p>
          <a:p>
            <a:pPr marL="12700" marR="5080">
              <a:lnSpc>
                <a:spcPct val="118000"/>
              </a:lnSpc>
            </a:pPr>
            <a:r>
              <a:rPr lang="en-US"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Office</a:t>
            </a:r>
            <a:r>
              <a:rPr lang="en-US" sz="1100" spc="-50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lang="en-US" sz="1100" spc="3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en-US" sz="1100" dirty="0">
                <a:solidFill>
                  <a:srgbClr val="22373A"/>
                </a:solidFill>
                <a:latin typeface="Calibri"/>
                <a:cs typeface="Calibri"/>
              </a:rPr>
              <a:t>Leonardo</a:t>
            </a:r>
            <a:r>
              <a:rPr lang="en-US"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en-US" sz="1100" dirty="0">
                <a:solidFill>
                  <a:srgbClr val="22373A"/>
                </a:solidFill>
                <a:latin typeface="Calibri"/>
                <a:cs typeface="Calibri"/>
              </a:rPr>
              <a:t>Campus,</a:t>
            </a:r>
            <a:r>
              <a:rPr lang="en-US"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en-US" sz="1100" dirty="0">
                <a:solidFill>
                  <a:srgbClr val="22373A"/>
                </a:solidFill>
                <a:latin typeface="Calibri"/>
                <a:cs typeface="Calibri"/>
              </a:rPr>
              <a:t>Building</a:t>
            </a:r>
            <a:r>
              <a:rPr lang="en-US" sz="1100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en-US" sz="1100" dirty="0">
                <a:solidFill>
                  <a:srgbClr val="22373A"/>
                </a:solidFill>
                <a:latin typeface="Calibri"/>
                <a:cs typeface="Calibri"/>
              </a:rPr>
              <a:t>6,</a:t>
            </a:r>
            <a:r>
              <a:rPr lang="en-US"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en-US" sz="1100" dirty="0">
                <a:solidFill>
                  <a:srgbClr val="22373A"/>
                </a:solidFill>
                <a:latin typeface="Calibri"/>
                <a:cs typeface="Calibri"/>
              </a:rPr>
              <a:t>Department</a:t>
            </a:r>
            <a:r>
              <a:rPr lang="en-US" sz="1100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en-US"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lang="en-US"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en-US" sz="1100" dirty="0">
                <a:solidFill>
                  <a:srgbClr val="22373A"/>
                </a:solidFill>
                <a:latin typeface="Calibri"/>
                <a:cs typeface="Calibri"/>
              </a:rPr>
              <a:t>Chemistry,</a:t>
            </a:r>
            <a:r>
              <a:rPr lang="en-US" sz="1100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en-US" sz="1100" dirty="0">
                <a:solidFill>
                  <a:srgbClr val="22373A"/>
                </a:solidFill>
                <a:latin typeface="Calibri"/>
                <a:cs typeface="Calibri"/>
              </a:rPr>
              <a:t>Materials</a:t>
            </a:r>
            <a:r>
              <a:rPr lang="en-US"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en-US" sz="1100" spc="30" dirty="0">
                <a:solidFill>
                  <a:srgbClr val="22373A"/>
                </a:solidFill>
                <a:latin typeface="Calibri"/>
                <a:cs typeface="Calibri"/>
              </a:rPr>
              <a:t>and </a:t>
            </a:r>
            <a:r>
              <a:rPr lang="en-US" sz="1100" dirty="0">
                <a:solidFill>
                  <a:srgbClr val="22373A"/>
                </a:solidFill>
                <a:latin typeface="Calibri"/>
                <a:cs typeface="Calibri"/>
              </a:rPr>
              <a:t>Chemical</a:t>
            </a:r>
            <a:r>
              <a:rPr lang="en-US" sz="1100" spc="2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en-US" sz="1100" dirty="0" err="1">
                <a:solidFill>
                  <a:srgbClr val="22373A"/>
                </a:solidFill>
                <a:latin typeface="Calibri"/>
                <a:cs typeface="Calibri"/>
              </a:rPr>
              <a:t>Enginering</a:t>
            </a:r>
            <a:r>
              <a:rPr lang="en-US" sz="1100" dirty="0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lang="en-US" sz="1100" spc="2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en-US" sz="1100" dirty="0">
                <a:solidFill>
                  <a:srgbClr val="22373A"/>
                </a:solidFill>
                <a:latin typeface="Calibri"/>
                <a:cs typeface="Calibri"/>
              </a:rPr>
              <a:t>“Giulio</a:t>
            </a:r>
            <a:r>
              <a:rPr lang="en-US" sz="1100" spc="2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en-US" sz="1100" dirty="0">
                <a:solidFill>
                  <a:srgbClr val="22373A"/>
                </a:solidFill>
                <a:latin typeface="Calibri"/>
                <a:cs typeface="Calibri"/>
              </a:rPr>
              <a:t>Natta”,</a:t>
            </a:r>
            <a:r>
              <a:rPr lang="en-US" sz="1100" spc="2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en-US" sz="1100" dirty="0" err="1">
                <a:solidFill>
                  <a:srgbClr val="22373A"/>
                </a:solidFill>
                <a:latin typeface="Calibri"/>
                <a:cs typeface="Calibri"/>
              </a:rPr>
              <a:t>Politecnico</a:t>
            </a:r>
            <a:r>
              <a:rPr lang="en-US" sz="1100" spc="2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en-US" sz="1100" dirty="0">
                <a:solidFill>
                  <a:srgbClr val="22373A"/>
                </a:solidFill>
                <a:latin typeface="Calibri"/>
                <a:cs typeface="Calibri"/>
              </a:rPr>
              <a:t>di</a:t>
            </a:r>
            <a:r>
              <a:rPr lang="en-US" sz="1100" spc="2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en-US" sz="1100" spc="-10" dirty="0">
                <a:solidFill>
                  <a:srgbClr val="22373A"/>
                </a:solidFill>
                <a:latin typeface="Calibri"/>
                <a:cs typeface="Calibri"/>
              </a:rPr>
              <a:t>Milano.</a:t>
            </a:r>
            <a:endParaRPr lang="en-US" sz="11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87001" y="3095228"/>
            <a:ext cx="62230" cy="132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-50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Resources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EB801A"/>
                </a:solidFill>
              </a:rPr>
              <a:t>Books</a:t>
            </a:r>
            <a:r>
              <a:rPr sz="1000" spc="-10" dirty="0"/>
              <a:t>:</a:t>
            </a:r>
            <a:endParaRPr sz="1000"/>
          </a:p>
          <a:p>
            <a:pPr marL="287655" marR="5080" indent="-166370">
              <a:lnSpc>
                <a:spcPct val="127299"/>
              </a:lnSpc>
              <a:spcBef>
                <a:spcPts val="1125"/>
              </a:spcBef>
              <a:buSzPct val="111111"/>
              <a:buFont typeface="Arial"/>
              <a:buChar char="►"/>
              <a:tabLst>
                <a:tab pos="289560" algn="l"/>
              </a:tabLst>
            </a:pPr>
            <a:r>
              <a:rPr sz="900" spc="-10" dirty="0">
                <a:hlinkClick r:id="rId2"/>
              </a:rPr>
              <a:t>G.,</a:t>
            </a:r>
            <a:r>
              <a:rPr sz="900" spc="180" dirty="0">
                <a:hlinkClick r:id="rId2"/>
              </a:rPr>
              <a:t> </a:t>
            </a:r>
            <a:r>
              <a:rPr sz="900" dirty="0">
                <a:hlinkClick r:id="rId2"/>
              </a:rPr>
              <a:t>Buzzi</a:t>
            </a:r>
            <a:r>
              <a:rPr sz="900" spc="180" dirty="0">
                <a:hlinkClick r:id="rId2"/>
              </a:rPr>
              <a:t> </a:t>
            </a:r>
            <a:r>
              <a:rPr sz="900" dirty="0">
                <a:hlinkClick r:id="rId2"/>
              </a:rPr>
              <a:t>Ferraris;</a:t>
            </a:r>
            <a:r>
              <a:rPr sz="900" spc="180" dirty="0">
                <a:hlinkClick r:id="rId2"/>
              </a:rPr>
              <a:t> </a:t>
            </a:r>
            <a:r>
              <a:rPr sz="900" dirty="0">
                <a:hlinkClick r:id="rId2"/>
              </a:rPr>
              <a:t>Manenti,</a:t>
            </a:r>
            <a:r>
              <a:rPr sz="900" spc="185" dirty="0">
                <a:hlinkClick r:id="rId2"/>
              </a:rPr>
              <a:t> </a:t>
            </a:r>
            <a:r>
              <a:rPr sz="900" dirty="0">
                <a:hlinkClick r:id="rId2"/>
              </a:rPr>
              <a:t>Flavio.</a:t>
            </a:r>
            <a:r>
              <a:rPr sz="900" spc="315" dirty="0">
                <a:hlinkClick r:id="rId2"/>
              </a:rPr>
              <a:t> </a:t>
            </a:r>
            <a:r>
              <a:rPr sz="900" dirty="0">
                <a:hlinkClick r:id="rId2"/>
              </a:rPr>
              <a:t>Fundamentals</a:t>
            </a:r>
            <a:r>
              <a:rPr sz="900" spc="180" dirty="0">
                <a:hlinkClick r:id="rId2"/>
              </a:rPr>
              <a:t> </a:t>
            </a:r>
            <a:r>
              <a:rPr sz="900" dirty="0">
                <a:hlinkClick r:id="rId2"/>
              </a:rPr>
              <a:t>and</a:t>
            </a:r>
            <a:r>
              <a:rPr sz="900" spc="180" dirty="0">
                <a:hlinkClick r:id="rId2"/>
              </a:rPr>
              <a:t> </a:t>
            </a:r>
            <a:r>
              <a:rPr sz="900" dirty="0">
                <a:hlinkClick r:id="rId2"/>
              </a:rPr>
              <a:t>Linear</a:t>
            </a:r>
            <a:r>
              <a:rPr sz="900" spc="185" dirty="0">
                <a:hlinkClick r:id="rId2"/>
              </a:rPr>
              <a:t> </a:t>
            </a:r>
            <a:r>
              <a:rPr sz="900" dirty="0">
                <a:hlinkClick r:id="rId2"/>
              </a:rPr>
              <a:t>Algebra</a:t>
            </a:r>
            <a:r>
              <a:rPr sz="900" spc="180" dirty="0">
                <a:hlinkClick r:id="rId2"/>
              </a:rPr>
              <a:t> </a:t>
            </a:r>
            <a:r>
              <a:rPr sz="900" dirty="0">
                <a:hlinkClick r:id="rId2"/>
              </a:rPr>
              <a:t>for</a:t>
            </a:r>
            <a:r>
              <a:rPr sz="900" spc="180" dirty="0">
                <a:hlinkClick r:id="rId2"/>
              </a:rPr>
              <a:t> </a:t>
            </a:r>
            <a:r>
              <a:rPr sz="900" dirty="0">
                <a:hlinkClick r:id="rId2"/>
              </a:rPr>
              <a:t>the</a:t>
            </a:r>
            <a:r>
              <a:rPr sz="900" spc="180" dirty="0">
                <a:hlinkClick r:id="rId2"/>
              </a:rPr>
              <a:t> </a:t>
            </a:r>
            <a:r>
              <a:rPr sz="900" dirty="0">
                <a:hlinkClick r:id="rId2"/>
              </a:rPr>
              <a:t>Chemical</a:t>
            </a:r>
            <a:r>
              <a:rPr sz="900" spc="185" dirty="0">
                <a:hlinkClick r:id="rId2"/>
              </a:rPr>
              <a:t> </a:t>
            </a:r>
            <a:r>
              <a:rPr sz="900" spc="-10" dirty="0">
                <a:hlinkClick r:id="rId2"/>
              </a:rPr>
              <a:t>Engineer:</a:t>
            </a:r>
            <a:r>
              <a:rPr sz="900" spc="10" dirty="0"/>
              <a:t> 	</a:t>
            </a:r>
            <a:r>
              <a:rPr sz="900" spc="10" dirty="0">
                <a:hlinkClick r:id="rId2"/>
              </a:rPr>
              <a:t>Solving</a:t>
            </a:r>
            <a:r>
              <a:rPr sz="900" spc="240" dirty="0">
                <a:hlinkClick r:id="rId2"/>
              </a:rPr>
              <a:t> </a:t>
            </a:r>
            <a:r>
              <a:rPr sz="900" spc="10" dirty="0">
                <a:hlinkClick r:id="rId2"/>
              </a:rPr>
              <a:t>Numerical</a:t>
            </a:r>
            <a:r>
              <a:rPr sz="900" spc="245" dirty="0">
                <a:hlinkClick r:id="rId2"/>
              </a:rPr>
              <a:t> </a:t>
            </a:r>
            <a:r>
              <a:rPr sz="900" spc="-10" dirty="0">
                <a:hlinkClick r:id="rId2"/>
              </a:rPr>
              <a:t>Problems.</a:t>
            </a:r>
            <a:endParaRPr sz="900"/>
          </a:p>
          <a:p>
            <a:pPr marL="287655" marR="334010" indent="-166370">
              <a:lnSpc>
                <a:spcPct val="127299"/>
              </a:lnSpc>
              <a:spcBef>
                <a:spcPts val="595"/>
              </a:spcBef>
              <a:buSzPct val="111111"/>
              <a:buFont typeface="Arial"/>
              <a:buChar char="►"/>
              <a:tabLst>
                <a:tab pos="289560" algn="l"/>
              </a:tabLst>
            </a:pPr>
            <a:r>
              <a:rPr sz="900" spc="-10" dirty="0">
                <a:hlinkClick r:id="rId3"/>
              </a:rPr>
              <a:t>G.,</a:t>
            </a:r>
            <a:r>
              <a:rPr sz="900" spc="175" dirty="0">
                <a:hlinkClick r:id="rId3"/>
              </a:rPr>
              <a:t> </a:t>
            </a:r>
            <a:r>
              <a:rPr sz="900" dirty="0">
                <a:hlinkClick r:id="rId3"/>
              </a:rPr>
              <a:t>Buzzi</a:t>
            </a:r>
            <a:r>
              <a:rPr sz="900" spc="175" dirty="0">
                <a:hlinkClick r:id="rId3"/>
              </a:rPr>
              <a:t> </a:t>
            </a:r>
            <a:r>
              <a:rPr sz="900" dirty="0">
                <a:hlinkClick r:id="rId3"/>
              </a:rPr>
              <a:t>Ferraris;</a:t>
            </a:r>
            <a:r>
              <a:rPr sz="900" spc="175" dirty="0">
                <a:hlinkClick r:id="rId3"/>
              </a:rPr>
              <a:t> </a:t>
            </a:r>
            <a:r>
              <a:rPr sz="900" dirty="0">
                <a:hlinkClick r:id="rId3"/>
              </a:rPr>
              <a:t>Manenti,</a:t>
            </a:r>
            <a:r>
              <a:rPr sz="900" spc="175" dirty="0">
                <a:hlinkClick r:id="rId3"/>
              </a:rPr>
              <a:t> </a:t>
            </a:r>
            <a:r>
              <a:rPr sz="900" dirty="0">
                <a:hlinkClick r:id="rId3"/>
              </a:rPr>
              <a:t>Flavio.</a:t>
            </a:r>
            <a:r>
              <a:rPr sz="900" spc="300" dirty="0">
                <a:hlinkClick r:id="rId3"/>
              </a:rPr>
              <a:t> </a:t>
            </a:r>
            <a:r>
              <a:rPr sz="900" dirty="0">
                <a:hlinkClick r:id="rId3"/>
              </a:rPr>
              <a:t>Interpolation</a:t>
            </a:r>
            <a:r>
              <a:rPr sz="900" spc="175" dirty="0">
                <a:hlinkClick r:id="rId3"/>
              </a:rPr>
              <a:t> </a:t>
            </a:r>
            <a:r>
              <a:rPr sz="900" dirty="0">
                <a:hlinkClick r:id="rId3"/>
              </a:rPr>
              <a:t>and</a:t>
            </a:r>
            <a:r>
              <a:rPr sz="900" spc="180" dirty="0">
                <a:hlinkClick r:id="rId3"/>
              </a:rPr>
              <a:t> </a:t>
            </a:r>
            <a:r>
              <a:rPr sz="900" dirty="0">
                <a:hlinkClick r:id="rId3"/>
              </a:rPr>
              <a:t>Regression</a:t>
            </a:r>
            <a:r>
              <a:rPr sz="900" spc="175" dirty="0">
                <a:hlinkClick r:id="rId3"/>
              </a:rPr>
              <a:t> </a:t>
            </a:r>
            <a:r>
              <a:rPr sz="900" dirty="0">
                <a:hlinkClick r:id="rId3"/>
              </a:rPr>
              <a:t>Models</a:t>
            </a:r>
            <a:r>
              <a:rPr sz="900" spc="175" dirty="0">
                <a:hlinkClick r:id="rId3"/>
              </a:rPr>
              <a:t> </a:t>
            </a:r>
            <a:r>
              <a:rPr sz="900" dirty="0">
                <a:hlinkClick r:id="rId3"/>
              </a:rPr>
              <a:t>for</a:t>
            </a:r>
            <a:r>
              <a:rPr sz="900" spc="175" dirty="0">
                <a:hlinkClick r:id="rId3"/>
              </a:rPr>
              <a:t> </a:t>
            </a:r>
            <a:r>
              <a:rPr sz="900" dirty="0">
                <a:hlinkClick r:id="rId3"/>
              </a:rPr>
              <a:t>the</a:t>
            </a:r>
            <a:r>
              <a:rPr sz="900" spc="175" dirty="0">
                <a:hlinkClick r:id="rId3"/>
              </a:rPr>
              <a:t> </a:t>
            </a:r>
            <a:r>
              <a:rPr sz="900" spc="-10" dirty="0">
                <a:hlinkClick r:id="rId3"/>
              </a:rPr>
              <a:t>Chemical</a:t>
            </a:r>
            <a:r>
              <a:rPr sz="900" spc="10" dirty="0"/>
              <a:t> 	</a:t>
            </a:r>
            <a:r>
              <a:rPr sz="900" spc="10" dirty="0">
                <a:hlinkClick r:id="rId3"/>
              </a:rPr>
              <a:t>Engineer:</a:t>
            </a:r>
            <a:r>
              <a:rPr sz="900" spc="320" dirty="0">
                <a:hlinkClick r:id="rId3"/>
              </a:rPr>
              <a:t> </a:t>
            </a:r>
            <a:r>
              <a:rPr sz="900" spc="10" dirty="0">
                <a:hlinkClick r:id="rId3"/>
              </a:rPr>
              <a:t>Solving</a:t>
            </a:r>
            <a:r>
              <a:rPr sz="900" spc="190" dirty="0">
                <a:hlinkClick r:id="rId3"/>
              </a:rPr>
              <a:t> </a:t>
            </a:r>
            <a:r>
              <a:rPr sz="900" spc="10" dirty="0">
                <a:hlinkClick r:id="rId3"/>
              </a:rPr>
              <a:t>Numerical</a:t>
            </a:r>
            <a:r>
              <a:rPr sz="900" spc="195" dirty="0">
                <a:hlinkClick r:id="rId3"/>
              </a:rPr>
              <a:t> </a:t>
            </a:r>
            <a:r>
              <a:rPr sz="900" spc="-10" dirty="0">
                <a:hlinkClick r:id="rId3"/>
              </a:rPr>
              <a:t>Problems.</a:t>
            </a:r>
            <a:endParaRPr sz="900"/>
          </a:p>
          <a:p>
            <a:pPr marL="287655" marR="349885" indent="-166370">
              <a:lnSpc>
                <a:spcPct val="127299"/>
              </a:lnSpc>
              <a:spcBef>
                <a:spcPts val="600"/>
              </a:spcBef>
              <a:buSzPct val="111111"/>
              <a:buFont typeface="Arial"/>
              <a:buChar char="►"/>
              <a:tabLst>
                <a:tab pos="289560" algn="l"/>
              </a:tabLst>
            </a:pPr>
            <a:r>
              <a:rPr sz="900" spc="-10" dirty="0">
                <a:hlinkClick r:id="rId4"/>
              </a:rPr>
              <a:t>G.,</a:t>
            </a:r>
            <a:r>
              <a:rPr sz="900" spc="180" dirty="0">
                <a:hlinkClick r:id="rId4"/>
              </a:rPr>
              <a:t> </a:t>
            </a:r>
            <a:r>
              <a:rPr sz="900" dirty="0">
                <a:hlinkClick r:id="rId4"/>
              </a:rPr>
              <a:t>Buzzi</a:t>
            </a:r>
            <a:r>
              <a:rPr sz="900" spc="180" dirty="0">
                <a:hlinkClick r:id="rId4"/>
              </a:rPr>
              <a:t> </a:t>
            </a:r>
            <a:r>
              <a:rPr sz="900" dirty="0">
                <a:hlinkClick r:id="rId4"/>
              </a:rPr>
              <a:t>Ferraris;</a:t>
            </a:r>
            <a:r>
              <a:rPr sz="900" spc="185" dirty="0">
                <a:hlinkClick r:id="rId4"/>
              </a:rPr>
              <a:t> </a:t>
            </a:r>
            <a:r>
              <a:rPr sz="900" dirty="0">
                <a:hlinkClick r:id="rId4"/>
              </a:rPr>
              <a:t>Manenti,</a:t>
            </a:r>
            <a:r>
              <a:rPr sz="900" spc="180" dirty="0">
                <a:hlinkClick r:id="rId4"/>
              </a:rPr>
              <a:t> </a:t>
            </a:r>
            <a:r>
              <a:rPr sz="900" dirty="0">
                <a:hlinkClick r:id="rId4"/>
              </a:rPr>
              <a:t>Flavio.</a:t>
            </a:r>
            <a:r>
              <a:rPr sz="900" spc="305" dirty="0">
                <a:hlinkClick r:id="rId4"/>
              </a:rPr>
              <a:t> </a:t>
            </a:r>
            <a:r>
              <a:rPr sz="900" dirty="0">
                <a:hlinkClick r:id="rId4"/>
              </a:rPr>
              <a:t>Nonlinear</a:t>
            </a:r>
            <a:r>
              <a:rPr sz="900" spc="185" dirty="0">
                <a:hlinkClick r:id="rId4"/>
              </a:rPr>
              <a:t> </a:t>
            </a:r>
            <a:r>
              <a:rPr sz="900" dirty="0">
                <a:hlinkClick r:id="rId4"/>
              </a:rPr>
              <a:t>Systems</a:t>
            </a:r>
            <a:r>
              <a:rPr sz="900" spc="180" dirty="0">
                <a:hlinkClick r:id="rId4"/>
              </a:rPr>
              <a:t> </a:t>
            </a:r>
            <a:r>
              <a:rPr sz="900" dirty="0">
                <a:hlinkClick r:id="rId4"/>
              </a:rPr>
              <a:t>and</a:t>
            </a:r>
            <a:r>
              <a:rPr sz="900" spc="185" dirty="0">
                <a:hlinkClick r:id="rId4"/>
              </a:rPr>
              <a:t> </a:t>
            </a:r>
            <a:r>
              <a:rPr sz="900" dirty="0">
                <a:hlinkClick r:id="rId4"/>
              </a:rPr>
              <a:t>Optimization</a:t>
            </a:r>
            <a:r>
              <a:rPr sz="900" spc="180" dirty="0">
                <a:hlinkClick r:id="rId4"/>
              </a:rPr>
              <a:t> </a:t>
            </a:r>
            <a:r>
              <a:rPr sz="900" dirty="0">
                <a:hlinkClick r:id="rId4"/>
              </a:rPr>
              <a:t>for</a:t>
            </a:r>
            <a:r>
              <a:rPr sz="900" spc="180" dirty="0">
                <a:hlinkClick r:id="rId4"/>
              </a:rPr>
              <a:t> </a:t>
            </a:r>
            <a:r>
              <a:rPr sz="900" dirty="0">
                <a:hlinkClick r:id="rId4"/>
              </a:rPr>
              <a:t>the</a:t>
            </a:r>
            <a:r>
              <a:rPr sz="900" spc="185" dirty="0">
                <a:hlinkClick r:id="rId4"/>
              </a:rPr>
              <a:t> </a:t>
            </a:r>
            <a:r>
              <a:rPr sz="900" spc="-10" dirty="0">
                <a:hlinkClick r:id="rId4"/>
              </a:rPr>
              <a:t>Chemical</a:t>
            </a:r>
            <a:r>
              <a:rPr sz="900" spc="10" dirty="0"/>
              <a:t> 	</a:t>
            </a:r>
            <a:r>
              <a:rPr sz="900" spc="10" dirty="0">
                <a:hlinkClick r:id="rId4"/>
              </a:rPr>
              <a:t>Engineer:</a:t>
            </a:r>
            <a:r>
              <a:rPr sz="900" spc="320" dirty="0">
                <a:hlinkClick r:id="rId4"/>
              </a:rPr>
              <a:t> </a:t>
            </a:r>
            <a:r>
              <a:rPr sz="900" spc="10" dirty="0">
                <a:hlinkClick r:id="rId4"/>
              </a:rPr>
              <a:t>Solving</a:t>
            </a:r>
            <a:r>
              <a:rPr sz="900" spc="190" dirty="0">
                <a:hlinkClick r:id="rId4"/>
              </a:rPr>
              <a:t> </a:t>
            </a:r>
            <a:r>
              <a:rPr sz="900" spc="10" dirty="0">
                <a:hlinkClick r:id="rId4"/>
              </a:rPr>
              <a:t>Numerical</a:t>
            </a:r>
            <a:r>
              <a:rPr sz="900" spc="195" dirty="0">
                <a:hlinkClick r:id="rId4"/>
              </a:rPr>
              <a:t> </a:t>
            </a:r>
            <a:r>
              <a:rPr sz="900" spc="-10" dirty="0">
                <a:hlinkClick r:id="rId4"/>
              </a:rPr>
              <a:t>Problems.</a:t>
            </a:r>
            <a:endParaRPr sz="900"/>
          </a:p>
          <a:p>
            <a:pPr marL="287655" marR="362585" indent="-166370">
              <a:lnSpc>
                <a:spcPct val="127299"/>
              </a:lnSpc>
              <a:spcBef>
                <a:spcPts val="595"/>
              </a:spcBef>
              <a:buSzPct val="111111"/>
              <a:buFont typeface="Arial"/>
              <a:buChar char="►"/>
              <a:tabLst>
                <a:tab pos="289560" algn="l"/>
              </a:tabLst>
            </a:pPr>
            <a:r>
              <a:rPr sz="900" spc="-10" dirty="0">
                <a:hlinkClick r:id="rId5"/>
              </a:rPr>
              <a:t>G.,</a:t>
            </a:r>
            <a:r>
              <a:rPr sz="900" spc="195" dirty="0">
                <a:hlinkClick r:id="rId5"/>
              </a:rPr>
              <a:t> </a:t>
            </a:r>
            <a:r>
              <a:rPr sz="900" dirty="0">
                <a:hlinkClick r:id="rId5"/>
              </a:rPr>
              <a:t>Buzzi</a:t>
            </a:r>
            <a:r>
              <a:rPr sz="900" spc="200" dirty="0">
                <a:hlinkClick r:id="rId5"/>
              </a:rPr>
              <a:t> </a:t>
            </a:r>
            <a:r>
              <a:rPr sz="900" dirty="0">
                <a:hlinkClick r:id="rId5"/>
              </a:rPr>
              <a:t>Ferraris;</a:t>
            </a:r>
            <a:r>
              <a:rPr sz="900" spc="200" dirty="0">
                <a:hlinkClick r:id="rId5"/>
              </a:rPr>
              <a:t> </a:t>
            </a:r>
            <a:r>
              <a:rPr sz="900" dirty="0">
                <a:hlinkClick r:id="rId5"/>
              </a:rPr>
              <a:t>Manenti,</a:t>
            </a:r>
            <a:r>
              <a:rPr sz="900" spc="200" dirty="0">
                <a:hlinkClick r:id="rId5"/>
              </a:rPr>
              <a:t> </a:t>
            </a:r>
            <a:r>
              <a:rPr sz="900" dirty="0">
                <a:hlinkClick r:id="rId5"/>
              </a:rPr>
              <a:t>Flavio.</a:t>
            </a:r>
            <a:r>
              <a:rPr sz="900" spc="330" dirty="0">
                <a:hlinkClick r:id="rId5"/>
              </a:rPr>
              <a:t> </a:t>
            </a:r>
            <a:r>
              <a:rPr sz="900" dirty="0">
                <a:hlinkClick r:id="rId5"/>
              </a:rPr>
              <a:t>Differential</a:t>
            </a:r>
            <a:r>
              <a:rPr sz="900" spc="200" dirty="0">
                <a:hlinkClick r:id="rId5"/>
              </a:rPr>
              <a:t> </a:t>
            </a:r>
            <a:r>
              <a:rPr sz="900" dirty="0">
                <a:hlinkClick r:id="rId5"/>
              </a:rPr>
              <a:t>and</a:t>
            </a:r>
            <a:r>
              <a:rPr sz="900" spc="200" dirty="0">
                <a:hlinkClick r:id="rId5"/>
              </a:rPr>
              <a:t> </a:t>
            </a:r>
            <a:r>
              <a:rPr sz="900" dirty="0">
                <a:hlinkClick r:id="rId5"/>
              </a:rPr>
              <a:t>Differential-Algebraic</a:t>
            </a:r>
            <a:r>
              <a:rPr sz="900" spc="200" dirty="0">
                <a:hlinkClick r:id="rId5"/>
              </a:rPr>
              <a:t> </a:t>
            </a:r>
            <a:r>
              <a:rPr sz="900" dirty="0">
                <a:hlinkClick r:id="rId5"/>
              </a:rPr>
              <a:t>Systems</a:t>
            </a:r>
            <a:r>
              <a:rPr sz="900" spc="200" dirty="0">
                <a:hlinkClick r:id="rId5"/>
              </a:rPr>
              <a:t> </a:t>
            </a:r>
            <a:r>
              <a:rPr sz="900" dirty="0">
                <a:hlinkClick r:id="rId5"/>
              </a:rPr>
              <a:t>for</a:t>
            </a:r>
            <a:r>
              <a:rPr sz="900" spc="200" dirty="0">
                <a:hlinkClick r:id="rId5"/>
              </a:rPr>
              <a:t> </a:t>
            </a:r>
            <a:r>
              <a:rPr sz="900" spc="-25" dirty="0">
                <a:hlinkClick r:id="rId5"/>
              </a:rPr>
              <a:t>the</a:t>
            </a:r>
            <a:r>
              <a:rPr sz="900" spc="10" dirty="0"/>
              <a:t> 	</a:t>
            </a:r>
            <a:r>
              <a:rPr sz="900" spc="10" dirty="0">
                <a:hlinkClick r:id="rId5"/>
              </a:rPr>
              <a:t>Chemical</a:t>
            </a:r>
            <a:r>
              <a:rPr sz="900" spc="200" dirty="0">
                <a:hlinkClick r:id="rId5"/>
              </a:rPr>
              <a:t> </a:t>
            </a:r>
            <a:r>
              <a:rPr sz="900" spc="10" dirty="0">
                <a:hlinkClick r:id="rId5"/>
              </a:rPr>
              <a:t>Engineer:</a:t>
            </a:r>
            <a:r>
              <a:rPr sz="900" spc="335" dirty="0">
                <a:hlinkClick r:id="rId5"/>
              </a:rPr>
              <a:t> </a:t>
            </a:r>
            <a:r>
              <a:rPr sz="900" spc="10" dirty="0">
                <a:hlinkClick r:id="rId5"/>
              </a:rPr>
              <a:t>Solving</a:t>
            </a:r>
            <a:r>
              <a:rPr sz="900" spc="200" dirty="0">
                <a:hlinkClick r:id="rId5"/>
              </a:rPr>
              <a:t> </a:t>
            </a:r>
            <a:r>
              <a:rPr sz="900" spc="10" dirty="0">
                <a:hlinkClick r:id="rId5"/>
              </a:rPr>
              <a:t>Numerical</a:t>
            </a:r>
            <a:r>
              <a:rPr sz="900" spc="204" dirty="0">
                <a:hlinkClick r:id="rId5"/>
              </a:rPr>
              <a:t> </a:t>
            </a:r>
            <a:r>
              <a:rPr sz="900" spc="-10" dirty="0">
                <a:hlinkClick r:id="rId5"/>
              </a:rPr>
              <a:t>Problems.</a:t>
            </a:r>
            <a:endParaRPr sz="900"/>
          </a:p>
          <a:p>
            <a:pPr marL="288290" indent="-166370">
              <a:lnSpc>
                <a:spcPct val="100000"/>
              </a:lnSpc>
              <a:spcBef>
                <a:spcPts val="894"/>
              </a:spcBef>
              <a:buSzPct val="111111"/>
              <a:buFont typeface="Arial"/>
              <a:buChar char="►"/>
              <a:tabLst>
                <a:tab pos="288290" algn="l"/>
              </a:tabLst>
            </a:pPr>
            <a:r>
              <a:rPr sz="900" dirty="0">
                <a:hlinkClick r:id="rId6"/>
              </a:rPr>
              <a:t>J.</a:t>
            </a:r>
            <a:r>
              <a:rPr sz="900" spc="135" dirty="0">
                <a:hlinkClick r:id="rId6"/>
              </a:rPr>
              <a:t> </a:t>
            </a:r>
            <a:r>
              <a:rPr sz="900" spc="10" dirty="0">
                <a:hlinkClick r:id="rId6"/>
              </a:rPr>
              <a:t>Nathan</a:t>
            </a:r>
            <a:r>
              <a:rPr sz="900" spc="140" dirty="0">
                <a:hlinkClick r:id="rId6"/>
              </a:rPr>
              <a:t> </a:t>
            </a:r>
            <a:r>
              <a:rPr sz="900" spc="10" dirty="0">
                <a:hlinkClick r:id="rId6"/>
              </a:rPr>
              <a:t>Kutz.</a:t>
            </a:r>
            <a:r>
              <a:rPr sz="900" spc="245" dirty="0">
                <a:hlinkClick r:id="rId6"/>
              </a:rPr>
              <a:t> </a:t>
            </a:r>
            <a:r>
              <a:rPr sz="900" spc="10" dirty="0">
                <a:hlinkClick r:id="rId6"/>
              </a:rPr>
              <a:t>Data-Driven</a:t>
            </a:r>
            <a:r>
              <a:rPr sz="900" spc="140" dirty="0">
                <a:hlinkClick r:id="rId6"/>
              </a:rPr>
              <a:t> </a:t>
            </a:r>
            <a:r>
              <a:rPr sz="900" spc="10" dirty="0">
                <a:hlinkClick r:id="rId6"/>
              </a:rPr>
              <a:t>Modeling</a:t>
            </a:r>
            <a:r>
              <a:rPr sz="900" spc="140" dirty="0">
                <a:hlinkClick r:id="rId6"/>
              </a:rPr>
              <a:t> </a:t>
            </a:r>
            <a:r>
              <a:rPr sz="900" spc="10" dirty="0">
                <a:hlinkClick r:id="rId6"/>
              </a:rPr>
              <a:t>and</a:t>
            </a:r>
            <a:r>
              <a:rPr sz="900" spc="135" dirty="0">
                <a:hlinkClick r:id="rId6"/>
              </a:rPr>
              <a:t> </a:t>
            </a:r>
            <a:r>
              <a:rPr sz="900" spc="10" dirty="0">
                <a:hlinkClick r:id="rId6"/>
              </a:rPr>
              <a:t>Scientific</a:t>
            </a:r>
            <a:r>
              <a:rPr sz="900" spc="140" dirty="0">
                <a:hlinkClick r:id="rId6"/>
              </a:rPr>
              <a:t> </a:t>
            </a:r>
            <a:r>
              <a:rPr sz="900" spc="-10" dirty="0">
                <a:hlinkClick r:id="rId6"/>
              </a:rPr>
              <a:t>Computation.</a:t>
            </a:r>
            <a:endParaRPr sz="900"/>
          </a:p>
        </p:txBody>
      </p:sp>
      <p:sp>
        <p:nvSpPr>
          <p:cNvPr id="4" name="object 4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87001" y="3095228"/>
            <a:ext cx="62865" cy="132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-50" dirty="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294" y="219611"/>
            <a:ext cx="5065395" cy="2612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655" marR="195580" indent="-175260">
              <a:lnSpc>
                <a:spcPct val="144300"/>
              </a:lnSpc>
              <a:spcBef>
                <a:spcPts val="100"/>
              </a:spcBef>
              <a:buSzPct val="122222"/>
              <a:buFont typeface="Arial"/>
              <a:buChar char="►"/>
              <a:tabLst>
                <a:tab pos="289560" algn="l"/>
              </a:tabLst>
            </a:pP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Steven</a:t>
            </a:r>
            <a:r>
              <a:rPr sz="900" spc="13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L.</a:t>
            </a:r>
            <a:r>
              <a:rPr sz="900" spc="13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Brunton;</a:t>
            </a:r>
            <a:r>
              <a:rPr sz="900" spc="13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J.</a:t>
            </a:r>
            <a:r>
              <a:rPr sz="900" spc="13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Nathan</a:t>
            </a:r>
            <a:r>
              <a:rPr sz="900" spc="13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Kutz.</a:t>
            </a:r>
            <a:r>
              <a:rPr sz="900" spc="24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Data-Driven</a:t>
            </a:r>
            <a:r>
              <a:rPr sz="900" spc="13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Science</a:t>
            </a:r>
            <a:r>
              <a:rPr sz="900" spc="13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and</a:t>
            </a:r>
            <a:r>
              <a:rPr sz="900" spc="13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Engineering:</a:t>
            </a:r>
            <a:r>
              <a:rPr sz="900" spc="24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Machine</a:t>
            </a:r>
            <a:r>
              <a:rPr sz="900" spc="13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Learning,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</a:rPr>
              <a:t> 	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Dynamical</a:t>
            </a:r>
            <a:r>
              <a:rPr sz="900" spc="185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Systems,</a:t>
            </a:r>
            <a:r>
              <a:rPr sz="900" spc="185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and</a:t>
            </a:r>
            <a:r>
              <a:rPr sz="900" spc="19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Control.</a:t>
            </a:r>
            <a:endParaRPr sz="900" dirty="0">
              <a:latin typeface="Calibri"/>
              <a:cs typeface="Calibri"/>
            </a:endParaRPr>
          </a:p>
          <a:p>
            <a:pPr marL="287655" indent="-175260">
              <a:lnSpc>
                <a:spcPct val="100000"/>
              </a:lnSpc>
              <a:spcBef>
                <a:spcPts val="775"/>
              </a:spcBef>
              <a:buSzPct val="122222"/>
              <a:buFont typeface="Arial"/>
              <a:buChar char="►"/>
              <a:tabLst>
                <a:tab pos="287655" algn="l"/>
              </a:tabLst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3"/>
              </a:rPr>
              <a:t>A.</a:t>
            </a:r>
            <a:r>
              <a:rPr sz="900" spc="110" dirty="0">
                <a:solidFill>
                  <a:srgbClr val="22373A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3"/>
              </a:rPr>
              <a:t>Quarteroni;</a:t>
            </a:r>
            <a:r>
              <a:rPr sz="900" spc="110" dirty="0">
                <a:solidFill>
                  <a:srgbClr val="22373A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3"/>
              </a:rPr>
              <a:t>R.</a:t>
            </a:r>
            <a:r>
              <a:rPr sz="900" spc="114" dirty="0">
                <a:solidFill>
                  <a:srgbClr val="22373A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3"/>
              </a:rPr>
              <a:t>Sacco;</a:t>
            </a:r>
            <a:r>
              <a:rPr sz="900" spc="110" dirty="0">
                <a:solidFill>
                  <a:srgbClr val="22373A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  <a:hlinkClick r:id="rId3"/>
              </a:rPr>
              <a:t>F.</a:t>
            </a:r>
            <a:r>
              <a:rPr sz="900" spc="114" dirty="0">
                <a:solidFill>
                  <a:srgbClr val="22373A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3"/>
              </a:rPr>
              <a:t>Saleri;</a:t>
            </a:r>
            <a:r>
              <a:rPr sz="900" spc="110" dirty="0">
                <a:solidFill>
                  <a:srgbClr val="22373A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  <a:hlinkClick r:id="rId3"/>
              </a:rPr>
              <a:t>P.</a:t>
            </a:r>
            <a:r>
              <a:rPr sz="900" spc="114" dirty="0">
                <a:solidFill>
                  <a:srgbClr val="22373A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3"/>
              </a:rPr>
              <a:t>Gervasio.</a:t>
            </a:r>
            <a:r>
              <a:rPr sz="900" spc="215" dirty="0">
                <a:solidFill>
                  <a:srgbClr val="22373A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3"/>
              </a:rPr>
              <a:t>Matematica</a:t>
            </a:r>
            <a:r>
              <a:rPr sz="900" spc="110" dirty="0">
                <a:solidFill>
                  <a:srgbClr val="22373A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  <a:hlinkClick r:id="rId3"/>
              </a:rPr>
              <a:t>Numerica.</a:t>
            </a:r>
            <a:endParaRPr sz="900" dirty="0">
              <a:latin typeface="Calibri"/>
              <a:cs typeface="Calibri"/>
            </a:endParaRPr>
          </a:p>
          <a:p>
            <a:pPr marL="287655" marR="5080" indent="-175260">
              <a:lnSpc>
                <a:spcPct val="144300"/>
              </a:lnSpc>
              <a:spcBef>
                <a:spcPts val="300"/>
              </a:spcBef>
              <a:buSzPct val="122222"/>
              <a:buFont typeface="Arial"/>
              <a:buChar char="►"/>
              <a:tabLst>
                <a:tab pos="289560" algn="l"/>
              </a:tabLst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A.</a:t>
            </a:r>
            <a:r>
              <a:rPr sz="900" spc="145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Quarteroni;</a:t>
            </a:r>
            <a:r>
              <a:rPr sz="900" spc="145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F.</a:t>
            </a:r>
            <a:r>
              <a:rPr sz="900" spc="145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Saleri;</a:t>
            </a:r>
            <a:r>
              <a:rPr sz="900" spc="150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P.</a:t>
            </a:r>
            <a:r>
              <a:rPr sz="900" spc="145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Gervasio.</a:t>
            </a:r>
            <a:r>
              <a:rPr sz="900" spc="260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Calcolo</a:t>
            </a:r>
            <a:r>
              <a:rPr sz="900" spc="145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Scientifico:</a:t>
            </a:r>
            <a:r>
              <a:rPr sz="900" spc="265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Esercizi</a:t>
            </a:r>
            <a:r>
              <a:rPr sz="900" spc="145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e</a:t>
            </a:r>
            <a:r>
              <a:rPr sz="900" spc="145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problemi</a:t>
            </a:r>
            <a:r>
              <a:rPr sz="900" spc="145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risolti</a:t>
            </a:r>
            <a:r>
              <a:rPr sz="900" spc="150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con</a:t>
            </a:r>
            <a:r>
              <a:rPr sz="900" spc="145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MATLAB</a:t>
            </a:r>
            <a:r>
              <a:rPr sz="900" spc="145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e</a:t>
            </a:r>
            <a:r>
              <a:rPr sz="900" spc="500" dirty="0">
                <a:solidFill>
                  <a:srgbClr val="22373A"/>
                </a:solidFill>
                <a:latin typeface="Calibri"/>
                <a:cs typeface="Calibri"/>
              </a:rPr>
              <a:t> 	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  <a:hlinkClick r:id="rId4"/>
              </a:rPr>
              <a:t>Octave.</a:t>
            </a:r>
            <a:endParaRPr sz="900" dirty="0">
              <a:latin typeface="Calibri"/>
              <a:cs typeface="Calibri"/>
            </a:endParaRPr>
          </a:p>
          <a:p>
            <a:pPr marL="287655" indent="-175260">
              <a:lnSpc>
                <a:spcPct val="100000"/>
              </a:lnSpc>
              <a:spcBef>
                <a:spcPts val="775"/>
              </a:spcBef>
              <a:buSzPct val="122222"/>
              <a:buFont typeface="Arial"/>
              <a:buChar char="►"/>
              <a:tabLst>
                <a:tab pos="287655" algn="l"/>
              </a:tabLst>
            </a:pP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5"/>
              </a:rPr>
              <a:t>D.</a:t>
            </a:r>
            <a:r>
              <a:rPr sz="900" spc="105" dirty="0">
                <a:solidFill>
                  <a:srgbClr val="22373A"/>
                </a:solidFill>
                <a:latin typeface="Calibri"/>
                <a:cs typeface="Calibri"/>
                <a:hlinkClick r:id="rId5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5"/>
              </a:rPr>
              <a:t>Manca.</a:t>
            </a:r>
            <a:r>
              <a:rPr sz="900" spc="204" dirty="0">
                <a:solidFill>
                  <a:srgbClr val="22373A"/>
                </a:solidFill>
                <a:latin typeface="Calibri"/>
                <a:cs typeface="Calibri"/>
                <a:hlinkClick r:id="rId5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5"/>
              </a:rPr>
              <a:t>Calcolo</a:t>
            </a:r>
            <a:r>
              <a:rPr sz="900" spc="105" dirty="0">
                <a:solidFill>
                  <a:srgbClr val="22373A"/>
                </a:solidFill>
                <a:latin typeface="Calibri"/>
                <a:cs typeface="Calibri"/>
                <a:hlinkClick r:id="rId5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5"/>
              </a:rPr>
              <a:t>numerico</a:t>
            </a:r>
            <a:r>
              <a:rPr sz="900" spc="105" dirty="0">
                <a:solidFill>
                  <a:srgbClr val="22373A"/>
                </a:solidFill>
                <a:latin typeface="Calibri"/>
                <a:cs typeface="Calibri"/>
                <a:hlinkClick r:id="rId5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  <a:hlinkClick r:id="rId5"/>
              </a:rPr>
              <a:t>applicato.</a:t>
            </a:r>
            <a:endParaRPr sz="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"/>
              <a:buChar char="►"/>
            </a:pPr>
            <a:endParaRPr sz="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60"/>
              </a:spcBef>
              <a:buFont typeface="Arial"/>
              <a:buChar char="►"/>
            </a:pPr>
            <a:endParaRPr sz="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EB801A"/>
                </a:solidFill>
                <a:latin typeface="Calibri"/>
                <a:cs typeface="Calibri"/>
              </a:rPr>
              <a:t>Online</a:t>
            </a:r>
            <a:r>
              <a:rPr sz="1000" spc="31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B801A"/>
                </a:solidFill>
                <a:latin typeface="Calibri"/>
                <a:cs typeface="Calibri"/>
              </a:rPr>
              <a:t>Material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endParaRPr sz="1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000" dirty="0">
              <a:latin typeface="Calibri"/>
              <a:cs typeface="Calibri"/>
            </a:endParaRPr>
          </a:p>
          <a:p>
            <a:pPr marL="288290" indent="-166370">
              <a:lnSpc>
                <a:spcPct val="100000"/>
              </a:lnSpc>
              <a:spcBef>
                <a:spcPts val="5"/>
              </a:spcBef>
              <a:buSzPct val="111111"/>
              <a:buFont typeface="Arial"/>
              <a:buChar char="►"/>
              <a:tabLst>
                <a:tab pos="288290" algn="l"/>
              </a:tabLst>
            </a:pP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6"/>
              </a:rPr>
              <a:t>Numerical</a:t>
            </a:r>
            <a:r>
              <a:rPr sz="900" spc="200" dirty="0">
                <a:solidFill>
                  <a:srgbClr val="22373A"/>
                </a:solidFill>
                <a:latin typeface="Calibri"/>
                <a:cs typeface="Calibri"/>
                <a:hlinkClick r:id="rId6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6"/>
              </a:rPr>
              <a:t>Methods</a:t>
            </a:r>
            <a:r>
              <a:rPr sz="900" spc="200" dirty="0">
                <a:solidFill>
                  <a:srgbClr val="22373A"/>
                </a:solidFill>
                <a:latin typeface="Calibri"/>
                <a:cs typeface="Calibri"/>
                <a:hlinkClick r:id="rId6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6"/>
              </a:rPr>
              <a:t>applied</a:t>
            </a:r>
            <a:r>
              <a:rPr sz="900" spc="204" dirty="0">
                <a:solidFill>
                  <a:srgbClr val="22373A"/>
                </a:solidFill>
                <a:latin typeface="Calibri"/>
                <a:cs typeface="Calibri"/>
                <a:hlinkClick r:id="rId6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6"/>
              </a:rPr>
              <a:t>to</a:t>
            </a:r>
            <a:r>
              <a:rPr sz="900" spc="200" dirty="0">
                <a:solidFill>
                  <a:srgbClr val="22373A"/>
                </a:solidFill>
                <a:latin typeface="Calibri"/>
                <a:cs typeface="Calibri"/>
                <a:hlinkClick r:id="rId6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6"/>
              </a:rPr>
              <a:t>chemical</a:t>
            </a:r>
            <a:r>
              <a:rPr sz="900" spc="200" dirty="0">
                <a:solidFill>
                  <a:srgbClr val="22373A"/>
                </a:solidFill>
                <a:latin typeface="Calibri"/>
                <a:cs typeface="Calibri"/>
                <a:hlinkClick r:id="rId6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6"/>
              </a:rPr>
              <a:t>engineering</a:t>
            </a:r>
            <a:r>
              <a:rPr sz="900" spc="204" dirty="0">
                <a:solidFill>
                  <a:srgbClr val="22373A"/>
                </a:solidFill>
                <a:latin typeface="Calibri"/>
                <a:cs typeface="Calibri"/>
                <a:hlinkClick r:id="rId6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  <a:hlinkClick r:id="rId6"/>
              </a:rPr>
              <a:t>(MIT).</a:t>
            </a:r>
            <a:endParaRPr sz="900" dirty="0">
              <a:latin typeface="Calibri"/>
              <a:cs typeface="Calibri"/>
            </a:endParaRPr>
          </a:p>
          <a:p>
            <a:pPr marL="288290" indent="-166370">
              <a:lnSpc>
                <a:spcPct val="100000"/>
              </a:lnSpc>
              <a:spcBef>
                <a:spcPts val="890"/>
              </a:spcBef>
              <a:buSzPct val="111111"/>
              <a:buFont typeface="Arial"/>
              <a:buChar char="►"/>
              <a:tabLst>
                <a:tab pos="288290" algn="l"/>
              </a:tabLst>
            </a:pP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7"/>
              </a:rPr>
              <a:t>GitHub</a:t>
            </a:r>
            <a:r>
              <a:rPr sz="900" spc="135" dirty="0">
                <a:solidFill>
                  <a:srgbClr val="22373A"/>
                </a:solidFill>
                <a:latin typeface="Calibri"/>
                <a:cs typeface="Calibri"/>
                <a:hlinkClick r:id="rId7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7"/>
              </a:rPr>
              <a:t>repository</a:t>
            </a:r>
            <a:r>
              <a:rPr sz="900" spc="140" dirty="0">
                <a:solidFill>
                  <a:srgbClr val="22373A"/>
                </a:solidFill>
                <a:latin typeface="Calibri"/>
                <a:cs typeface="Calibri"/>
                <a:hlinkClick r:id="rId7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7"/>
              </a:rPr>
              <a:t>of</a:t>
            </a:r>
            <a:r>
              <a:rPr sz="900" spc="135" dirty="0">
                <a:solidFill>
                  <a:srgbClr val="22373A"/>
                </a:solidFill>
                <a:latin typeface="Calibri"/>
                <a:cs typeface="Calibri"/>
                <a:hlinkClick r:id="rId7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7"/>
              </a:rPr>
              <a:t>the</a:t>
            </a:r>
            <a:r>
              <a:rPr sz="900" spc="140" dirty="0">
                <a:solidFill>
                  <a:srgbClr val="22373A"/>
                </a:solidFill>
                <a:latin typeface="Calibri"/>
                <a:cs typeface="Calibri"/>
                <a:hlinkClick r:id="rId7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  <a:hlinkClick r:id="rId7"/>
              </a:rPr>
              <a:t>practical</a:t>
            </a:r>
            <a:r>
              <a:rPr sz="900" spc="135" dirty="0">
                <a:solidFill>
                  <a:srgbClr val="22373A"/>
                </a:solidFill>
                <a:latin typeface="Calibri"/>
                <a:cs typeface="Calibri"/>
                <a:hlinkClick r:id="rId7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  <a:hlinkClick r:id="rId7"/>
              </a:rPr>
              <a:t>sessions.</a:t>
            </a:r>
            <a:endParaRPr sz="900" dirty="0">
              <a:latin typeface="Calibri"/>
              <a:cs typeface="Calibri"/>
            </a:endParaRPr>
          </a:p>
          <a:p>
            <a:pPr marL="288290" indent="-166370">
              <a:lnSpc>
                <a:spcPct val="100000"/>
              </a:lnSpc>
              <a:spcBef>
                <a:spcPts val="895"/>
              </a:spcBef>
              <a:buSzPct val="111111"/>
              <a:buFont typeface="Arial"/>
              <a:buChar char="►"/>
              <a:tabLst>
                <a:tab pos="288290" algn="l"/>
              </a:tabLst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8"/>
              </a:rPr>
              <a:t>Matlab</a:t>
            </a:r>
            <a:r>
              <a:rPr sz="900" spc="210" dirty="0">
                <a:solidFill>
                  <a:srgbClr val="22373A"/>
                </a:solidFill>
                <a:latin typeface="Calibri"/>
                <a:cs typeface="Calibri"/>
                <a:hlinkClick r:id="rId8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8"/>
              </a:rPr>
              <a:t>online</a:t>
            </a:r>
            <a:r>
              <a:rPr sz="900" spc="215" dirty="0">
                <a:solidFill>
                  <a:srgbClr val="22373A"/>
                </a:solidFill>
                <a:latin typeface="Calibri"/>
                <a:cs typeface="Calibri"/>
                <a:hlinkClick r:id="rId8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8"/>
              </a:rPr>
              <a:t>tutorial</a:t>
            </a:r>
            <a:r>
              <a:rPr sz="900" spc="215" dirty="0">
                <a:solidFill>
                  <a:srgbClr val="22373A"/>
                </a:solidFill>
                <a:latin typeface="Calibri"/>
                <a:cs typeface="Calibri"/>
                <a:hlinkClick r:id="rId8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  <a:hlinkClick r:id="rId8"/>
              </a:rPr>
              <a:t>and</a:t>
            </a:r>
            <a:r>
              <a:rPr sz="900" spc="215" dirty="0">
                <a:solidFill>
                  <a:srgbClr val="22373A"/>
                </a:solidFill>
                <a:latin typeface="Calibri"/>
                <a:cs typeface="Calibri"/>
                <a:hlinkClick r:id="rId8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  <a:hlinkClick r:id="rId8"/>
              </a:rPr>
              <a:t>documentation.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87001" y="3095228"/>
            <a:ext cx="64769" cy="132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-50" dirty="0">
                <a:solidFill>
                  <a:srgbClr val="22373A"/>
                </a:solidFill>
                <a:latin typeface="Calibri"/>
                <a:cs typeface="Calibri"/>
              </a:rPr>
              <a:t>4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Table</a:t>
            </a:r>
            <a:r>
              <a:rPr spc="-65" dirty="0"/>
              <a:t> </a:t>
            </a:r>
            <a:r>
              <a:rPr spc="-45" dirty="0"/>
              <a:t>of</a:t>
            </a:r>
            <a:r>
              <a:rPr spc="-60" dirty="0"/>
              <a:t> </a:t>
            </a:r>
            <a:r>
              <a:rPr spc="-55" dirty="0"/>
              <a:t>Contents</a:t>
            </a:r>
          </a:p>
        </p:txBody>
      </p:sp>
      <p:sp>
        <p:nvSpPr>
          <p:cNvPr id="3" name="object 3"/>
          <p:cNvSpPr/>
          <p:nvPr/>
        </p:nvSpPr>
        <p:spPr>
          <a:xfrm>
            <a:off x="225767" y="832878"/>
            <a:ext cx="149225" cy="149225"/>
          </a:xfrm>
          <a:custGeom>
            <a:avLst/>
            <a:gdLst/>
            <a:ahLst/>
            <a:cxnLst/>
            <a:rect l="l" t="t" r="r" b="b"/>
            <a:pathLst>
              <a:path w="149225" h="149225">
                <a:moveTo>
                  <a:pt x="148894" y="0"/>
                </a:moveTo>
                <a:lnTo>
                  <a:pt x="0" y="0"/>
                </a:lnTo>
                <a:lnTo>
                  <a:pt x="0" y="148894"/>
                </a:lnTo>
                <a:lnTo>
                  <a:pt x="148894" y="148894"/>
                </a:lnTo>
                <a:lnTo>
                  <a:pt x="148894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377" y="1080731"/>
            <a:ext cx="73025" cy="73025"/>
          </a:xfrm>
          <a:custGeom>
            <a:avLst/>
            <a:gdLst/>
            <a:ahLst/>
            <a:cxnLst/>
            <a:rect l="l" t="t" r="r" b="b"/>
            <a:pathLst>
              <a:path w="73025" h="73025">
                <a:moveTo>
                  <a:pt x="72453" y="0"/>
                </a:moveTo>
                <a:lnTo>
                  <a:pt x="0" y="0"/>
                </a:lnTo>
                <a:lnTo>
                  <a:pt x="0" y="72453"/>
                </a:lnTo>
                <a:lnTo>
                  <a:pt x="72453" y="72453"/>
                </a:lnTo>
                <a:lnTo>
                  <a:pt x="72453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377" y="1278610"/>
            <a:ext cx="73025" cy="73025"/>
          </a:xfrm>
          <a:custGeom>
            <a:avLst/>
            <a:gdLst/>
            <a:ahLst/>
            <a:cxnLst/>
            <a:rect l="l" t="t" r="r" b="b"/>
            <a:pathLst>
              <a:path w="73025" h="73025">
                <a:moveTo>
                  <a:pt x="72453" y="0"/>
                </a:moveTo>
                <a:lnTo>
                  <a:pt x="0" y="0"/>
                </a:lnTo>
                <a:lnTo>
                  <a:pt x="0" y="72453"/>
                </a:lnTo>
                <a:lnTo>
                  <a:pt x="72453" y="72453"/>
                </a:lnTo>
                <a:lnTo>
                  <a:pt x="72453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5767" y="1624418"/>
            <a:ext cx="149225" cy="149225"/>
          </a:xfrm>
          <a:custGeom>
            <a:avLst/>
            <a:gdLst/>
            <a:ahLst/>
            <a:cxnLst/>
            <a:rect l="l" t="t" r="r" b="b"/>
            <a:pathLst>
              <a:path w="149225" h="149225">
                <a:moveTo>
                  <a:pt x="148894" y="0"/>
                </a:moveTo>
                <a:lnTo>
                  <a:pt x="0" y="0"/>
                </a:lnTo>
                <a:lnTo>
                  <a:pt x="0" y="148894"/>
                </a:lnTo>
                <a:lnTo>
                  <a:pt x="148894" y="148894"/>
                </a:lnTo>
                <a:lnTo>
                  <a:pt x="148894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7377" y="1872271"/>
            <a:ext cx="73025" cy="73025"/>
          </a:xfrm>
          <a:custGeom>
            <a:avLst/>
            <a:gdLst/>
            <a:ahLst/>
            <a:cxnLst/>
            <a:rect l="l" t="t" r="r" b="b"/>
            <a:pathLst>
              <a:path w="73025" h="73025">
                <a:moveTo>
                  <a:pt x="72453" y="0"/>
                </a:moveTo>
                <a:lnTo>
                  <a:pt x="0" y="0"/>
                </a:lnTo>
                <a:lnTo>
                  <a:pt x="0" y="72453"/>
                </a:lnTo>
                <a:lnTo>
                  <a:pt x="72453" y="72453"/>
                </a:lnTo>
                <a:lnTo>
                  <a:pt x="72453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7377" y="2070150"/>
            <a:ext cx="73025" cy="73025"/>
          </a:xfrm>
          <a:custGeom>
            <a:avLst/>
            <a:gdLst/>
            <a:ahLst/>
            <a:cxnLst/>
            <a:rect l="l" t="t" r="r" b="b"/>
            <a:pathLst>
              <a:path w="73025" h="73025">
                <a:moveTo>
                  <a:pt x="72453" y="0"/>
                </a:moveTo>
                <a:lnTo>
                  <a:pt x="0" y="0"/>
                </a:lnTo>
                <a:lnTo>
                  <a:pt x="0" y="72453"/>
                </a:lnTo>
                <a:lnTo>
                  <a:pt x="72453" y="72453"/>
                </a:lnTo>
                <a:lnTo>
                  <a:pt x="72453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7377" y="2268042"/>
            <a:ext cx="73025" cy="73025"/>
          </a:xfrm>
          <a:custGeom>
            <a:avLst/>
            <a:gdLst/>
            <a:ahLst/>
            <a:cxnLst/>
            <a:rect l="l" t="t" r="r" b="b"/>
            <a:pathLst>
              <a:path w="73025" h="73025">
                <a:moveTo>
                  <a:pt x="72453" y="0"/>
                </a:moveTo>
                <a:lnTo>
                  <a:pt x="0" y="0"/>
                </a:lnTo>
                <a:lnTo>
                  <a:pt x="0" y="72453"/>
                </a:lnTo>
                <a:lnTo>
                  <a:pt x="72453" y="72453"/>
                </a:lnTo>
                <a:lnTo>
                  <a:pt x="72453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5767" y="2415959"/>
            <a:ext cx="149225" cy="149225"/>
          </a:xfrm>
          <a:custGeom>
            <a:avLst/>
            <a:gdLst/>
            <a:ahLst/>
            <a:cxnLst/>
            <a:rect l="l" t="t" r="r" b="b"/>
            <a:pathLst>
              <a:path w="149225" h="149225">
                <a:moveTo>
                  <a:pt x="148894" y="0"/>
                </a:moveTo>
                <a:lnTo>
                  <a:pt x="0" y="0"/>
                </a:lnTo>
                <a:lnTo>
                  <a:pt x="0" y="148894"/>
                </a:lnTo>
                <a:lnTo>
                  <a:pt x="148894" y="148894"/>
                </a:lnTo>
                <a:lnTo>
                  <a:pt x="148894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7377" y="2663812"/>
            <a:ext cx="73025" cy="73025"/>
          </a:xfrm>
          <a:custGeom>
            <a:avLst/>
            <a:gdLst/>
            <a:ahLst/>
            <a:cxnLst/>
            <a:rect l="l" t="t" r="r" b="b"/>
            <a:pathLst>
              <a:path w="73025" h="73025">
                <a:moveTo>
                  <a:pt x="72453" y="0"/>
                </a:moveTo>
                <a:lnTo>
                  <a:pt x="0" y="0"/>
                </a:lnTo>
                <a:lnTo>
                  <a:pt x="0" y="72453"/>
                </a:lnTo>
                <a:lnTo>
                  <a:pt x="72453" y="72453"/>
                </a:lnTo>
                <a:lnTo>
                  <a:pt x="72453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56768" y="772411"/>
            <a:ext cx="1863089" cy="200469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00025" indent="-182880">
              <a:lnSpc>
                <a:spcPct val="100000"/>
              </a:lnSpc>
              <a:spcBef>
                <a:spcPts val="340"/>
              </a:spcBef>
              <a:buClr>
                <a:srgbClr val="FFFFFF"/>
              </a:buClr>
              <a:buSzPct val="90909"/>
              <a:buAutoNum type="arabicPlain"/>
              <a:tabLst>
                <a:tab pos="200025" algn="l"/>
              </a:tabLst>
            </a:pP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Introduction</a:t>
            </a:r>
            <a:endParaRPr sz="1100">
              <a:latin typeface="Calibri"/>
              <a:cs typeface="Calibri"/>
            </a:endParaRPr>
          </a:p>
          <a:p>
            <a:pPr marL="345440" marR="5080">
              <a:lnSpc>
                <a:spcPct val="118000"/>
              </a:lnSpc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What</a:t>
            </a:r>
            <a:r>
              <a:rPr sz="1100" spc="65" dirty="0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is</a:t>
            </a:r>
            <a:r>
              <a:rPr sz="1100" spc="70" dirty="0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programming?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  <a:hlinkClick r:id="rId3" action="ppaction://hlinksldjump"/>
              </a:rPr>
              <a:t>The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  <a:hlinkClick r:id="rId3" action="ppaction://hlinksldjump"/>
              </a:rPr>
              <a:t>Natural</a:t>
            </a:r>
            <a:r>
              <a:rPr sz="1100" spc="220" dirty="0">
                <a:solidFill>
                  <a:srgbClr val="22373A"/>
                </a:solid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  <a:hlinkClick r:id="rId3" action="ppaction://hlinksldjump"/>
              </a:rPr>
              <a:t>Language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  <a:hlinkClick r:id="rId3" action="ppaction://hlinksldjump"/>
              </a:rPr>
              <a:t>of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  <a:hlinkClick r:id="rId3" action="ppaction://hlinksldjump"/>
              </a:rPr>
              <a:t>Computers</a:t>
            </a:r>
            <a:endParaRPr sz="1100">
              <a:latin typeface="Calibri"/>
              <a:cs typeface="Calibri"/>
            </a:endParaRPr>
          </a:p>
          <a:p>
            <a:pPr marL="198755" marR="205740" indent="-186055">
              <a:lnSpc>
                <a:spcPct val="118000"/>
              </a:lnSpc>
              <a:buClr>
                <a:srgbClr val="FFFFFF"/>
              </a:buClr>
              <a:buSzPct val="90909"/>
              <a:buAutoNum type="arabicPlain" startAt="2"/>
              <a:tabLst>
                <a:tab pos="34544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  <a:hlinkClick r:id="rId4" action="ppaction://hlinksldjump"/>
              </a:rPr>
              <a:t>First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  <a:hlinkClick r:id="rId4" action="ppaction://hlinksldjump"/>
              </a:rPr>
              <a:t>Steps</a:t>
            </a:r>
            <a:r>
              <a:rPr sz="1100" spc="195" dirty="0">
                <a:solidFill>
                  <a:srgbClr val="22373A"/>
                </a:solid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  <a:hlinkClick r:id="rId4" action="ppaction://hlinksldjump"/>
              </a:rPr>
              <a:t>with</a:t>
            </a:r>
            <a:r>
              <a:rPr sz="1100" spc="195" dirty="0">
                <a:solidFill>
                  <a:srgbClr val="22373A"/>
                </a:solid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  <a:hlinkClick r:id="rId4" action="ppaction://hlinksldjump"/>
              </a:rPr>
              <a:t>MATLAB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	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  <a:hlinkClick r:id="rId5" action="ppaction://hlinksldjump"/>
              </a:rPr>
              <a:t>Variables</a:t>
            </a:r>
            <a:endParaRPr sz="1100">
              <a:latin typeface="Calibri"/>
              <a:cs typeface="Calibri"/>
            </a:endParaRPr>
          </a:p>
          <a:p>
            <a:pPr marL="345440" marR="301625">
              <a:lnSpc>
                <a:spcPct val="118000"/>
              </a:lnSpc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  <a:hlinkClick r:id="rId6" action="ppaction://hlinksldjump"/>
              </a:rPr>
              <a:t>Arrays</a:t>
            </a:r>
            <a:r>
              <a:rPr sz="1100" spc="105" dirty="0">
                <a:solidFill>
                  <a:srgbClr val="22373A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  <a:hlinkClick r:id="rId6" action="ppaction://hlinksldjump"/>
              </a:rPr>
              <a:t>and</a:t>
            </a:r>
            <a:r>
              <a:rPr sz="1100" spc="110" dirty="0">
                <a:solidFill>
                  <a:srgbClr val="22373A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  <a:hlinkClick r:id="rId6" action="ppaction://hlinksldjump"/>
              </a:rPr>
              <a:t>Matrices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  <a:hlinkClick r:id="rId7" action="ppaction://hlinksldjump"/>
              </a:rPr>
              <a:t>While</a:t>
            </a:r>
            <a:endParaRPr sz="1100">
              <a:latin typeface="Calibri"/>
              <a:cs typeface="Calibri"/>
            </a:endParaRPr>
          </a:p>
          <a:p>
            <a:pPr marL="198755" marR="219710" indent="-186690">
              <a:lnSpc>
                <a:spcPct val="118000"/>
              </a:lnSpc>
              <a:buClr>
                <a:srgbClr val="FFFFFF"/>
              </a:buClr>
              <a:buSzPct val="90909"/>
              <a:buAutoNum type="arabicPlain" startAt="3"/>
              <a:tabLst>
                <a:tab pos="345440" algn="l"/>
              </a:tabLst>
            </a:pP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  <a:hlinkClick r:id="rId8" action="ppaction://hlinksldjump"/>
              </a:rPr>
              <a:t>Conditional</a:t>
            </a:r>
            <a:r>
              <a:rPr sz="1100" spc="260" dirty="0">
                <a:solidFill>
                  <a:srgbClr val="22373A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  <a:hlinkClick r:id="rId8" action="ppaction://hlinksldjump"/>
              </a:rPr>
              <a:t>statements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 	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  <a:hlinkClick r:id="rId8" action="ppaction://hlinksldjump"/>
              </a:rPr>
              <a:t>If,</a:t>
            </a:r>
            <a:r>
              <a:rPr sz="1100" spc="80" dirty="0">
                <a:solidFill>
                  <a:srgbClr val="22373A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  <a:hlinkClick r:id="rId8" action="ppaction://hlinksldjump"/>
              </a:rPr>
              <a:t>else</a:t>
            </a:r>
            <a:r>
              <a:rPr sz="1100" spc="80" dirty="0">
                <a:solidFill>
                  <a:srgbClr val="22373A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  <a:hlinkClick r:id="rId8" action="ppaction://hlinksldjump"/>
              </a:rPr>
              <a:t>if,</a:t>
            </a:r>
            <a:r>
              <a:rPr sz="1100" spc="85" dirty="0">
                <a:solidFill>
                  <a:srgbClr val="22373A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  <a:hlinkClick r:id="rId8" action="ppaction://hlinksldjump"/>
              </a:rPr>
              <a:t>else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85770" y="832878"/>
            <a:ext cx="149225" cy="149225"/>
          </a:xfrm>
          <a:custGeom>
            <a:avLst/>
            <a:gdLst/>
            <a:ahLst/>
            <a:cxnLst/>
            <a:rect l="l" t="t" r="r" b="b"/>
            <a:pathLst>
              <a:path w="149225" h="149225">
                <a:moveTo>
                  <a:pt x="148894" y="0"/>
                </a:moveTo>
                <a:lnTo>
                  <a:pt x="0" y="0"/>
                </a:lnTo>
                <a:lnTo>
                  <a:pt x="0" y="148894"/>
                </a:lnTo>
                <a:lnTo>
                  <a:pt x="148894" y="148894"/>
                </a:lnTo>
                <a:lnTo>
                  <a:pt x="148894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85770" y="1030757"/>
            <a:ext cx="149225" cy="149225"/>
          </a:xfrm>
          <a:custGeom>
            <a:avLst/>
            <a:gdLst/>
            <a:ahLst/>
            <a:cxnLst/>
            <a:rect l="l" t="t" r="r" b="b"/>
            <a:pathLst>
              <a:path w="149225" h="149225">
                <a:moveTo>
                  <a:pt x="148894" y="0"/>
                </a:moveTo>
                <a:lnTo>
                  <a:pt x="0" y="0"/>
                </a:lnTo>
                <a:lnTo>
                  <a:pt x="0" y="148894"/>
                </a:lnTo>
                <a:lnTo>
                  <a:pt x="148894" y="148894"/>
                </a:lnTo>
                <a:lnTo>
                  <a:pt x="148894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014751" y="772411"/>
            <a:ext cx="809625" cy="4216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01930" indent="-189230">
              <a:lnSpc>
                <a:spcPct val="100000"/>
              </a:lnSpc>
              <a:spcBef>
                <a:spcPts val="340"/>
              </a:spcBef>
              <a:buClr>
                <a:srgbClr val="FFFFFF"/>
              </a:buClr>
              <a:buSzPct val="90909"/>
              <a:buAutoNum type="arabicPlain" startAt="4"/>
              <a:tabLst>
                <a:tab pos="201930" algn="l"/>
              </a:tabLst>
            </a:pP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  <a:hlinkClick r:id="rId9" action="ppaction://hlinksldjump"/>
              </a:rPr>
              <a:t>Functions</a:t>
            </a:r>
            <a:endParaRPr sz="1100">
              <a:latin typeface="Calibri"/>
              <a:cs typeface="Calibri"/>
            </a:endParaRPr>
          </a:p>
          <a:p>
            <a:pPr marL="201930" indent="-187325">
              <a:lnSpc>
                <a:spcPct val="100000"/>
              </a:lnSpc>
              <a:spcBef>
                <a:spcPts val="235"/>
              </a:spcBef>
              <a:buClr>
                <a:srgbClr val="FFFFFF"/>
              </a:buClr>
              <a:buSzPct val="90909"/>
              <a:buAutoNum type="arabicPlain" startAt="4"/>
              <a:tabLst>
                <a:tab pos="201930" algn="l"/>
              </a:tabLst>
            </a:pP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  <a:hlinkClick r:id="rId10" action="ppaction://hlinksldjump"/>
              </a:rPr>
              <a:t>Exercises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What</a:t>
            </a:r>
            <a:r>
              <a:rPr spc="-50" dirty="0"/>
              <a:t> </a:t>
            </a:r>
            <a:r>
              <a:rPr spc="-40" dirty="0"/>
              <a:t>is</a:t>
            </a:r>
            <a:r>
              <a:rPr spc="-45" dirty="0"/>
              <a:t> </a:t>
            </a:r>
            <a:r>
              <a:rPr spc="-65" dirty="0"/>
              <a:t>programming?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6704" y="656444"/>
            <a:ext cx="4845685" cy="549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8435" marR="5080" indent="-166370">
              <a:lnSpc>
                <a:spcPct val="114599"/>
              </a:lnSpc>
              <a:spcBef>
                <a:spcPts val="100"/>
              </a:spcBef>
              <a:buFont typeface="Arial"/>
              <a:buChar char="►"/>
              <a:tabLst>
                <a:tab pos="180340" algn="l"/>
              </a:tabLst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most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simple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answer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is:</a:t>
            </a:r>
            <a:r>
              <a:rPr sz="1000" spc="3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“Programming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sng" spc="-2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Lucida Sans Unicode"/>
                <a:cs typeface="Lucida Sans Unicode"/>
              </a:rPr>
              <a:t>act</a:t>
            </a:r>
            <a:r>
              <a:rPr sz="1000" u="none" spc="8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or</a:t>
            </a:r>
            <a:r>
              <a:rPr sz="1000" u="none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activity</a:t>
            </a:r>
            <a:r>
              <a:rPr sz="1000" u="none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000" u="none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writing</a:t>
            </a:r>
            <a:r>
              <a:rPr sz="1000" u="none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-10" dirty="0">
                <a:solidFill>
                  <a:srgbClr val="22373A"/>
                </a:solidFill>
                <a:latin typeface="Calibri"/>
                <a:cs typeface="Calibri"/>
              </a:rPr>
              <a:t>computer 	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programs”.</a:t>
            </a:r>
            <a:r>
              <a:rPr sz="1000" u="none" spc="229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u="none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u="none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more</a:t>
            </a:r>
            <a:r>
              <a:rPr sz="1000" u="none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general</a:t>
            </a:r>
            <a:r>
              <a:rPr sz="1000" u="none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way</a:t>
            </a:r>
            <a:r>
              <a:rPr sz="1000" u="none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programming</a:t>
            </a:r>
            <a:r>
              <a:rPr sz="1000" u="none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or</a:t>
            </a:r>
            <a:r>
              <a:rPr sz="1000" u="none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coding</a:t>
            </a:r>
            <a:r>
              <a:rPr sz="1000" u="none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50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000" u="none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u="none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act</a:t>
            </a:r>
            <a:r>
              <a:rPr sz="1000" u="none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000" u="none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writing</a:t>
            </a:r>
            <a:r>
              <a:rPr sz="1000" u="none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a 	computer</a:t>
            </a:r>
            <a:r>
              <a:rPr sz="1000" u="none" spc="2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-10" dirty="0">
                <a:solidFill>
                  <a:srgbClr val="22373A"/>
                </a:solidFill>
                <a:latin typeface="Calibri"/>
                <a:cs typeface="Calibri"/>
              </a:rPr>
              <a:t>program.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87001" y="3095228"/>
            <a:ext cx="65405" cy="132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-50" dirty="0">
                <a:solidFill>
                  <a:srgbClr val="22373A"/>
                </a:solidFill>
                <a:latin typeface="Calibri"/>
                <a:cs typeface="Calibri"/>
              </a:rPr>
              <a:t>6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What</a:t>
            </a:r>
            <a:r>
              <a:rPr spc="-50" dirty="0"/>
              <a:t> </a:t>
            </a:r>
            <a:r>
              <a:rPr spc="-40" dirty="0"/>
              <a:t>is</a:t>
            </a:r>
            <a:r>
              <a:rPr spc="-45" dirty="0"/>
              <a:t> </a:t>
            </a:r>
            <a:r>
              <a:rPr spc="-65" dirty="0"/>
              <a:t>programming?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214" rIns="0" bIns="0" rtlCol="0">
            <a:spAutoFit/>
          </a:bodyPr>
          <a:lstStyle/>
          <a:p>
            <a:pPr marL="287655" marR="115570" indent="-166370">
              <a:lnSpc>
                <a:spcPct val="114599"/>
              </a:lnSpc>
              <a:spcBef>
                <a:spcPts val="100"/>
              </a:spcBef>
              <a:buFont typeface="Arial"/>
              <a:buChar char="►"/>
              <a:tabLst>
                <a:tab pos="289560" algn="l"/>
              </a:tabLst>
            </a:pPr>
            <a:r>
              <a:rPr sz="1000" dirty="0"/>
              <a:t>The</a:t>
            </a:r>
            <a:r>
              <a:rPr sz="1000" spc="170" dirty="0"/>
              <a:t> </a:t>
            </a:r>
            <a:r>
              <a:rPr sz="1000" dirty="0"/>
              <a:t>most</a:t>
            </a:r>
            <a:r>
              <a:rPr sz="1000" spc="175" dirty="0"/>
              <a:t> </a:t>
            </a:r>
            <a:r>
              <a:rPr sz="1000" dirty="0"/>
              <a:t>simple</a:t>
            </a:r>
            <a:r>
              <a:rPr sz="1000" spc="175" dirty="0"/>
              <a:t> </a:t>
            </a:r>
            <a:r>
              <a:rPr sz="1000" dirty="0"/>
              <a:t>answer</a:t>
            </a:r>
            <a:r>
              <a:rPr sz="1000" spc="175" dirty="0"/>
              <a:t> </a:t>
            </a:r>
            <a:r>
              <a:rPr sz="1000" dirty="0"/>
              <a:t>is:</a:t>
            </a:r>
            <a:r>
              <a:rPr sz="1000" spc="305" dirty="0"/>
              <a:t> </a:t>
            </a:r>
            <a:r>
              <a:rPr sz="1000" dirty="0"/>
              <a:t>“Programming</a:t>
            </a:r>
            <a:r>
              <a:rPr sz="1000" spc="175" dirty="0"/>
              <a:t> </a:t>
            </a:r>
            <a:r>
              <a:rPr sz="1000" spc="50" dirty="0"/>
              <a:t>is</a:t>
            </a:r>
            <a:r>
              <a:rPr sz="1000" spc="175" dirty="0"/>
              <a:t> </a:t>
            </a:r>
            <a:r>
              <a:rPr sz="1000" dirty="0"/>
              <a:t>the</a:t>
            </a:r>
            <a:r>
              <a:rPr sz="1000" spc="175" dirty="0"/>
              <a:t> </a:t>
            </a:r>
            <a:r>
              <a:rPr sz="1000" u="sng" spc="-20" dirty="0">
                <a:uFill>
                  <a:solidFill>
                    <a:srgbClr val="22373A"/>
                  </a:solidFill>
                </a:uFill>
                <a:latin typeface="Lucida Sans Unicode"/>
                <a:cs typeface="Lucida Sans Unicode"/>
              </a:rPr>
              <a:t>act</a:t>
            </a:r>
            <a:r>
              <a:rPr sz="1000" u="none" spc="85" dirty="0">
                <a:latin typeface="Lucida Sans Unicode"/>
                <a:cs typeface="Lucida Sans Unicode"/>
              </a:rPr>
              <a:t> </a:t>
            </a:r>
            <a:r>
              <a:rPr sz="1000" u="none" dirty="0"/>
              <a:t>or</a:t>
            </a:r>
            <a:r>
              <a:rPr sz="1000" u="none" spc="175" dirty="0"/>
              <a:t> </a:t>
            </a:r>
            <a:r>
              <a:rPr sz="1000" u="none" dirty="0"/>
              <a:t>activity</a:t>
            </a:r>
            <a:r>
              <a:rPr sz="1000" u="none" spc="175" dirty="0"/>
              <a:t> </a:t>
            </a:r>
            <a:r>
              <a:rPr sz="1000" u="none" dirty="0"/>
              <a:t>of</a:t>
            </a:r>
            <a:r>
              <a:rPr sz="1000" u="none" spc="175" dirty="0"/>
              <a:t> </a:t>
            </a:r>
            <a:r>
              <a:rPr sz="1000" u="none" dirty="0"/>
              <a:t>writing</a:t>
            </a:r>
            <a:r>
              <a:rPr sz="1000" u="none" spc="175" dirty="0"/>
              <a:t> </a:t>
            </a:r>
            <a:r>
              <a:rPr sz="1000" u="none" spc="-10" dirty="0"/>
              <a:t>computer 	</a:t>
            </a:r>
            <a:r>
              <a:rPr sz="1000" u="none" spc="10" dirty="0"/>
              <a:t>programs”.</a:t>
            </a:r>
            <a:r>
              <a:rPr sz="1000" u="none" spc="229" dirty="0"/>
              <a:t> </a:t>
            </a:r>
            <a:r>
              <a:rPr sz="1000" u="none" spc="10" dirty="0"/>
              <a:t>In</a:t>
            </a:r>
            <a:r>
              <a:rPr sz="1000" u="none" spc="125" dirty="0"/>
              <a:t> </a:t>
            </a:r>
            <a:r>
              <a:rPr sz="1000" u="none" spc="50" dirty="0"/>
              <a:t>a</a:t>
            </a:r>
            <a:r>
              <a:rPr sz="1000" u="none" spc="120" dirty="0"/>
              <a:t> </a:t>
            </a:r>
            <a:r>
              <a:rPr sz="1000" u="none" spc="10" dirty="0"/>
              <a:t>more</a:t>
            </a:r>
            <a:r>
              <a:rPr sz="1000" u="none" spc="120" dirty="0"/>
              <a:t> </a:t>
            </a:r>
            <a:r>
              <a:rPr sz="1000" u="none" spc="10" dirty="0"/>
              <a:t>general</a:t>
            </a:r>
            <a:r>
              <a:rPr sz="1000" u="none" spc="120" dirty="0"/>
              <a:t> </a:t>
            </a:r>
            <a:r>
              <a:rPr sz="1000" u="none" spc="10" dirty="0"/>
              <a:t>way</a:t>
            </a:r>
            <a:r>
              <a:rPr sz="1000" u="none" spc="125" dirty="0"/>
              <a:t> </a:t>
            </a:r>
            <a:r>
              <a:rPr sz="1000" u="none" spc="10" dirty="0"/>
              <a:t>programming</a:t>
            </a:r>
            <a:r>
              <a:rPr sz="1000" u="none" spc="120" dirty="0"/>
              <a:t> </a:t>
            </a:r>
            <a:r>
              <a:rPr sz="1000" u="none" spc="10" dirty="0"/>
              <a:t>or</a:t>
            </a:r>
            <a:r>
              <a:rPr sz="1000" u="none" spc="120" dirty="0"/>
              <a:t> </a:t>
            </a:r>
            <a:r>
              <a:rPr sz="1000" u="none" spc="10" dirty="0"/>
              <a:t>coding</a:t>
            </a:r>
            <a:r>
              <a:rPr sz="1000" u="none" spc="120" dirty="0"/>
              <a:t> </a:t>
            </a:r>
            <a:r>
              <a:rPr sz="1000" u="none" spc="50" dirty="0"/>
              <a:t>is</a:t>
            </a:r>
            <a:r>
              <a:rPr sz="1000" u="none" spc="125" dirty="0"/>
              <a:t> </a:t>
            </a:r>
            <a:r>
              <a:rPr sz="1000" u="none" spc="10" dirty="0"/>
              <a:t>the</a:t>
            </a:r>
            <a:r>
              <a:rPr sz="1000" u="none" spc="120" dirty="0"/>
              <a:t> </a:t>
            </a:r>
            <a:r>
              <a:rPr sz="1000" u="none" spc="10" dirty="0"/>
              <a:t>act</a:t>
            </a:r>
            <a:r>
              <a:rPr sz="1000" u="none" spc="120" dirty="0"/>
              <a:t> </a:t>
            </a:r>
            <a:r>
              <a:rPr sz="1000" u="none" spc="10" dirty="0"/>
              <a:t>of</a:t>
            </a:r>
            <a:r>
              <a:rPr sz="1000" u="none" spc="125" dirty="0"/>
              <a:t> </a:t>
            </a:r>
            <a:r>
              <a:rPr sz="1000" u="none" spc="10" dirty="0"/>
              <a:t>writing</a:t>
            </a:r>
            <a:r>
              <a:rPr sz="1000" u="none" spc="120" dirty="0"/>
              <a:t> </a:t>
            </a:r>
            <a:r>
              <a:rPr sz="1000" u="none" dirty="0"/>
              <a:t>a 	computer</a:t>
            </a:r>
            <a:r>
              <a:rPr sz="1000" u="none" spc="295" dirty="0"/>
              <a:t> </a:t>
            </a:r>
            <a:r>
              <a:rPr sz="1000" u="none" spc="-10" dirty="0"/>
              <a:t>program.</a:t>
            </a:r>
            <a:endParaRPr sz="1000">
              <a:latin typeface="Lucida Sans Unicode"/>
              <a:cs typeface="Lucida Sans Unicode"/>
            </a:endParaRPr>
          </a:p>
          <a:p>
            <a:pPr marL="288290" indent="-166370">
              <a:lnSpc>
                <a:spcPct val="100000"/>
              </a:lnSpc>
              <a:spcBef>
                <a:spcPts val="770"/>
              </a:spcBef>
              <a:buFont typeface="Arial"/>
              <a:buChar char="►"/>
              <a:tabLst>
                <a:tab pos="288290" algn="l"/>
              </a:tabLst>
            </a:pPr>
            <a:r>
              <a:rPr sz="1000" dirty="0"/>
              <a:t>A</a:t>
            </a:r>
            <a:r>
              <a:rPr sz="1000" spc="125" dirty="0"/>
              <a:t> </a:t>
            </a:r>
            <a:r>
              <a:rPr sz="1000" u="sng" spc="-50" dirty="0">
                <a:uFill>
                  <a:solidFill>
                    <a:srgbClr val="22373A"/>
                  </a:solidFill>
                </a:uFill>
                <a:latin typeface="Lucida Sans Unicode"/>
                <a:cs typeface="Lucida Sans Unicode"/>
              </a:rPr>
              <a:t>computer</a:t>
            </a:r>
            <a:r>
              <a:rPr sz="1000" u="sng" spc="60" dirty="0">
                <a:uFill>
                  <a:solidFill>
                    <a:srgbClr val="22373A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1000" u="sng" spc="-65" dirty="0">
                <a:uFill>
                  <a:solidFill>
                    <a:srgbClr val="22373A"/>
                  </a:solidFill>
                </a:uFill>
                <a:latin typeface="Lucida Sans Unicode"/>
                <a:cs typeface="Lucida Sans Unicode"/>
              </a:rPr>
              <a:t>program</a:t>
            </a:r>
            <a:r>
              <a:rPr sz="1000" u="none" spc="30" dirty="0">
                <a:latin typeface="Lucida Sans Unicode"/>
                <a:cs typeface="Lucida Sans Unicode"/>
              </a:rPr>
              <a:t> </a:t>
            </a:r>
            <a:r>
              <a:rPr sz="1000" u="none" spc="50" dirty="0"/>
              <a:t>is</a:t>
            </a:r>
            <a:r>
              <a:rPr sz="1000" u="none" spc="125" dirty="0"/>
              <a:t> </a:t>
            </a:r>
            <a:r>
              <a:rPr sz="1000" u="none" spc="50" dirty="0"/>
              <a:t>a</a:t>
            </a:r>
            <a:r>
              <a:rPr sz="1000" u="none" spc="130" dirty="0"/>
              <a:t> </a:t>
            </a:r>
            <a:r>
              <a:rPr sz="1000" u="none" dirty="0"/>
              <a:t>sequence</a:t>
            </a:r>
            <a:r>
              <a:rPr sz="1000" u="none" spc="120" dirty="0"/>
              <a:t> </a:t>
            </a:r>
            <a:r>
              <a:rPr sz="1000" u="none" dirty="0"/>
              <a:t>of</a:t>
            </a:r>
            <a:r>
              <a:rPr sz="1000" u="none" spc="130" dirty="0"/>
              <a:t> </a:t>
            </a:r>
            <a:r>
              <a:rPr sz="1000" u="none" dirty="0"/>
              <a:t>instructions</a:t>
            </a:r>
            <a:r>
              <a:rPr sz="1000" u="none" spc="130" dirty="0"/>
              <a:t> </a:t>
            </a:r>
            <a:r>
              <a:rPr sz="1000" u="none" dirty="0"/>
              <a:t>that</a:t>
            </a:r>
            <a:r>
              <a:rPr sz="1000" u="none" spc="125" dirty="0"/>
              <a:t> </a:t>
            </a:r>
            <a:r>
              <a:rPr sz="1000" u="none" spc="50" dirty="0"/>
              <a:t>a</a:t>
            </a:r>
            <a:r>
              <a:rPr sz="1000" u="none" spc="130" dirty="0"/>
              <a:t> </a:t>
            </a:r>
            <a:r>
              <a:rPr sz="1000" u="none" dirty="0"/>
              <a:t>computer</a:t>
            </a:r>
            <a:r>
              <a:rPr sz="1000" u="none" spc="120" dirty="0"/>
              <a:t> </a:t>
            </a:r>
            <a:r>
              <a:rPr sz="1000" u="none" spc="50" dirty="0"/>
              <a:t>is</a:t>
            </a:r>
            <a:r>
              <a:rPr sz="1000" u="none" spc="130" dirty="0"/>
              <a:t> </a:t>
            </a:r>
            <a:r>
              <a:rPr sz="1000" u="none" dirty="0"/>
              <a:t>able</a:t>
            </a:r>
            <a:r>
              <a:rPr sz="1000" u="none" spc="120" dirty="0"/>
              <a:t> </a:t>
            </a:r>
            <a:r>
              <a:rPr sz="1000" u="none" dirty="0"/>
              <a:t>to</a:t>
            </a:r>
            <a:r>
              <a:rPr sz="1000" u="none" spc="120" dirty="0"/>
              <a:t> </a:t>
            </a:r>
            <a:r>
              <a:rPr sz="1000" u="none" spc="-10" dirty="0"/>
              <a:t>execute.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87001" y="3095228"/>
            <a:ext cx="65405" cy="132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-50" dirty="0">
                <a:solidFill>
                  <a:srgbClr val="22373A"/>
                </a:solidFill>
                <a:latin typeface="Calibri"/>
                <a:cs typeface="Calibri"/>
              </a:rPr>
              <a:t>6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What</a:t>
            </a:r>
            <a:r>
              <a:rPr spc="-50" dirty="0"/>
              <a:t> </a:t>
            </a:r>
            <a:r>
              <a:rPr spc="-40" dirty="0"/>
              <a:t>is</a:t>
            </a:r>
            <a:r>
              <a:rPr spc="-45" dirty="0"/>
              <a:t> </a:t>
            </a:r>
            <a:r>
              <a:rPr spc="-65" dirty="0"/>
              <a:t>programming?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214" rIns="0" bIns="0" rtlCol="0">
            <a:spAutoFit/>
          </a:bodyPr>
          <a:lstStyle/>
          <a:p>
            <a:pPr marL="287655" marR="115570" indent="-166370">
              <a:lnSpc>
                <a:spcPct val="114599"/>
              </a:lnSpc>
              <a:spcBef>
                <a:spcPts val="100"/>
              </a:spcBef>
              <a:buFont typeface="Arial"/>
              <a:buChar char="►"/>
              <a:tabLst>
                <a:tab pos="289560" algn="l"/>
              </a:tabLst>
            </a:pPr>
            <a:r>
              <a:rPr sz="1000" dirty="0"/>
              <a:t>The</a:t>
            </a:r>
            <a:r>
              <a:rPr sz="1000" spc="170" dirty="0"/>
              <a:t> </a:t>
            </a:r>
            <a:r>
              <a:rPr sz="1000" dirty="0"/>
              <a:t>most</a:t>
            </a:r>
            <a:r>
              <a:rPr sz="1000" spc="175" dirty="0"/>
              <a:t> </a:t>
            </a:r>
            <a:r>
              <a:rPr sz="1000" dirty="0"/>
              <a:t>simple</a:t>
            </a:r>
            <a:r>
              <a:rPr sz="1000" spc="175" dirty="0"/>
              <a:t> </a:t>
            </a:r>
            <a:r>
              <a:rPr sz="1000" dirty="0"/>
              <a:t>answer</a:t>
            </a:r>
            <a:r>
              <a:rPr sz="1000" spc="175" dirty="0"/>
              <a:t> </a:t>
            </a:r>
            <a:r>
              <a:rPr sz="1000" dirty="0"/>
              <a:t>is:</a:t>
            </a:r>
            <a:r>
              <a:rPr sz="1000" spc="305" dirty="0"/>
              <a:t> </a:t>
            </a:r>
            <a:r>
              <a:rPr sz="1000" dirty="0"/>
              <a:t>“Programming</a:t>
            </a:r>
            <a:r>
              <a:rPr sz="1000" spc="175" dirty="0"/>
              <a:t> </a:t>
            </a:r>
            <a:r>
              <a:rPr sz="1000" spc="50" dirty="0"/>
              <a:t>is</a:t>
            </a:r>
            <a:r>
              <a:rPr sz="1000" spc="175" dirty="0"/>
              <a:t> </a:t>
            </a:r>
            <a:r>
              <a:rPr sz="1000" dirty="0"/>
              <a:t>the</a:t>
            </a:r>
            <a:r>
              <a:rPr sz="1000" spc="175" dirty="0"/>
              <a:t> </a:t>
            </a:r>
            <a:r>
              <a:rPr sz="1000" u="sng" spc="-20" dirty="0">
                <a:uFill>
                  <a:solidFill>
                    <a:srgbClr val="22373A"/>
                  </a:solidFill>
                </a:uFill>
                <a:latin typeface="Lucida Sans Unicode"/>
                <a:cs typeface="Lucida Sans Unicode"/>
              </a:rPr>
              <a:t>act</a:t>
            </a:r>
            <a:r>
              <a:rPr sz="1000" u="none" spc="85" dirty="0">
                <a:latin typeface="Lucida Sans Unicode"/>
                <a:cs typeface="Lucida Sans Unicode"/>
              </a:rPr>
              <a:t> </a:t>
            </a:r>
            <a:r>
              <a:rPr sz="1000" u="none" dirty="0"/>
              <a:t>or</a:t>
            </a:r>
            <a:r>
              <a:rPr sz="1000" u="none" spc="175" dirty="0"/>
              <a:t> </a:t>
            </a:r>
            <a:r>
              <a:rPr sz="1000" u="none" dirty="0"/>
              <a:t>activity</a:t>
            </a:r>
            <a:r>
              <a:rPr sz="1000" u="none" spc="175" dirty="0"/>
              <a:t> </a:t>
            </a:r>
            <a:r>
              <a:rPr sz="1000" u="none" dirty="0"/>
              <a:t>of</a:t>
            </a:r>
            <a:r>
              <a:rPr sz="1000" u="none" spc="175" dirty="0"/>
              <a:t> </a:t>
            </a:r>
            <a:r>
              <a:rPr sz="1000" u="none" dirty="0"/>
              <a:t>writing</a:t>
            </a:r>
            <a:r>
              <a:rPr sz="1000" u="none" spc="175" dirty="0"/>
              <a:t> </a:t>
            </a:r>
            <a:r>
              <a:rPr sz="1000" u="none" spc="-10" dirty="0"/>
              <a:t>computer 	</a:t>
            </a:r>
            <a:r>
              <a:rPr sz="1000" u="none" spc="10" dirty="0"/>
              <a:t>programs”.</a:t>
            </a:r>
            <a:r>
              <a:rPr sz="1000" u="none" spc="229" dirty="0"/>
              <a:t> </a:t>
            </a:r>
            <a:r>
              <a:rPr sz="1000" u="none" spc="10" dirty="0"/>
              <a:t>In</a:t>
            </a:r>
            <a:r>
              <a:rPr sz="1000" u="none" spc="125" dirty="0"/>
              <a:t> </a:t>
            </a:r>
            <a:r>
              <a:rPr sz="1000" u="none" spc="50" dirty="0"/>
              <a:t>a</a:t>
            </a:r>
            <a:r>
              <a:rPr sz="1000" u="none" spc="120" dirty="0"/>
              <a:t> </a:t>
            </a:r>
            <a:r>
              <a:rPr sz="1000" u="none" spc="10" dirty="0"/>
              <a:t>more</a:t>
            </a:r>
            <a:r>
              <a:rPr sz="1000" u="none" spc="120" dirty="0"/>
              <a:t> </a:t>
            </a:r>
            <a:r>
              <a:rPr sz="1000" u="none" spc="10" dirty="0"/>
              <a:t>general</a:t>
            </a:r>
            <a:r>
              <a:rPr sz="1000" u="none" spc="120" dirty="0"/>
              <a:t> </a:t>
            </a:r>
            <a:r>
              <a:rPr sz="1000" u="none" spc="10" dirty="0"/>
              <a:t>way</a:t>
            </a:r>
            <a:r>
              <a:rPr sz="1000" u="none" spc="125" dirty="0"/>
              <a:t> </a:t>
            </a:r>
            <a:r>
              <a:rPr sz="1000" u="none" spc="10" dirty="0"/>
              <a:t>programming</a:t>
            </a:r>
            <a:r>
              <a:rPr sz="1000" u="none" spc="120" dirty="0"/>
              <a:t> </a:t>
            </a:r>
            <a:r>
              <a:rPr sz="1000" u="none" spc="10" dirty="0"/>
              <a:t>or</a:t>
            </a:r>
            <a:r>
              <a:rPr sz="1000" u="none" spc="120" dirty="0"/>
              <a:t> </a:t>
            </a:r>
            <a:r>
              <a:rPr sz="1000" u="none" spc="10" dirty="0"/>
              <a:t>coding</a:t>
            </a:r>
            <a:r>
              <a:rPr sz="1000" u="none" spc="120" dirty="0"/>
              <a:t> </a:t>
            </a:r>
            <a:r>
              <a:rPr sz="1000" u="none" spc="50" dirty="0"/>
              <a:t>is</a:t>
            </a:r>
            <a:r>
              <a:rPr sz="1000" u="none" spc="125" dirty="0"/>
              <a:t> </a:t>
            </a:r>
            <a:r>
              <a:rPr sz="1000" u="none" spc="10" dirty="0"/>
              <a:t>the</a:t>
            </a:r>
            <a:r>
              <a:rPr sz="1000" u="none" spc="120" dirty="0"/>
              <a:t> </a:t>
            </a:r>
            <a:r>
              <a:rPr sz="1000" u="none" spc="10" dirty="0"/>
              <a:t>act</a:t>
            </a:r>
            <a:r>
              <a:rPr sz="1000" u="none" spc="120" dirty="0"/>
              <a:t> </a:t>
            </a:r>
            <a:r>
              <a:rPr sz="1000" u="none" spc="10" dirty="0"/>
              <a:t>of</a:t>
            </a:r>
            <a:r>
              <a:rPr sz="1000" u="none" spc="125" dirty="0"/>
              <a:t> </a:t>
            </a:r>
            <a:r>
              <a:rPr sz="1000" u="none" spc="10" dirty="0"/>
              <a:t>writing</a:t>
            </a:r>
            <a:r>
              <a:rPr sz="1000" u="none" spc="120" dirty="0"/>
              <a:t> </a:t>
            </a:r>
            <a:r>
              <a:rPr sz="1000" u="none" dirty="0"/>
              <a:t>a 	computer</a:t>
            </a:r>
            <a:r>
              <a:rPr sz="1000" u="none" spc="295" dirty="0"/>
              <a:t> </a:t>
            </a:r>
            <a:r>
              <a:rPr sz="1000" u="none" spc="-10" dirty="0"/>
              <a:t>program.</a:t>
            </a:r>
            <a:endParaRPr sz="1000">
              <a:latin typeface="Lucida Sans Unicode"/>
              <a:cs typeface="Lucida Sans Unicode"/>
            </a:endParaRPr>
          </a:p>
          <a:p>
            <a:pPr marL="288290" indent="-166370">
              <a:lnSpc>
                <a:spcPct val="100000"/>
              </a:lnSpc>
              <a:spcBef>
                <a:spcPts val="770"/>
              </a:spcBef>
              <a:buFont typeface="Arial"/>
              <a:buChar char="►"/>
              <a:tabLst>
                <a:tab pos="288290" algn="l"/>
              </a:tabLst>
            </a:pPr>
            <a:r>
              <a:rPr sz="1000" dirty="0"/>
              <a:t>A</a:t>
            </a:r>
            <a:r>
              <a:rPr sz="1000" spc="125" dirty="0"/>
              <a:t> </a:t>
            </a:r>
            <a:r>
              <a:rPr sz="1000" u="sng" spc="-50" dirty="0">
                <a:uFill>
                  <a:solidFill>
                    <a:srgbClr val="22373A"/>
                  </a:solidFill>
                </a:uFill>
                <a:latin typeface="Lucida Sans Unicode"/>
                <a:cs typeface="Lucida Sans Unicode"/>
              </a:rPr>
              <a:t>computer</a:t>
            </a:r>
            <a:r>
              <a:rPr sz="1000" u="sng" spc="60" dirty="0">
                <a:uFill>
                  <a:solidFill>
                    <a:srgbClr val="22373A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1000" u="sng" spc="-65" dirty="0">
                <a:uFill>
                  <a:solidFill>
                    <a:srgbClr val="22373A"/>
                  </a:solidFill>
                </a:uFill>
                <a:latin typeface="Lucida Sans Unicode"/>
                <a:cs typeface="Lucida Sans Unicode"/>
              </a:rPr>
              <a:t>program</a:t>
            </a:r>
            <a:r>
              <a:rPr sz="1000" u="none" spc="30" dirty="0">
                <a:latin typeface="Lucida Sans Unicode"/>
                <a:cs typeface="Lucida Sans Unicode"/>
              </a:rPr>
              <a:t> </a:t>
            </a:r>
            <a:r>
              <a:rPr sz="1000" u="none" spc="50" dirty="0"/>
              <a:t>is</a:t>
            </a:r>
            <a:r>
              <a:rPr sz="1000" u="none" spc="125" dirty="0"/>
              <a:t> </a:t>
            </a:r>
            <a:r>
              <a:rPr sz="1000" u="none" spc="50" dirty="0"/>
              <a:t>a</a:t>
            </a:r>
            <a:r>
              <a:rPr sz="1000" u="none" spc="130" dirty="0"/>
              <a:t> </a:t>
            </a:r>
            <a:r>
              <a:rPr sz="1000" u="none" dirty="0"/>
              <a:t>sequence</a:t>
            </a:r>
            <a:r>
              <a:rPr sz="1000" u="none" spc="120" dirty="0"/>
              <a:t> </a:t>
            </a:r>
            <a:r>
              <a:rPr sz="1000" u="none" dirty="0"/>
              <a:t>of</a:t>
            </a:r>
            <a:r>
              <a:rPr sz="1000" u="none" spc="130" dirty="0"/>
              <a:t> </a:t>
            </a:r>
            <a:r>
              <a:rPr sz="1000" u="none" dirty="0"/>
              <a:t>instructions</a:t>
            </a:r>
            <a:r>
              <a:rPr sz="1000" u="none" spc="130" dirty="0"/>
              <a:t> </a:t>
            </a:r>
            <a:r>
              <a:rPr sz="1000" u="none" dirty="0"/>
              <a:t>that</a:t>
            </a:r>
            <a:r>
              <a:rPr sz="1000" u="none" spc="125" dirty="0"/>
              <a:t> </a:t>
            </a:r>
            <a:r>
              <a:rPr sz="1000" u="none" spc="50" dirty="0"/>
              <a:t>a</a:t>
            </a:r>
            <a:r>
              <a:rPr sz="1000" u="none" spc="130" dirty="0"/>
              <a:t> </a:t>
            </a:r>
            <a:r>
              <a:rPr sz="1000" u="none" dirty="0"/>
              <a:t>computer</a:t>
            </a:r>
            <a:r>
              <a:rPr sz="1000" u="none" spc="120" dirty="0"/>
              <a:t> </a:t>
            </a:r>
            <a:r>
              <a:rPr sz="1000" u="none" spc="50" dirty="0"/>
              <a:t>is</a:t>
            </a:r>
            <a:r>
              <a:rPr sz="1000" u="none" spc="130" dirty="0"/>
              <a:t> </a:t>
            </a:r>
            <a:r>
              <a:rPr sz="1000" u="none" dirty="0"/>
              <a:t>able</a:t>
            </a:r>
            <a:r>
              <a:rPr sz="1000" u="none" spc="120" dirty="0"/>
              <a:t> </a:t>
            </a:r>
            <a:r>
              <a:rPr sz="1000" u="none" dirty="0"/>
              <a:t>to</a:t>
            </a:r>
            <a:r>
              <a:rPr sz="1000" u="none" spc="120" dirty="0"/>
              <a:t> </a:t>
            </a:r>
            <a:r>
              <a:rPr sz="1000" u="none" spc="-10" dirty="0"/>
              <a:t>execute.</a:t>
            </a:r>
            <a:endParaRPr sz="1000">
              <a:latin typeface="Lucida Sans Unicode"/>
              <a:cs typeface="Lucida Sans Unicode"/>
            </a:endParaRPr>
          </a:p>
          <a:p>
            <a:pPr marL="287655" marR="157480" indent="-166370">
              <a:lnSpc>
                <a:spcPct val="114599"/>
              </a:lnSpc>
              <a:spcBef>
                <a:spcPts val="600"/>
              </a:spcBef>
              <a:buFont typeface="Arial"/>
              <a:buChar char="►"/>
              <a:tabLst>
                <a:tab pos="289560" algn="l"/>
              </a:tabLst>
            </a:pPr>
            <a:r>
              <a:rPr sz="1000" u="sng" spc="-65" dirty="0">
                <a:uFill>
                  <a:solidFill>
                    <a:srgbClr val="22373A"/>
                  </a:solidFill>
                </a:uFill>
                <a:latin typeface="Lucida Sans Unicode"/>
                <a:cs typeface="Lucida Sans Unicode"/>
              </a:rPr>
              <a:t>Computer</a:t>
            </a:r>
            <a:r>
              <a:rPr sz="1000" u="none" spc="105" dirty="0">
                <a:latin typeface="Lucida Sans Unicode"/>
                <a:cs typeface="Lucida Sans Unicode"/>
              </a:rPr>
              <a:t> </a:t>
            </a:r>
            <a:r>
              <a:rPr sz="1000" u="none" dirty="0"/>
              <a:t>in</a:t>
            </a:r>
            <a:r>
              <a:rPr sz="1000" u="none" spc="195" dirty="0"/>
              <a:t> </a:t>
            </a:r>
            <a:r>
              <a:rPr sz="1000" u="none" dirty="0"/>
              <a:t>the</a:t>
            </a:r>
            <a:r>
              <a:rPr sz="1000" u="none" spc="195" dirty="0"/>
              <a:t> </a:t>
            </a:r>
            <a:r>
              <a:rPr sz="1000" u="none" dirty="0"/>
              <a:t>definition</a:t>
            </a:r>
            <a:r>
              <a:rPr sz="1000" u="none" spc="195" dirty="0"/>
              <a:t> </a:t>
            </a:r>
            <a:r>
              <a:rPr sz="1000" u="none" dirty="0"/>
              <a:t>above</a:t>
            </a:r>
            <a:r>
              <a:rPr sz="1000" u="none" spc="200" dirty="0"/>
              <a:t> </a:t>
            </a:r>
            <a:r>
              <a:rPr sz="1000" u="none" spc="50" dirty="0"/>
              <a:t>is</a:t>
            </a:r>
            <a:r>
              <a:rPr sz="1000" u="none" spc="195" dirty="0"/>
              <a:t> </a:t>
            </a:r>
            <a:r>
              <a:rPr sz="1000" u="none" dirty="0"/>
              <a:t>any</a:t>
            </a:r>
            <a:r>
              <a:rPr sz="1000" u="none" spc="195" dirty="0"/>
              <a:t> </a:t>
            </a:r>
            <a:r>
              <a:rPr sz="1000" u="none" dirty="0"/>
              <a:t>device</a:t>
            </a:r>
            <a:r>
              <a:rPr sz="1000" u="none" spc="200" dirty="0"/>
              <a:t> </a:t>
            </a:r>
            <a:r>
              <a:rPr sz="1000" u="none" dirty="0"/>
              <a:t>that</a:t>
            </a:r>
            <a:r>
              <a:rPr sz="1000" u="none" spc="195" dirty="0"/>
              <a:t> </a:t>
            </a:r>
            <a:r>
              <a:rPr sz="1000" u="none" spc="50" dirty="0"/>
              <a:t>is</a:t>
            </a:r>
            <a:r>
              <a:rPr sz="1000" u="none" spc="195" dirty="0"/>
              <a:t> </a:t>
            </a:r>
            <a:r>
              <a:rPr sz="1000" u="none" dirty="0"/>
              <a:t>capable</a:t>
            </a:r>
            <a:r>
              <a:rPr sz="1000" u="none" spc="200" dirty="0"/>
              <a:t> </a:t>
            </a:r>
            <a:r>
              <a:rPr sz="1000" u="none" dirty="0"/>
              <a:t>of</a:t>
            </a:r>
            <a:r>
              <a:rPr sz="1000" u="none" spc="195" dirty="0"/>
              <a:t> </a:t>
            </a:r>
            <a:r>
              <a:rPr sz="1000" u="none" dirty="0"/>
              <a:t>processing</a:t>
            </a:r>
            <a:r>
              <a:rPr sz="1000" u="none" spc="195" dirty="0"/>
              <a:t> </a:t>
            </a:r>
            <a:r>
              <a:rPr sz="1000" u="none" spc="-10" dirty="0"/>
              <a:t>code. 	</a:t>
            </a:r>
            <a:r>
              <a:rPr sz="1000" u="none" dirty="0"/>
              <a:t>This</a:t>
            </a:r>
            <a:r>
              <a:rPr sz="1000" u="none" spc="190" dirty="0"/>
              <a:t> </a:t>
            </a:r>
            <a:r>
              <a:rPr sz="1000" u="none" dirty="0"/>
              <a:t>could</a:t>
            </a:r>
            <a:r>
              <a:rPr sz="1000" u="none" spc="195" dirty="0"/>
              <a:t> </a:t>
            </a:r>
            <a:r>
              <a:rPr sz="1000" u="none" dirty="0"/>
              <a:t>be</a:t>
            </a:r>
            <a:r>
              <a:rPr sz="1000" u="none" spc="195" dirty="0"/>
              <a:t> </a:t>
            </a:r>
            <a:r>
              <a:rPr sz="1000" u="none" dirty="0"/>
              <a:t>smartphones,</a:t>
            </a:r>
            <a:r>
              <a:rPr sz="1000" u="none" spc="190" dirty="0"/>
              <a:t> </a:t>
            </a:r>
            <a:r>
              <a:rPr sz="1000" u="none" spc="-10" dirty="0"/>
              <a:t>ATMs,</a:t>
            </a:r>
            <a:r>
              <a:rPr sz="1000" u="none" spc="195" dirty="0"/>
              <a:t> </a:t>
            </a:r>
            <a:r>
              <a:rPr sz="1000" u="none" dirty="0"/>
              <a:t>the</a:t>
            </a:r>
            <a:r>
              <a:rPr sz="1000" u="none" spc="195" dirty="0"/>
              <a:t> </a:t>
            </a:r>
            <a:r>
              <a:rPr sz="1000" u="none" dirty="0"/>
              <a:t>Raspberry</a:t>
            </a:r>
            <a:r>
              <a:rPr sz="1000" u="none" spc="190" dirty="0"/>
              <a:t> </a:t>
            </a:r>
            <a:r>
              <a:rPr sz="1000" u="none" dirty="0"/>
              <a:t>Pi,</a:t>
            </a:r>
            <a:r>
              <a:rPr sz="1000" u="none" spc="195" dirty="0"/>
              <a:t> </a:t>
            </a:r>
            <a:r>
              <a:rPr sz="1000" u="none" dirty="0"/>
              <a:t>Servers</a:t>
            </a:r>
            <a:r>
              <a:rPr sz="1000" u="none" spc="195" dirty="0"/>
              <a:t> </a:t>
            </a:r>
            <a:r>
              <a:rPr sz="1000" u="none" dirty="0"/>
              <a:t>to</a:t>
            </a:r>
            <a:r>
              <a:rPr sz="1000" u="none" spc="190" dirty="0"/>
              <a:t> </a:t>
            </a:r>
            <a:r>
              <a:rPr sz="1000" u="none" dirty="0"/>
              <a:t>name</a:t>
            </a:r>
            <a:r>
              <a:rPr sz="1000" u="none" spc="195" dirty="0"/>
              <a:t> </a:t>
            </a:r>
            <a:r>
              <a:rPr sz="1000" u="none" spc="50" dirty="0"/>
              <a:t>a</a:t>
            </a:r>
            <a:r>
              <a:rPr sz="1000" u="none" spc="195" dirty="0"/>
              <a:t> </a:t>
            </a:r>
            <a:r>
              <a:rPr sz="1000" u="none" spc="-20" dirty="0"/>
              <a:t>few.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87001" y="3095228"/>
            <a:ext cx="65405" cy="132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-50" dirty="0">
                <a:solidFill>
                  <a:srgbClr val="22373A"/>
                </a:solidFill>
                <a:latin typeface="Calibri"/>
                <a:cs typeface="Calibri"/>
              </a:rPr>
              <a:t>6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What</a:t>
            </a:r>
            <a:r>
              <a:rPr spc="-50" dirty="0"/>
              <a:t> </a:t>
            </a:r>
            <a:r>
              <a:rPr spc="-40" dirty="0"/>
              <a:t>is</a:t>
            </a:r>
            <a:r>
              <a:rPr spc="-45" dirty="0"/>
              <a:t> </a:t>
            </a:r>
            <a:r>
              <a:rPr spc="-65" dirty="0"/>
              <a:t>programming?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56444"/>
            <a:ext cx="5066030" cy="2243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655" marR="115570" indent="-166370">
              <a:lnSpc>
                <a:spcPct val="114599"/>
              </a:lnSpc>
              <a:spcBef>
                <a:spcPts val="100"/>
              </a:spcBef>
              <a:buFont typeface="Arial"/>
              <a:buChar char="►"/>
              <a:tabLst>
                <a:tab pos="289560" algn="l"/>
              </a:tabLst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most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simple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answer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is:</a:t>
            </a:r>
            <a:r>
              <a:rPr sz="1000" spc="3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“Programming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sng" spc="-2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Lucida Sans Unicode"/>
                <a:cs typeface="Lucida Sans Unicode"/>
              </a:rPr>
              <a:t>act</a:t>
            </a:r>
            <a:r>
              <a:rPr sz="1000" u="none" spc="8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or</a:t>
            </a:r>
            <a:r>
              <a:rPr sz="1000" u="none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activity</a:t>
            </a:r>
            <a:r>
              <a:rPr sz="1000" u="none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000" u="none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writing</a:t>
            </a:r>
            <a:r>
              <a:rPr sz="1000" u="none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-10" dirty="0">
                <a:solidFill>
                  <a:srgbClr val="22373A"/>
                </a:solidFill>
                <a:latin typeface="Calibri"/>
                <a:cs typeface="Calibri"/>
              </a:rPr>
              <a:t>computer 	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programs”.</a:t>
            </a:r>
            <a:r>
              <a:rPr sz="1000" u="none" spc="229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u="none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u="none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more</a:t>
            </a:r>
            <a:r>
              <a:rPr sz="1000" u="none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general</a:t>
            </a:r>
            <a:r>
              <a:rPr sz="1000" u="none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way</a:t>
            </a:r>
            <a:r>
              <a:rPr sz="1000" u="none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programming</a:t>
            </a:r>
            <a:r>
              <a:rPr sz="1000" u="none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or</a:t>
            </a:r>
            <a:r>
              <a:rPr sz="1000" u="none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coding</a:t>
            </a:r>
            <a:r>
              <a:rPr sz="1000" u="none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50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000" u="none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u="none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act</a:t>
            </a:r>
            <a:r>
              <a:rPr sz="1000" u="none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000" u="none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writing</a:t>
            </a:r>
            <a:r>
              <a:rPr sz="1000" u="none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a 	computer</a:t>
            </a:r>
            <a:r>
              <a:rPr sz="1000" u="none" spc="2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-10" dirty="0">
                <a:solidFill>
                  <a:srgbClr val="22373A"/>
                </a:solidFill>
                <a:latin typeface="Calibri"/>
                <a:cs typeface="Calibri"/>
              </a:rPr>
              <a:t>program.</a:t>
            </a:r>
            <a:endParaRPr sz="1000">
              <a:latin typeface="Calibri"/>
              <a:cs typeface="Calibri"/>
            </a:endParaRPr>
          </a:p>
          <a:p>
            <a:pPr marL="288290" indent="-166370">
              <a:lnSpc>
                <a:spcPct val="100000"/>
              </a:lnSpc>
              <a:spcBef>
                <a:spcPts val="770"/>
              </a:spcBef>
              <a:buFont typeface="Arial"/>
              <a:buChar char="►"/>
              <a:tabLst>
                <a:tab pos="288290" algn="l"/>
              </a:tabLst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sng" spc="-5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Lucida Sans Unicode"/>
                <a:cs typeface="Lucida Sans Unicode"/>
              </a:rPr>
              <a:t>computer</a:t>
            </a:r>
            <a:r>
              <a:rPr sz="1000" u="sng" spc="6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1000" u="sng" spc="-65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Lucida Sans Unicode"/>
                <a:cs typeface="Lucida Sans Unicode"/>
              </a:rPr>
              <a:t>program</a:t>
            </a:r>
            <a:r>
              <a:rPr sz="1000" u="none" spc="3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u="none" spc="50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000" u="none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u="none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sequence</a:t>
            </a:r>
            <a:r>
              <a:rPr sz="1000" u="none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000" u="none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instructions</a:t>
            </a:r>
            <a:r>
              <a:rPr sz="1000" u="none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that</a:t>
            </a:r>
            <a:r>
              <a:rPr sz="1000" u="none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u="none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computer</a:t>
            </a:r>
            <a:r>
              <a:rPr sz="1000" u="none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50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000" u="none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able</a:t>
            </a:r>
            <a:r>
              <a:rPr sz="1000" u="none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u="none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-10" dirty="0">
                <a:solidFill>
                  <a:srgbClr val="22373A"/>
                </a:solidFill>
                <a:latin typeface="Calibri"/>
                <a:cs typeface="Calibri"/>
              </a:rPr>
              <a:t>execute.</a:t>
            </a:r>
            <a:endParaRPr sz="1000">
              <a:latin typeface="Calibri"/>
              <a:cs typeface="Calibri"/>
            </a:endParaRPr>
          </a:p>
          <a:p>
            <a:pPr marL="287655" marR="157480" indent="-166370">
              <a:lnSpc>
                <a:spcPct val="114599"/>
              </a:lnSpc>
              <a:spcBef>
                <a:spcPts val="600"/>
              </a:spcBef>
              <a:buFont typeface="Arial"/>
              <a:buChar char="►"/>
              <a:tabLst>
                <a:tab pos="289560" algn="l"/>
              </a:tabLst>
            </a:pPr>
            <a:r>
              <a:rPr sz="1000" u="sng" spc="-65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Lucida Sans Unicode"/>
                <a:cs typeface="Lucida Sans Unicode"/>
              </a:rPr>
              <a:t>Computer</a:t>
            </a:r>
            <a:r>
              <a:rPr sz="1000" u="none" spc="10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u="none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u="none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definition</a:t>
            </a:r>
            <a:r>
              <a:rPr sz="1000" u="none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above</a:t>
            </a:r>
            <a:r>
              <a:rPr sz="1000" u="none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50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000" u="none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any</a:t>
            </a:r>
            <a:r>
              <a:rPr sz="1000" u="none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device</a:t>
            </a:r>
            <a:r>
              <a:rPr sz="1000" u="none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that</a:t>
            </a:r>
            <a:r>
              <a:rPr sz="1000" u="none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50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000" u="none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capable</a:t>
            </a:r>
            <a:r>
              <a:rPr sz="1000" u="none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000" u="none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processing</a:t>
            </a:r>
            <a:r>
              <a:rPr sz="1000" u="none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-10" dirty="0">
                <a:solidFill>
                  <a:srgbClr val="22373A"/>
                </a:solidFill>
                <a:latin typeface="Calibri"/>
                <a:cs typeface="Calibri"/>
              </a:rPr>
              <a:t>code. 	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This</a:t>
            </a:r>
            <a:r>
              <a:rPr sz="1000" u="none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could</a:t>
            </a:r>
            <a:r>
              <a:rPr sz="1000" u="none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be</a:t>
            </a:r>
            <a:r>
              <a:rPr sz="1000" u="none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smartphones,</a:t>
            </a:r>
            <a:r>
              <a:rPr sz="1000" u="none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-10" dirty="0">
                <a:solidFill>
                  <a:srgbClr val="22373A"/>
                </a:solidFill>
                <a:latin typeface="Calibri"/>
                <a:cs typeface="Calibri"/>
              </a:rPr>
              <a:t>ATMs,</a:t>
            </a:r>
            <a:r>
              <a:rPr sz="1000" u="none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u="none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Raspberry</a:t>
            </a:r>
            <a:r>
              <a:rPr sz="1000" u="none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Pi,</a:t>
            </a:r>
            <a:r>
              <a:rPr sz="1000" u="none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Servers</a:t>
            </a:r>
            <a:r>
              <a:rPr sz="1000" u="none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u="none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name</a:t>
            </a:r>
            <a:r>
              <a:rPr sz="1000" u="none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u="none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-20" dirty="0">
                <a:solidFill>
                  <a:srgbClr val="22373A"/>
                </a:solidFill>
                <a:latin typeface="Calibri"/>
                <a:cs typeface="Calibri"/>
              </a:rPr>
              <a:t>few.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14599"/>
              </a:lnSpc>
              <a:spcBef>
                <a:spcPts val="1140"/>
              </a:spcBef>
            </a:pP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Remember,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every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time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we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use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smart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devices,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some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code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running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background.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Moving</a:t>
            </a:r>
            <a:r>
              <a:rPr sz="10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mouse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pointer</a:t>
            </a:r>
            <a:r>
              <a:rPr sz="10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from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one</a:t>
            </a:r>
            <a:r>
              <a:rPr sz="10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part</a:t>
            </a:r>
            <a:r>
              <a:rPr sz="10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your</a:t>
            </a:r>
            <a:r>
              <a:rPr sz="10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computer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screen</a:t>
            </a:r>
            <a:r>
              <a:rPr sz="10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other</a:t>
            </a:r>
            <a:r>
              <a:rPr sz="10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may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Calibri"/>
                <a:cs typeface="Calibri"/>
              </a:rPr>
              <a:t>seem</a:t>
            </a:r>
            <a:r>
              <a:rPr sz="1000" spc="5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like</a:t>
            </a:r>
            <a:r>
              <a:rPr sz="10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simple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task,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but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reality,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so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many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lines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code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just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ran.</a:t>
            </a:r>
            <a:r>
              <a:rPr sz="1000" spc="2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An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act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60" dirty="0">
                <a:solidFill>
                  <a:srgbClr val="22373A"/>
                </a:solidFill>
                <a:latin typeface="Calibri"/>
                <a:cs typeface="Calibri"/>
              </a:rPr>
              <a:t>as</a:t>
            </a:r>
            <a:r>
              <a:rPr sz="10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simple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60" dirty="0">
                <a:solidFill>
                  <a:srgbClr val="22373A"/>
                </a:solidFill>
                <a:latin typeface="Calibri"/>
                <a:cs typeface="Calibri"/>
              </a:rPr>
              <a:t>as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typing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letters</a:t>
            </a:r>
            <a:r>
              <a:rPr sz="10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into</a:t>
            </a:r>
            <a:r>
              <a:rPr sz="10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Google</a:t>
            </a:r>
            <a:r>
              <a:rPr sz="10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Docs</a:t>
            </a:r>
            <a:r>
              <a:rPr sz="10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leads</a:t>
            </a:r>
            <a:r>
              <a:rPr sz="10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lines</a:t>
            </a:r>
            <a:r>
              <a:rPr sz="10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0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code</a:t>
            </a:r>
            <a:r>
              <a:rPr sz="10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being</a:t>
            </a:r>
            <a:r>
              <a:rPr sz="10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executed</a:t>
            </a:r>
            <a:r>
              <a:rPr sz="10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background.</a:t>
            </a:r>
            <a:r>
              <a:rPr sz="1000" spc="3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It’s</a:t>
            </a:r>
            <a:r>
              <a:rPr sz="10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30" dirty="0">
                <a:solidFill>
                  <a:srgbClr val="22373A"/>
                </a:solidFill>
                <a:latin typeface="Calibri"/>
                <a:cs typeface="Calibri"/>
              </a:rPr>
              <a:t>all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code</a:t>
            </a:r>
            <a:r>
              <a:rPr sz="10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everywhere.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87001" y="3095228"/>
            <a:ext cx="65405" cy="132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-50" dirty="0">
                <a:solidFill>
                  <a:srgbClr val="22373A"/>
                </a:solidFill>
                <a:latin typeface="Calibri"/>
                <a:cs typeface="Calibri"/>
              </a:rPr>
              <a:t>6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631" y="75410"/>
            <a:ext cx="24745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80" dirty="0"/>
              <a:t>The</a:t>
            </a:r>
            <a:r>
              <a:rPr spc="-40" dirty="0"/>
              <a:t> </a:t>
            </a:r>
            <a:r>
              <a:rPr spc="-45" dirty="0"/>
              <a:t>Natural</a:t>
            </a:r>
            <a:r>
              <a:rPr spc="-35" dirty="0"/>
              <a:t> </a:t>
            </a:r>
            <a:r>
              <a:rPr spc="-70" dirty="0"/>
              <a:t>Language</a:t>
            </a:r>
            <a:r>
              <a:rPr spc="-40" dirty="0"/>
              <a:t> </a:t>
            </a:r>
            <a:r>
              <a:rPr spc="-45" dirty="0"/>
              <a:t>of</a:t>
            </a:r>
            <a:r>
              <a:rPr spc="-35" dirty="0"/>
              <a:t> </a:t>
            </a:r>
            <a:r>
              <a:rPr spc="-55" dirty="0"/>
              <a:t>Computers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993" y="490562"/>
            <a:ext cx="2142045" cy="214204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9952" y="524160"/>
            <a:ext cx="4762500" cy="24577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9965" marR="5080" indent="34925">
              <a:lnSpc>
                <a:spcPct val="114599"/>
              </a:lnSpc>
              <a:spcBef>
                <a:spcPts val="100"/>
              </a:spcBef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sng" spc="-3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Lucida Sans Unicode"/>
                <a:cs typeface="Lucida Sans Unicode"/>
              </a:rPr>
              <a:t>only</a:t>
            </a:r>
            <a:r>
              <a:rPr sz="1000" u="none" spc="13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language</a:t>
            </a:r>
            <a:r>
              <a:rPr sz="1000" u="none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understood</a:t>
            </a:r>
            <a:r>
              <a:rPr sz="1000" u="none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by</a:t>
            </a:r>
            <a:r>
              <a:rPr sz="1000" u="none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a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computer</a:t>
            </a:r>
            <a:r>
              <a:rPr sz="1000" u="none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50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000" u="none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u="none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machine</a:t>
            </a:r>
            <a:r>
              <a:rPr sz="1000" u="none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language.</a:t>
            </a:r>
            <a:r>
              <a:rPr sz="1000" u="none" spc="2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1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u="none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-20" dirty="0">
                <a:solidFill>
                  <a:srgbClr val="22373A"/>
                </a:solidFill>
                <a:latin typeface="Calibri"/>
                <a:cs typeface="Calibri"/>
              </a:rPr>
              <a:t>very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long</a:t>
            </a:r>
            <a:r>
              <a:rPr sz="1000" u="none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list</a:t>
            </a:r>
            <a:r>
              <a:rPr sz="1000" u="none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000" u="none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000" u="none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50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000" u="none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-10" dirty="0">
                <a:solidFill>
                  <a:srgbClr val="22373A"/>
                </a:solidFill>
                <a:latin typeface="Calibri"/>
                <a:cs typeface="Calibri"/>
              </a:rPr>
              <a:t>1.</a:t>
            </a:r>
            <a:r>
              <a:rPr sz="1000" u="none" spc="2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However</a:t>
            </a:r>
            <a:r>
              <a:rPr sz="1000" u="none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it</a:t>
            </a:r>
            <a:r>
              <a:rPr sz="1000" u="none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50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000" u="none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u="none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little</a:t>
            </a:r>
            <a:r>
              <a:rPr sz="1000" u="none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-25" dirty="0">
                <a:solidFill>
                  <a:srgbClr val="22373A"/>
                </a:solidFill>
                <a:latin typeface="Calibri"/>
                <a:cs typeface="Calibri"/>
              </a:rPr>
              <a:t>bit</a:t>
            </a:r>
            <a:r>
              <a:rPr sz="1000" u="none" spc="20" dirty="0">
                <a:solidFill>
                  <a:srgbClr val="22373A"/>
                </a:solidFill>
                <a:latin typeface="Calibri"/>
                <a:cs typeface="Calibri"/>
              </a:rPr>
              <a:t> inconvenient</a:t>
            </a:r>
            <a:r>
              <a:rPr sz="1000" u="none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2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u="none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20" dirty="0">
                <a:solidFill>
                  <a:srgbClr val="22373A"/>
                </a:solidFill>
                <a:latin typeface="Calibri"/>
                <a:cs typeface="Calibri"/>
              </a:rPr>
              <a:t>write</a:t>
            </a:r>
            <a:r>
              <a:rPr sz="1000" u="none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u="none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20" dirty="0">
                <a:solidFill>
                  <a:srgbClr val="22373A"/>
                </a:solidFill>
                <a:latin typeface="Calibri"/>
                <a:cs typeface="Calibri"/>
              </a:rPr>
              <a:t>series</a:t>
            </a:r>
            <a:r>
              <a:rPr sz="1000" u="none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2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000" u="none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20" dirty="0">
                <a:solidFill>
                  <a:srgbClr val="22373A"/>
                </a:solidFill>
                <a:latin typeface="Calibri"/>
                <a:cs typeface="Calibri"/>
              </a:rPr>
              <a:t>zeros</a:t>
            </a:r>
            <a:r>
              <a:rPr sz="1000" u="none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25" dirty="0">
                <a:solidFill>
                  <a:srgbClr val="22373A"/>
                </a:solidFill>
                <a:latin typeface="Calibri"/>
                <a:cs typeface="Calibri"/>
              </a:rPr>
              <a:t>and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ones.</a:t>
            </a:r>
            <a:r>
              <a:rPr sz="1000" u="none" spc="3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50" dirty="0">
                <a:solidFill>
                  <a:srgbClr val="22373A"/>
                </a:solidFill>
                <a:latin typeface="Calibri"/>
                <a:cs typeface="Calibri"/>
              </a:rPr>
              <a:t>So</a:t>
            </a:r>
            <a:r>
              <a:rPr sz="1000" u="none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(very</a:t>
            </a:r>
            <a:r>
              <a:rPr sz="1000" u="none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smart)</a:t>
            </a:r>
            <a:r>
              <a:rPr sz="1000" u="none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people,</a:t>
            </a:r>
            <a:r>
              <a:rPr sz="1000" u="none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like</a:t>
            </a:r>
            <a:r>
              <a:rPr sz="1000" u="none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u="none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one</a:t>
            </a:r>
            <a:r>
              <a:rPr sz="1000" u="none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-25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 the</a:t>
            </a:r>
            <a:r>
              <a:rPr sz="1000" u="none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picture,</a:t>
            </a:r>
            <a:r>
              <a:rPr sz="1000" u="none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invented</a:t>
            </a:r>
            <a:r>
              <a:rPr sz="1000" u="none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what</a:t>
            </a:r>
            <a:r>
              <a:rPr sz="1000" u="none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are</a:t>
            </a:r>
            <a:r>
              <a:rPr sz="1000" u="none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-10" dirty="0">
                <a:solidFill>
                  <a:srgbClr val="22373A"/>
                </a:solidFill>
                <a:latin typeface="Calibri"/>
                <a:cs typeface="Calibri"/>
              </a:rPr>
              <a:t>called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programming</a:t>
            </a:r>
            <a:r>
              <a:rPr sz="1000" u="none" spc="2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languages</a:t>
            </a:r>
            <a:r>
              <a:rPr sz="1000" u="none" spc="2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(C/C++,</a:t>
            </a:r>
            <a:r>
              <a:rPr sz="1000" u="none" spc="2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-10" dirty="0">
                <a:solidFill>
                  <a:srgbClr val="22373A"/>
                </a:solidFill>
                <a:latin typeface="Calibri"/>
                <a:cs typeface="Calibri"/>
              </a:rPr>
              <a:t>Fortran, </a:t>
            </a:r>
            <a:r>
              <a:rPr lang="it-IT" sz="1000" spc="-10" dirty="0">
                <a:solidFill>
                  <a:srgbClr val="22373A"/>
                </a:solidFill>
                <a:latin typeface="Calibri"/>
                <a:cs typeface="Calibri"/>
              </a:rPr>
              <a:t>P</a:t>
            </a:r>
            <a:r>
              <a:rPr sz="1000" u="none" dirty="0" err="1">
                <a:solidFill>
                  <a:srgbClr val="22373A"/>
                </a:solidFill>
                <a:latin typeface="Calibri"/>
                <a:cs typeface="Calibri"/>
              </a:rPr>
              <a:t>ython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sz="1000" u="none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it-IT" sz="1000" u="none" dirty="0">
                <a:solidFill>
                  <a:srgbClr val="22373A"/>
                </a:solidFill>
                <a:latin typeface="Calibri"/>
                <a:cs typeface="Calibri"/>
              </a:rPr>
              <a:t>J</a:t>
            </a:r>
            <a:r>
              <a:rPr sz="1000" u="none" dirty="0" err="1">
                <a:solidFill>
                  <a:srgbClr val="22373A"/>
                </a:solidFill>
                <a:latin typeface="Calibri"/>
                <a:cs typeface="Calibri"/>
              </a:rPr>
              <a:t>ulia</a:t>
            </a:r>
            <a:r>
              <a:rPr sz="1000" u="none" dirty="0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sz="1000" u="none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-10" dirty="0">
                <a:solidFill>
                  <a:srgbClr val="22373A"/>
                </a:solidFill>
                <a:latin typeface="Calibri"/>
                <a:cs typeface="Calibri"/>
              </a:rPr>
              <a:t>MATLAB,</a:t>
            </a:r>
            <a:r>
              <a:rPr sz="1000" u="none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spc="-10" dirty="0">
                <a:solidFill>
                  <a:srgbClr val="22373A"/>
                </a:solidFill>
                <a:latin typeface="Calibri"/>
                <a:cs typeface="Calibri"/>
              </a:rPr>
              <a:t>...).</a:t>
            </a:r>
            <a:endParaRPr sz="1000" dirty="0">
              <a:latin typeface="Calibri"/>
              <a:cs typeface="Calibri"/>
            </a:endParaRPr>
          </a:p>
          <a:p>
            <a:pPr marL="2259965" marR="29209">
              <a:lnSpc>
                <a:spcPct val="114599"/>
              </a:lnSpc>
            </a:pPr>
            <a:r>
              <a:rPr sz="1000" spc="-50" dirty="0">
                <a:solidFill>
                  <a:srgbClr val="EB801A"/>
                </a:solidFill>
                <a:latin typeface="Lucida Sans Unicode"/>
                <a:cs typeface="Lucida Sans Unicode"/>
              </a:rPr>
              <a:t>N.B.</a:t>
            </a:r>
            <a:r>
              <a:rPr sz="1000" spc="80" dirty="0">
                <a:solidFill>
                  <a:srgbClr val="EB801A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Computers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aren’t</a:t>
            </a:r>
            <a:r>
              <a:rPr sz="10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very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smart,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 instructions</a:t>
            </a:r>
            <a:r>
              <a:rPr sz="1000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need</a:t>
            </a:r>
            <a:r>
              <a:rPr sz="10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be</a:t>
            </a:r>
            <a:r>
              <a:rPr sz="10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very</a:t>
            </a:r>
            <a:r>
              <a:rPr sz="1000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precise!</a:t>
            </a:r>
            <a:r>
              <a:rPr sz="10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Telling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computer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what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you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want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it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do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5" dirty="0">
                <a:solidFill>
                  <a:srgbClr val="22373A"/>
                </a:solidFill>
                <a:latin typeface="Calibri"/>
                <a:cs typeface="Calibri"/>
              </a:rPr>
              <a:t>is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sometimes</a:t>
            </a:r>
            <a:r>
              <a:rPr sz="10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hard</a:t>
            </a:r>
            <a:r>
              <a:rPr sz="10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because</a:t>
            </a:r>
            <a:r>
              <a:rPr sz="10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you</a:t>
            </a:r>
            <a:r>
              <a:rPr sz="10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have</a:t>
            </a:r>
            <a:r>
              <a:rPr sz="10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spc="5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explain</a:t>
            </a:r>
            <a:r>
              <a:rPr sz="10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things</a:t>
            </a:r>
            <a:r>
              <a:rPr sz="10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very</a:t>
            </a:r>
            <a:r>
              <a:rPr sz="10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carefully</a:t>
            </a:r>
            <a:r>
              <a:rPr sz="10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0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precisely.</a:t>
            </a:r>
            <a:endParaRPr sz="1000" dirty="0">
              <a:latin typeface="Calibri"/>
              <a:cs typeface="Calibri"/>
            </a:endParaRPr>
          </a:p>
          <a:p>
            <a:pPr marL="12700">
              <a:lnSpc>
                <a:spcPts val="1085"/>
              </a:lnSpc>
            </a:pPr>
            <a:r>
              <a:rPr sz="1000" spc="-60" dirty="0">
                <a:solidFill>
                  <a:srgbClr val="22373A"/>
                </a:solidFill>
                <a:latin typeface="Lucida Sans Unicode"/>
                <a:cs typeface="Lucida Sans Unicode"/>
              </a:rPr>
              <a:t>Figure</a:t>
            </a:r>
            <a:r>
              <a:rPr sz="1000" spc="1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150" dirty="0">
                <a:solidFill>
                  <a:srgbClr val="22373A"/>
                </a:solidFill>
                <a:latin typeface="Lucida Sans Unicode"/>
                <a:cs typeface="Lucida Sans Unicode"/>
              </a:rPr>
              <a:t>1:</a:t>
            </a:r>
            <a:r>
              <a:rPr sz="1000" spc="1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Cleve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Barry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Moler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7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75410"/>
            <a:ext cx="556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90" dirty="0">
                <a:latin typeface="Lucida Sans Unicode"/>
                <a:cs typeface="Lucida Sans Unicode"/>
              </a:rPr>
              <a:t>MATLAB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63993" y="473158"/>
            <a:ext cx="4031615" cy="2658745"/>
            <a:chOff x="863993" y="473158"/>
            <a:chExt cx="4031615" cy="2658745"/>
          </a:xfrm>
        </p:grpSpPr>
        <p:sp>
          <p:nvSpPr>
            <p:cNvPr id="4" name="object 4"/>
            <p:cNvSpPr/>
            <p:nvPr/>
          </p:nvSpPr>
          <p:spPr>
            <a:xfrm>
              <a:off x="863993" y="473158"/>
              <a:ext cx="4031615" cy="2658745"/>
            </a:xfrm>
            <a:custGeom>
              <a:avLst/>
              <a:gdLst/>
              <a:ahLst/>
              <a:cxnLst/>
              <a:rect l="l" t="t" r="r" b="b"/>
              <a:pathLst>
                <a:path w="4031615" h="2658745">
                  <a:moveTo>
                    <a:pt x="4031247" y="0"/>
                  </a:moveTo>
                  <a:lnTo>
                    <a:pt x="0" y="0"/>
                  </a:lnTo>
                  <a:lnTo>
                    <a:pt x="0" y="2658209"/>
                  </a:lnTo>
                  <a:lnTo>
                    <a:pt x="4031247" y="2658209"/>
                  </a:lnTo>
                  <a:lnTo>
                    <a:pt x="40312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5909" y="474746"/>
              <a:ext cx="3404540" cy="212889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832841" y="2344254"/>
              <a:ext cx="50800" cy="347345"/>
            </a:xfrm>
            <a:custGeom>
              <a:avLst/>
              <a:gdLst/>
              <a:ahLst/>
              <a:cxnLst/>
              <a:rect l="l" t="t" r="r" b="b"/>
              <a:pathLst>
                <a:path w="50800" h="347344">
                  <a:moveTo>
                    <a:pt x="25338" y="21666"/>
                  </a:moveTo>
                  <a:lnTo>
                    <a:pt x="19880" y="31023"/>
                  </a:lnTo>
                  <a:lnTo>
                    <a:pt x="19879" y="346877"/>
                  </a:lnTo>
                  <a:lnTo>
                    <a:pt x="30796" y="346877"/>
                  </a:lnTo>
                  <a:lnTo>
                    <a:pt x="30797" y="31023"/>
                  </a:lnTo>
                  <a:lnTo>
                    <a:pt x="25338" y="21666"/>
                  </a:lnTo>
                  <a:close/>
                </a:path>
                <a:path w="50800" h="347344">
                  <a:moveTo>
                    <a:pt x="25338" y="0"/>
                  </a:moveTo>
                  <a:lnTo>
                    <a:pt x="0" y="43437"/>
                  </a:lnTo>
                  <a:lnTo>
                    <a:pt x="879" y="46780"/>
                  </a:lnTo>
                  <a:lnTo>
                    <a:pt x="6087" y="49818"/>
                  </a:lnTo>
                  <a:lnTo>
                    <a:pt x="9429" y="48938"/>
                  </a:lnTo>
                  <a:lnTo>
                    <a:pt x="19880" y="31023"/>
                  </a:lnTo>
                  <a:lnTo>
                    <a:pt x="19880" y="10832"/>
                  </a:lnTo>
                  <a:lnTo>
                    <a:pt x="31657" y="10832"/>
                  </a:lnTo>
                  <a:lnTo>
                    <a:pt x="25338" y="0"/>
                  </a:lnTo>
                  <a:close/>
                </a:path>
                <a:path w="50800" h="347344">
                  <a:moveTo>
                    <a:pt x="31657" y="10832"/>
                  </a:moveTo>
                  <a:lnTo>
                    <a:pt x="30797" y="10832"/>
                  </a:lnTo>
                  <a:lnTo>
                    <a:pt x="30797" y="31023"/>
                  </a:lnTo>
                  <a:lnTo>
                    <a:pt x="41247" y="48938"/>
                  </a:lnTo>
                  <a:lnTo>
                    <a:pt x="44589" y="49818"/>
                  </a:lnTo>
                  <a:lnTo>
                    <a:pt x="49797" y="46780"/>
                  </a:lnTo>
                  <a:lnTo>
                    <a:pt x="50677" y="43437"/>
                  </a:lnTo>
                  <a:lnTo>
                    <a:pt x="31657" y="10832"/>
                  </a:lnTo>
                  <a:close/>
                </a:path>
                <a:path w="50800" h="347344">
                  <a:moveTo>
                    <a:pt x="30797" y="10832"/>
                  </a:moveTo>
                  <a:lnTo>
                    <a:pt x="19880" y="10832"/>
                  </a:lnTo>
                  <a:lnTo>
                    <a:pt x="19880" y="31023"/>
                  </a:lnTo>
                  <a:lnTo>
                    <a:pt x="25338" y="21666"/>
                  </a:lnTo>
                  <a:lnTo>
                    <a:pt x="20623" y="13583"/>
                  </a:lnTo>
                  <a:lnTo>
                    <a:pt x="30797" y="13583"/>
                  </a:lnTo>
                  <a:lnTo>
                    <a:pt x="30797" y="10832"/>
                  </a:lnTo>
                  <a:close/>
                </a:path>
                <a:path w="50800" h="347344">
                  <a:moveTo>
                    <a:pt x="30797" y="13583"/>
                  </a:moveTo>
                  <a:lnTo>
                    <a:pt x="30053" y="13583"/>
                  </a:lnTo>
                  <a:lnTo>
                    <a:pt x="25338" y="21666"/>
                  </a:lnTo>
                  <a:lnTo>
                    <a:pt x="30797" y="31023"/>
                  </a:lnTo>
                  <a:lnTo>
                    <a:pt x="30797" y="13583"/>
                  </a:lnTo>
                  <a:close/>
                </a:path>
                <a:path w="50800" h="347344">
                  <a:moveTo>
                    <a:pt x="30053" y="13583"/>
                  </a:moveTo>
                  <a:lnTo>
                    <a:pt x="20623" y="13583"/>
                  </a:lnTo>
                  <a:lnTo>
                    <a:pt x="25338" y="21666"/>
                  </a:lnTo>
                  <a:lnTo>
                    <a:pt x="30053" y="1358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29950" y="2769321"/>
            <a:ext cx="1057275" cy="3045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10" dirty="0">
                <a:latin typeface="Arial"/>
                <a:cs typeface="Arial"/>
              </a:rPr>
              <a:t>Command</a:t>
            </a:r>
            <a:r>
              <a:rPr sz="900" spc="2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Window</a:t>
            </a:r>
            <a:endParaRPr lang="it-IT" sz="900" spc="-10" dirty="0">
              <a:latin typeface="Arial"/>
              <a:cs typeface="Arial"/>
            </a:endParaRPr>
          </a:p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lang="it-IT" sz="900" spc="-10" dirty="0">
                <a:latin typeface="Arial"/>
                <a:cs typeface="Arial"/>
              </a:rPr>
              <a:t>(Terminal)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34397" y="1662499"/>
            <a:ext cx="50800" cy="1059180"/>
          </a:xfrm>
          <a:custGeom>
            <a:avLst/>
            <a:gdLst/>
            <a:ahLst/>
            <a:cxnLst/>
            <a:rect l="l" t="t" r="r" b="b"/>
            <a:pathLst>
              <a:path w="50800" h="1059180">
                <a:moveTo>
                  <a:pt x="25338" y="21666"/>
                </a:moveTo>
                <a:lnTo>
                  <a:pt x="19880" y="31024"/>
                </a:lnTo>
                <a:lnTo>
                  <a:pt x="19879" y="1058899"/>
                </a:lnTo>
                <a:lnTo>
                  <a:pt x="30796" y="1058899"/>
                </a:lnTo>
                <a:lnTo>
                  <a:pt x="30797" y="31024"/>
                </a:lnTo>
                <a:lnTo>
                  <a:pt x="25338" y="21666"/>
                </a:lnTo>
                <a:close/>
              </a:path>
              <a:path w="50800" h="1059180">
                <a:moveTo>
                  <a:pt x="25338" y="0"/>
                </a:moveTo>
                <a:lnTo>
                  <a:pt x="0" y="43438"/>
                </a:lnTo>
                <a:lnTo>
                  <a:pt x="879" y="46780"/>
                </a:lnTo>
                <a:lnTo>
                  <a:pt x="6087" y="49818"/>
                </a:lnTo>
                <a:lnTo>
                  <a:pt x="9429" y="48939"/>
                </a:lnTo>
                <a:lnTo>
                  <a:pt x="19880" y="31024"/>
                </a:lnTo>
                <a:lnTo>
                  <a:pt x="19880" y="10831"/>
                </a:lnTo>
                <a:lnTo>
                  <a:pt x="31657" y="10831"/>
                </a:lnTo>
                <a:lnTo>
                  <a:pt x="25338" y="0"/>
                </a:lnTo>
                <a:close/>
              </a:path>
              <a:path w="50800" h="1059180">
                <a:moveTo>
                  <a:pt x="31657" y="10831"/>
                </a:moveTo>
                <a:lnTo>
                  <a:pt x="30797" y="10831"/>
                </a:lnTo>
                <a:lnTo>
                  <a:pt x="30797" y="31024"/>
                </a:lnTo>
                <a:lnTo>
                  <a:pt x="41247" y="48939"/>
                </a:lnTo>
                <a:lnTo>
                  <a:pt x="44590" y="49818"/>
                </a:lnTo>
                <a:lnTo>
                  <a:pt x="49797" y="46780"/>
                </a:lnTo>
                <a:lnTo>
                  <a:pt x="50677" y="43438"/>
                </a:lnTo>
                <a:lnTo>
                  <a:pt x="31657" y="10831"/>
                </a:lnTo>
                <a:close/>
              </a:path>
              <a:path w="50800" h="1059180">
                <a:moveTo>
                  <a:pt x="30797" y="10831"/>
                </a:moveTo>
                <a:lnTo>
                  <a:pt x="19880" y="10831"/>
                </a:lnTo>
                <a:lnTo>
                  <a:pt x="19880" y="31024"/>
                </a:lnTo>
                <a:lnTo>
                  <a:pt x="25338" y="21666"/>
                </a:lnTo>
                <a:lnTo>
                  <a:pt x="20623" y="13583"/>
                </a:lnTo>
                <a:lnTo>
                  <a:pt x="30797" y="13583"/>
                </a:lnTo>
                <a:lnTo>
                  <a:pt x="30797" y="10831"/>
                </a:lnTo>
                <a:close/>
              </a:path>
              <a:path w="50800" h="1059180">
                <a:moveTo>
                  <a:pt x="30797" y="13583"/>
                </a:moveTo>
                <a:lnTo>
                  <a:pt x="30053" y="13583"/>
                </a:lnTo>
                <a:lnTo>
                  <a:pt x="25338" y="21666"/>
                </a:lnTo>
                <a:lnTo>
                  <a:pt x="30797" y="31024"/>
                </a:lnTo>
                <a:lnTo>
                  <a:pt x="30797" y="13583"/>
                </a:lnTo>
                <a:close/>
              </a:path>
              <a:path w="50800" h="1059180">
                <a:moveTo>
                  <a:pt x="30053" y="13583"/>
                </a:moveTo>
                <a:lnTo>
                  <a:pt x="20623" y="13583"/>
                </a:lnTo>
                <a:lnTo>
                  <a:pt x="25338" y="21666"/>
                </a:lnTo>
                <a:lnTo>
                  <a:pt x="30053" y="1358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23819" y="2768263"/>
            <a:ext cx="1191260" cy="305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2255" marR="5080" indent="-250190">
              <a:lnSpc>
                <a:spcPct val="101899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Here</a:t>
            </a:r>
            <a:r>
              <a:rPr sz="900" spc="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where</a:t>
            </a:r>
            <a:r>
              <a:rPr sz="900" spc="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8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will </a:t>
            </a:r>
            <a:r>
              <a:rPr sz="900" dirty="0">
                <a:latin typeface="Arial"/>
                <a:cs typeface="Arial"/>
              </a:rPr>
              <a:t>find</a:t>
            </a:r>
            <a:r>
              <a:rPr sz="900" spc="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files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4005" y="564564"/>
            <a:ext cx="5472430" cy="2535555"/>
            <a:chOff x="144005" y="564564"/>
            <a:chExt cx="5472430" cy="2535555"/>
          </a:xfrm>
        </p:grpSpPr>
        <p:sp>
          <p:nvSpPr>
            <p:cNvPr id="11" name="object 11"/>
            <p:cNvSpPr/>
            <p:nvPr/>
          </p:nvSpPr>
          <p:spPr>
            <a:xfrm>
              <a:off x="4229169" y="1662499"/>
              <a:ext cx="50800" cy="1059180"/>
            </a:xfrm>
            <a:custGeom>
              <a:avLst/>
              <a:gdLst/>
              <a:ahLst/>
              <a:cxnLst/>
              <a:rect l="l" t="t" r="r" b="b"/>
              <a:pathLst>
                <a:path w="50800" h="1059180">
                  <a:moveTo>
                    <a:pt x="25338" y="21666"/>
                  </a:moveTo>
                  <a:lnTo>
                    <a:pt x="19880" y="31024"/>
                  </a:lnTo>
                  <a:lnTo>
                    <a:pt x="19879" y="1058899"/>
                  </a:lnTo>
                  <a:lnTo>
                    <a:pt x="30796" y="1058899"/>
                  </a:lnTo>
                  <a:lnTo>
                    <a:pt x="30797" y="31024"/>
                  </a:lnTo>
                  <a:lnTo>
                    <a:pt x="25338" y="21666"/>
                  </a:lnTo>
                  <a:close/>
                </a:path>
                <a:path w="50800" h="1059180">
                  <a:moveTo>
                    <a:pt x="25338" y="0"/>
                  </a:moveTo>
                  <a:lnTo>
                    <a:pt x="0" y="43438"/>
                  </a:lnTo>
                  <a:lnTo>
                    <a:pt x="879" y="46780"/>
                  </a:lnTo>
                  <a:lnTo>
                    <a:pt x="6087" y="49818"/>
                  </a:lnTo>
                  <a:lnTo>
                    <a:pt x="9429" y="48939"/>
                  </a:lnTo>
                  <a:lnTo>
                    <a:pt x="19880" y="31024"/>
                  </a:lnTo>
                  <a:lnTo>
                    <a:pt x="19880" y="10831"/>
                  </a:lnTo>
                  <a:lnTo>
                    <a:pt x="31657" y="10831"/>
                  </a:lnTo>
                  <a:lnTo>
                    <a:pt x="25338" y="0"/>
                  </a:lnTo>
                  <a:close/>
                </a:path>
                <a:path w="50800" h="1059180">
                  <a:moveTo>
                    <a:pt x="31657" y="10831"/>
                  </a:moveTo>
                  <a:lnTo>
                    <a:pt x="30797" y="10831"/>
                  </a:lnTo>
                  <a:lnTo>
                    <a:pt x="30797" y="31024"/>
                  </a:lnTo>
                  <a:lnTo>
                    <a:pt x="41247" y="48939"/>
                  </a:lnTo>
                  <a:lnTo>
                    <a:pt x="44590" y="49818"/>
                  </a:lnTo>
                  <a:lnTo>
                    <a:pt x="49797" y="46780"/>
                  </a:lnTo>
                  <a:lnTo>
                    <a:pt x="50677" y="43438"/>
                  </a:lnTo>
                  <a:lnTo>
                    <a:pt x="31657" y="10831"/>
                  </a:lnTo>
                  <a:close/>
                </a:path>
                <a:path w="50800" h="1059180">
                  <a:moveTo>
                    <a:pt x="30797" y="10831"/>
                  </a:moveTo>
                  <a:lnTo>
                    <a:pt x="19880" y="10831"/>
                  </a:lnTo>
                  <a:lnTo>
                    <a:pt x="19880" y="31024"/>
                  </a:lnTo>
                  <a:lnTo>
                    <a:pt x="25338" y="21666"/>
                  </a:lnTo>
                  <a:lnTo>
                    <a:pt x="20623" y="13583"/>
                  </a:lnTo>
                  <a:lnTo>
                    <a:pt x="30797" y="13583"/>
                  </a:lnTo>
                  <a:lnTo>
                    <a:pt x="30797" y="10831"/>
                  </a:lnTo>
                  <a:close/>
                </a:path>
                <a:path w="50800" h="1059180">
                  <a:moveTo>
                    <a:pt x="30797" y="13583"/>
                  </a:moveTo>
                  <a:lnTo>
                    <a:pt x="30053" y="13583"/>
                  </a:lnTo>
                  <a:lnTo>
                    <a:pt x="25338" y="21666"/>
                  </a:lnTo>
                  <a:lnTo>
                    <a:pt x="30797" y="31024"/>
                  </a:lnTo>
                  <a:lnTo>
                    <a:pt x="30797" y="13583"/>
                  </a:lnTo>
                  <a:close/>
                </a:path>
                <a:path w="50800" h="1059180">
                  <a:moveTo>
                    <a:pt x="30053" y="13583"/>
                  </a:moveTo>
                  <a:lnTo>
                    <a:pt x="20623" y="13583"/>
                  </a:lnTo>
                  <a:lnTo>
                    <a:pt x="25338" y="21666"/>
                  </a:lnTo>
                  <a:lnTo>
                    <a:pt x="30053" y="1358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41643" y="570022"/>
              <a:ext cx="513715" cy="135890"/>
            </a:xfrm>
            <a:custGeom>
              <a:avLst/>
              <a:gdLst/>
              <a:ahLst/>
              <a:cxnLst/>
              <a:rect l="l" t="t" r="r" b="b"/>
              <a:pathLst>
                <a:path w="513714" h="135890">
                  <a:moveTo>
                    <a:pt x="0" y="0"/>
                  </a:moveTo>
                  <a:lnTo>
                    <a:pt x="513433" y="0"/>
                  </a:lnTo>
                  <a:lnTo>
                    <a:pt x="513433" y="135504"/>
                  </a:lnTo>
                  <a:lnTo>
                    <a:pt x="0" y="135504"/>
                  </a:lnTo>
                  <a:lnTo>
                    <a:pt x="0" y="0"/>
                  </a:lnTo>
                  <a:close/>
                </a:path>
              </a:pathLst>
            </a:custGeom>
            <a:ln w="1091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4005" y="3097860"/>
              <a:ext cx="5472430" cy="0"/>
            </a:xfrm>
            <a:custGeom>
              <a:avLst/>
              <a:gdLst/>
              <a:ahLst/>
              <a:cxnLst/>
              <a:rect l="l" t="t" r="r" b="b"/>
              <a:pathLst>
                <a:path w="5472430">
                  <a:moveTo>
                    <a:pt x="0" y="0"/>
                  </a:moveTo>
                  <a:lnTo>
                    <a:pt x="5471985" y="0"/>
                  </a:lnTo>
                </a:path>
              </a:pathLst>
            </a:custGeom>
            <a:ln w="3797">
              <a:solidFill>
                <a:srgbClr val="011E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995525" y="2768263"/>
            <a:ext cx="517525" cy="165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10" dirty="0">
                <a:latin typeface="Arial"/>
                <a:cs typeface="Arial"/>
              </a:rPr>
              <a:t>Variables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8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560725" y="1458743"/>
            <a:ext cx="594995" cy="165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dirty="0">
                <a:latin typeface="Arial"/>
                <a:cs typeface="Arial"/>
              </a:rPr>
              <a:t>Text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editor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What </a:t>
            </a:r>
            <a:r>
              <a:rPr spc="-55" dirty="0"/>
              <a:t>can</a:t>
            </a:r>
            <a:r>
              <a:rPr spc="-4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75" dirty="0"/>
              <a:t>Computer</a:t>
            </a:r>
            <a:r>
              <a:rPr spc="-40" dirty="0"/>
              <a:t> </a:t>
            </a:r>
            <a:r>
              <a:rPr spc="-10" dirty="0"/>
              <a:t>handle?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357" y="911287"/>
            <a:ext cx="43326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90"/>
              </a:spcBef>
              <a:buFont typeface="Arial"/>
              <a:buChar char="►"/>
              <a:tabLst>
                <a:tab pos="1879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MATLAB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deals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with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numbers,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arrays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numbers,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characters,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strings.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4005" y="309725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87001" y="3094619"/>
            <a:ext cx="64769" cy="132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-50" dirty="0">
                <a:solidFill>
                  <a:srgbClr val="22373A"/>
                </a:solidFill>
                <a:latin typeface="Calibri"/>
                <a:cs typeface="Calibri"/>
              </a:rPr>
              <a:t>9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What </a:t>
            </a:r>
            <a:r>
              <a:rPr spc="-55" dirty="0"/>
              <a:t>can</a:t>
            </a:r>
            <a:r>
              <a:rPr spc="-4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75" dirty="0"/>
              <a:t>Computer</a:t>
            </a:r>
            <a:r>
              <a:rPr spc="-40" dirty="0"/>
              <a:t> </a:t>
            </a:r>
            <a:r>
              <a:rPr spc="-10" dirty="0"/>
              <a:t>handle?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357" y="841702"/>
            <a:ext cx="4500245" cy="69532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635"/>
              </a:spcBef>
              <a:buFont typeface="Arial"/>
              <a:buChar char="►"/>
              <a:tabLst>
                <a:tab pos="1879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MATLAB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deals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with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numbers,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arrays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numbers,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characters,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strings.</a:t>
            </a:r>
            <a:endParaRPr sz="1100">
              <a:latin typeface="Calibri"/>
              <a:cs typeface="Calibri"/>
            </a:endParaRPr>
          </a:p>
          <a:p>
            <a:pPr marL="187325" marR="5080" indent="-175260">
              <a:lnSpc>
                <a:spcPct val="118000"/>
              </a:lnSpc>
              <a:spcBef>
                <a:spcPts val="300"/>
              </a:spcBef>
              <a:buFont typeface="Arial"/>
              <a:buChar char="►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Numbers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can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be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different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types:</a:t>
            </a:r>
            <a:r>
              <a:rPr sz="1100" spc="3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signed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unsigned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integers,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30" dirty="0">
                <a:solidFill>
                  <a:srgbClr val="22373A"/>
                </a:solidFill>
                <a:latin typeface="Calibri"/>
                <a:cs typeface="Calibri"/>
              </a:rPr>
              <a:t>and 	</a:t>
            </a:r>
            <a:r>
              <a:rPr sz="1100" spc="45" dirty="0">
                <a:solidFill>
                  <a:srgbClr val="22373A"/>
                </a:solidFill>
                <a:latin typeface="Calibri"/>
                <a:cs typeface="Calibri"/>
              </a:rPr>
              <a:t>single-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precision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2373A"/>
                </a:solidFill>
                <a:latin typeface="Calibri"/>
                <a:cs typeface="Calibri"/>
              </a:rPr>
              <a:t>double-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precision</a:t>
            </a:r>
            <a:r>
              <a:rPr sz="1100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floating-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point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numbers.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4005" y="309725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87001" y="3094619"/>
            <a:ext cx="64769" cy="132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-50" dirty="0">
                <a:solidFill>
                  <a:srgbClr val="22373A"/>
                </a:solidFill>
                <a:latin typeface="Calibri"/>
                <a:cs typeface="Calibri"/>
              </a:rPr>
              <a:t>9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What </a:t>
            </a:r>
            <a:r>
              <a:rPr spc="-55" dirty="0"/>
              <a:t>can</a:t>
            </a:r>
            <a:r>
              <a:rPr spc="-4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75" dirty="0"/>
              <a:t>Computer</a:t>
            </a:r>
            <a:r>
              <a:rPr spc="-40" dirty="0"/>
              <a:t> </a:t>
            </a:r>
            <a:r>
              <a:rPr spc="-10" dirty="0"/>
              <a:t>handle?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357" y="841702"/>
            <a:ext cx="4965700" cy="176085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635"/>
              </a:spcBef>
              <a:buFont typeface="Arial"/>
              <a:buChar char="►"/>
              <a:tabLst>
                <a:tab pos="1879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MATLAB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deals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with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numbers,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arrays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numbers,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characters,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strings.</a:t>
            </a:r>
            <a:endParaRPr sz="1100" dirty="0">
              <a:latin typeface="Calibri"/>
              <a:cs typeface="Calibri"/>
            </a:endParaRPr>
          </a:p>
          <a:p>
            <a:pPr marL="187325" marR="469900" indent="-175260">
              <a:lnSpc>
                <a:spcPct val="118000"/>
              </a:lnSpc>
              <a:spcBef>
                <a:spcPts val="300"/>
              </a:spcBef>
              <a:buFont typeface="Arial"/>
              <a:buChar char="►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Numbers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can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be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different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types:</a:t>
            </a:r>
            <a:r>
              <a:rPr sz="1100" spc="3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signed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unsigned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integers,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30" dirty="0">
                <a:solidFill>
                  <a:srgbClr val="22373A"/>
                </a:solidFill>
                <a:latin typeface="Calibri"/>
                <a:cs typeface="Calibri"/>
              </a:rPr>
              <a:t>and 	</a:t>
            </a:r>
            <a:r>
              <a:rPr sz="1100" spc="45" dirty="0">
                <a:solidFill>
                  <a:srgbClr val="22373A"/>
                </a:solidFill>
                <a:latin typeface="Calibri"/>
                <a:cs typeface="Calibri"/>
              </a:rPr>
              <a:t>single-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precision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2373A"/>
                </a:solidFill>
                <a:latin typeface="Calibri"/>
                <a:cs typeface="Calibri"/>
              </a:rPr>
              <a:t>double-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precision</a:t>
            </a:r>
            <a:r>
              <a:rPr sz="1100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floating-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point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numbers.</a:t>
            </a:r>
            <a:endParaRPr sz="1100" dirty="0">
              <a:latin typeface="Calibri"/>
              <a:cs typeface="Calibri"/>
            </a:endParaRPr>
          </a:p>
          <a:p>
            <a:pPr marL="187325" marR="5080" indent="-175260">
              <a:lnSpc>
                <a:spcPct val="118000"/>
              </a:lnSpc>
              <a:spcBef>
                <a:spcPts val="300"/>
              </a:spcBef>
              <a:buFont typeface="Arial"/>
              <a:buChar char="►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When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we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set</a:t>
            </a:r>
            <a:r>
              <a:rPr lang="it-IT" sz="1100" dirty="0">
                <a:solidFill>
                  <a:srgbClr val="22373A"/>
                </a:solidFill>
                <a:latin typeface="Calibri"/>
                <a:cs typeface="Calibri"/>
              </a:rPr>
              <a:t> (create)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variable</a:t>
            </a:r>
            <a:r>
              <a:rPr lang="it-IT" sz="1100" dirty="0">
                <a:solidFill>
                  <a:srgbClr val="22373A"/>
                </a:solidFill>
                <a:latin typeface="Calibri"/>
                <a:cs typeface="Calibri"/>
              </a:rPr>
              <a:t>, </a:t>
            </a:r>
            <a:r>
              <a:rPr lang="it-IT" sz="1100" dirty="0" err="1">
                <a:solidFill>
                  <a:srgbClr val="22373A"/>
                </a:solidFill>
                <a:latin typeface="Calibri"/>
                <a:cs typeface="Calibri"/>
              </a:rPr>
              <a:t>its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value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it-IT" sz="1100" dirty="0" err="1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stored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22373A"/>
                </a:solidFill>
                <a:latin typeface="Calibri"/>
                <a:cs typeface="Calibri"/>
              </a:rPr>
              <a:t>as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series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2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memory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slot</a:t>
            </a:r>
            <a:r>
              <a:rPr sz="11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whose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size</a:t>
            </a:r>
            <a:r>
              <a:rPr sz="11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depends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on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type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variable</a:t>
            </a:r>
            <a:r>
              <a:rPr sz="11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(i.e.,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2373A"/>
                </a:solidFill>
                <a:latin typeface="Calibri"/>
                <a:cs typeface="Calibri"/>
              </a:rPr>
              <a:t>single-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precision</a:t>
            </a:r>
            <a:r>
              <a:rPr sz="11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floating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point</a:t>
            </a:r>
            <a:r>
              <a:rPr sz="11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numbers</a:t>
            </a:r>
            <a:r>
              <a:rPr sz="11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take</a:t>
            </a:r>
            <a:r>
              <a:rPr sz="11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32</a:t>
            </a:r>
            <a:r>
              <a:rPr sz="11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bits,</a:t>
            </a:r>
            <a:r>
              <a:rPr sz="11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or</a:t>
            </a:r>
            <a:r>
              <a:rPr sz="11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4</a:t>
            </a:r>
            <a:r>
              <a:rPr sz="11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bytes</a:t>
            </a:r>
            <a:r>
              <a:rPr sz="11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memory,</a:t>
            </a:r>
            <a:r>
              <a:rPr sz="11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double</a:t>
            </a:r>
            <a:r>
              <a:rPr sz="11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precision</a:t>
            </a:r>
            <a:r>
              <a:rPr sz="11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64</a:t>
            </a:r>
            <a:r>
              <a:rPr sz="11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bit,</a:t>
            </a:r>
            <a:r>
              <a:rPr sz="11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or</a:t>
            </a:r>
            <a:r>
              <a:rPr lang="it-IT" sz="1100" spc="5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8</a:t>
            </a:r>
            <a:r>
              <a:rPr sz="11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bytes).</a:t>
            </a:r>
            <a:endParaRPr sz="1100" dirty="0">
              <a:latin typeface="Calibri"/>
              <a:cs typeface="Calibri"/>
            </a:endParaRPr>
          </a:p>
          <a:p>
            <a:pPr marL="187960" indent="-175260">
              <a:lnSpc>
                <a:spcPct val="100000"/>
              </a:lnSpc>
              <a:spcBef>
                <a:spcPts val="540"/>
              </a:spcBef>
              <a:buFont typeface="Arial"/>
              <a:buChar char="►"/>
              <a:tabLst>
                <a:tab pos="1879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By</a:t>
            </a:r>
            <a:r>
              <a:rPr sz="11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default,</a:t>
            </a:r>
            <a:r>
              <a:rPr sz="11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MATLAB</a:t>
            </a:r>
            <a:r>
              <a:rPr sz="11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store</a:t>
            </a:r>
            <a:r>
              <a:rPr sz="11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all</a:t>
            </a:r>
            <a:r>
              <a:rPr sz="11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values</a:t>
            </a:r>
            <a:r>
              <a:rPr sz="11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22373A"/>
                </a:solidFill>
                <a:latin typeface="Calibri"/>
                <a:cs typeface="Calibri"/>
              </a:rPr>
              <a:t>as</a:t>
            </a:r>
            <a:r>
              <a:rPr sz="11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2373A"/>
                </a:solidFill>
                <a:latin typeface="Calibri"/>
                <a:cs typeface="Calibri"/>
              </a:rPr>
              <a:t>double-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precision</a:t>
            </a:r>
            <a:r>
              <a:rPr sz="11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floating</a:t>
            </a:r>
            <a:r>
              <a:rPr sz="11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point.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4005" y="309725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87001" y="3094619"/>
            <a:ext cx="64769" cy="132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-50" dirty="0">
                <a:solidFill>
                  <a:srgbClr val="22373A"/>
                </a:solidFill>
                <a:latin typeface="Calibri"/>
                <a:cs typeface="Calibri"/>
              </a:rPr>
              <a:t>9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Area</a:t>
            </a:r>
            <a:r>
              <a:rPr spc="-65" dirty="0"/>
              <a:t> </a:t>
            </a:r>
            <a:r>
              <a:rPr spc="-45" dirty="0"/>
              <a:t>of</a:t>
            </a:r>
            <a:r>
              <a:rPr spc="-65" dirty="0"/>
              <a:t> </a:t>
            </a:r>
            <a:r>
              <a:rPr dirty="0"/>
              <a:t>a</a:t>
            </a:r>
            <a:r>
              <a:rPr spc="-80" dirty="0"/>
              <a:t> </a:t>
            </a:r>
            <a:r>
              <a:rPr spc="-25" dirty="0"/>
              <a:t>cylinder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84022"/>
            <a:ext cx="4756150" cy="4122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400"/>
              </a:lnSpc>
              <a:spcBef>
                <a:spcPts val="100"/>
              </a:spcBef>
            </a:pPr>
            <a:r>
              <a:rPr sz="1200" spc="10" dirty="0">
                <a:solidFill>
                  <a:srgbClr val="006EB8"/>
                </a:solidFill>
                <a:latin typeface="Calibri"/>
                <a:cs typeface="Calibri"/>
              </a:rPr>
              <a:t>Let’s</a:t>
            </a:r>
            <a:r>
              <a:rPr sz="1200" spc="15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006EB8"/>
                </a:solidFill>
                <a:latin typeface="Calibri"/>
                <a:cs typeface="Calibri"/>
              </a:rPr>
              <a:t>compute</a:t>
            </a:r>
            <a:r>
              <a:rPr sz="1200" spc="15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006EB8"/>
                </a:solidFill>
                <a:latin typeface="Calibri"/>
                <a:cs typeface="Calibri"/>
              </a:rPr>
              <a:t>the</a:t>
            </a:r>
            <a:r>
              <a:rPr sz="1200" spc="15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lang="it-IT" sz="1200" dirty="0" err="1">
                <a:solidFill>
                  <a:srgbClr val="006EB8"/>
                </a:solidFill>
                <a:latin typeface="Calibri"/>
                <a:cs typeface="Calibri"/>
              </a:rPr>
              <a:t>lateral</a:t>
            </a:r>
            <a:r>
              <a:rPr lang="it-IT" sz="1200" spc="15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006EB8"/>
                </a:solidFill>
                <a:latin typeface="Calibri"/>
                <a:cs typeface="Calibri"/>
              </a:rPr>
              <a:t>area</a:t>
            </a:r>
            <a:r>
              <a:rPr sz="1200" spc="15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006EB8"/>
                </a:solidFill>
                <a:latin typeface="Calibri"/>
                <a:cs typeface="Calibri"/>
              </a:rPr>
              <a:t>of</a:t>
            </a:r>
            <a:r>
              <a:rPr sz="1200" spc="15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006EB8"/>
                </a:solidFill>
                <a:latin typeface="Calibri"/>
                <a:cs typeface="Calibri"/>
              </a:rPr>
              <a:t>a</a:t>
            </a:r>
            <a:r>
              <a:rPr sz="1200" spc="15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006EB8"/>
                </a:solidFill>
                <a:latin typeface="Calibri"/>
                <a:cs typeface="Calibri"/>
              </a:rPr>
              <a:t>cylinder</a:t>
            </a:r>
            <a:r>
              <a:rPr sz="1200" spc="15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006EB8"/>
                </a:solidFill>
                <a:latin typeface="Calibri"/>
                <a:cs typeface="Calibri"/>
              </a:rPr>
              <a:t>given</a:t>
            </a:r>
            <a:r>
              <a:rPr sz="1200" spc="15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006EB8"/>
                </a:solidFill>
                <a:latin typeface="Calibri"/>
                <a:cs typeface="Calibri"/>
              </a:rPr>
              <a:t>the</a:t>
            </a:r>
            <a:r>
              <a:rPr sz="1200" spc="15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006EB8"/>
                </a:solidFill>
                <a:latin typeface="Calibri"/>
                <a:cs typeface="Calibri"/>
              </a:rPr>
              <a:t>diameter</a:t>
            </a:r>
            <a:r>
              <a:rPr sz="1200" spc="15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br>
              <a:rPr lang="it-IT" sz="1200" spc="150" dirty="0">
                <a:solidFill>
                  <a:srgbClr val="006EB8"/>
                </a:solidFill>
                <a:latin typeface="Calibri"/>
                <a:cs typeface="Calibri"/>
              </a:rPr>
            </a:br>
            <a:r>
              <a:rPr sz="1200" spc="10" dirty="0">
                <a:solidFill>
                  <a:srgbClr val="006EB8"/>
                </a:solidFill>
                <a:latin typeface="Calibri"/>
                <a:cs typeface="Calibri"/>
              </a:rPr>
              <a:t>D</a:t>
            </a:r>
            <a:r>
              <a:rPr sz="1200" spc="15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006EB8"/>
                </a:solidFill>
                <a:latin typeface="Calibri"/>
                <a:cs typeface="Calibri"/>
              </a:rPr>
              <a:t>=</a:t>
            </a:r>
            <a:r>
              <a:rPr sz="1200" spc="15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006EB8"/>
                </a:solidFill>
                <a:latin typeface="Calibri"/>
                <a:cs typeface="Calibri"/>
              </a:rPr>
              <a:t>20</a:t>
            </a:r>
            <a:r>
              <a:rPr sz="1200" spc="15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006EB8"/>
                </a:solidFill>
                <a:latin typeface="Calibri"/>
                <a:cs typeface="Calibri"/>
              </a:rPr>
              <a:t>cm</a:t>
            </a:r>
            <a:r>
              <a:rPr sz="1200" spc="15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200" spc="35" dirty="0">
                <a:solidFill>
                  <a:srgbClr val="006EB8"/>
                </a:solidFill>
                <a:latin typeface="Calibri"/>
                <a:cs typeface="Calibri"/>
              </a:rPr>
              <a:t>and </a:t>
            </a:r>
            <a:r>
              <a:rPr sz="1200" dirty="0">
                <a:solidFill>
                  <a:srgbClr val="006EB8"/>
                </a:solidFill>
                <a:latin typeface="Calibri"/>
                <a:cs typeface="Calibri"/>
              </a:rPr>
              <a:t>height</a:t>
            </a:r>
            <a:r>
              <a:rPr sz="1200" spc="12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006EB8"/>
                </a:solidFill>
                <a:latin typeface="Calibri"/>
                <a:cs typeface="Calibri"/>
              </a:rPr>
              <a:t>h</a:t>
            </a:r>
            <a:r>
              <a:rPr sz="1200" spc="12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6EB8"/>
                </a:solidFill>
                <a:latin typeface="Calibri"/>
                <a:cs typeface="Calibri"/>
              </a:rPr>
              <a:t>=</a:t>
            </a:r>
            <a:r>
              <a:rPr sz="1200" spc="12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6EB8"/>
                </a:solidFill>
                <a:latin typeface="Calibri"/>
                <a:cs typeface="Calibri"/>
              </a:rPr>
              <a:t>50</a:t>
            </a:r>
            <a:r>
              <a:rPr sz="1200" spc="12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06EB8"/>
                </a:solidFill>
                <a:latin typeface="Calibri"/>
                <a:cs typeface="Calibri"/>
              </a:rPr>
              <a:t>cm</a:t>
            </a:r>
            <a:r>
              <a:rPr sz="1200" spc="-25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7304" y="1559926"/>
            <a:ext cx="4051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70" dirty="0">
                <a:solidFill>
                  <a:srgbClr val="22373A"/>
                </a:solidFill>
                <a:latin typeface="Lucida Sans Unicode"/>
                <a:cs typeface="Lucida Sans Unicode"/>
              </a:rPr>
              <a:t>Code: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0004" y="1919935"/>
            <a:ext cx="2520315" cy="0"/>
          </a:xfrm>
          <a:custGeom>
            <a:avLst/>
            <a:gdLst/>
            <a:ahLst/>
            <a:cxnLst/>
            <a:rect l="l" t="t" r="r" b="b"/>
            <a:pathLst>
              <a:path w="2520315">
                <a:moveTo>
                  <a:pt x="0" y="0"/>
                </a:moveTo>
                <a:lnTo>
                  <a:pt x="2519997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7652" y="1924510"/>
            <a:ext cx="681990" cy="3460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D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0.2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2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h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0.5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endParaRPr sz="9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0482" y="1924510"/>
            <a:ext cx="982344" cy="3460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m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(diameter)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m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(height)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652" y="2268037"/>
            <a:ext cx="143383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3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perimeter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pi</a:t>
            </a:r>
            <a:r>
              <a:rPr sz="900" spc="-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D;</a:t>
            </a:r>
            <a:endParaRPr sz="90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652" y="2428082"/>
            <a:ext cx="15703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4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Area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perimeter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h;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0004" y="2653334"/>
            <a:ext cx="2520315" cy="0"/>
          </a:xfrm>
          <a:custGeom>
            <a:avLst/>
            <a:gdLst/>
            <a:ahLst/>
            <a:cxnLst/>
            <a:rect l="l" t="t" r="r" b="b"/>
            <a:pathLst>
              <a:path w="2520315">
                <a:moveTo>
                  <a:pt x="0" y="0"/>
                </a:moveTo>
                <a:lnTo>
                  <a:pt x="2519997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87294" y="1467117"/>
            <a:ext cx="2541905" cy="123380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2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What</a:t>
            </a:r>
            <a:r>
              <a:rPr sz="12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happens:</a:t>
            </a:r>
            <a:endParaRPr sz="1200">
              <a:latin typeface="Lucida Sans Unicode"/>
              <a:cs typeface="Lucida Sans Unicode"/>
            </a:endParaRPr>
          </a:p>
          <a:p>
            <a:pPr marL="290195" indent="-163830">
              <a:lnSpc>
                <a:spcPct val="100000"/>
              </a:lnSpc>
              <a:spcBef>
                <a:spcPts val="465"/>
              </a:spcBef>
              <a:buAutoNum type="arabicPeriod"/>
              <a:tabLst>
                <a:tab pos="290195" algn="l"/>
              </a:tabLst>
            </a:pPr>
            <a:r>
              <a:rPr sz="1200" dirty="0">
                <a:solidFill>
                  <a:srgbClr val="22373A"/>
                </a:solidFill>
                <a:latin typeface="Calibri"/>
                <a:cs typeface="Calibri"/>
              </a:rPr>
              <a:t>Create</a:t>
            </a:r>
            <a:r>
              <a:rPr sz="1200" spc="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45" dirty="0">
                <a:solidFill>
                  <a:srgbClr val="22373A"/>
                </a:solidFill>
                <a:latin typeface="Calibri"/>
                <a:cs typeface="Calibri"/>
              </a:rPr>
              <a:t>variable</a:t>
            </a:r>
            <a:r>
              <a:rPr sz="1200" spc="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Courier New"/>
                <a:cs typeface="Courier New"/>
              </a:rPr>
              <a:t>D</a:t>
            </a:r>
            <a:r>
              <a:rPr sz="1200" spc="-38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22373A"/>
                </a:solidFill>
                <a:latin typeface="Calibri"/>
                <a:cs typeface="Calibri"/>
              </a:rPr>
              <a:t>=</a:t>
            </a:r>
            <a:r>
              <a:rPr sz="1200" spc="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2373A"/>
                </a:solidFill>
                <a:latin typeface="Calibri"/>
                <a:cs typeface="Calibri"/>
              </a:rPr>
              <a:t>0.2</a:t>
            </a:r>
            <a:r>
              <a:rPr sz="1200" spc="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22373A"/>
                </a:solidFill>
                <a:latin typeface="Calibri"/>
                <a:cs typeface="Calibri"/>
              </a:rPr>
              <a:t>m</a:t>
            </a:r>
            <a:endParaRPr sz="1200">
              <a:latin typeface="Calibri"/>
              <a:cs typeface="Calibri"/>
            </a:endParaRPr>
          </a:p>
          <a:p>
            <a:pPr marL="290195" indent="-173990">
              <a:lnSpc>
                <a:spcPct val="100000"/>
              </a:lnSpc>
              <a:spcBef>
                <a:spcPts val="464"/>
              </a:spcBef>
              <a:buAutoNum type="arabicPeriod"/>
              <a:tabLst>
                <a:tab pos="290195" algn="l"/>
              </a:tabLst>
            </a:pPr>
            <a:r>
              <a:rPr sz="1200" dirty="0">
                <a:solidFill>
                  <a:srgbClr val="22373A"/>
                </a:solidFill>
                <a:latin typeface="Calibri"/>
                <a:cs typeface="Calibri"/>
              </a:rPr>
              <a:t>Create</a:t>
            </a:r>
            <a:r>
              <a:rPr sz="1200" spc="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45" dirty="0">
                <a:solidFill>
                  <a:srgbClr val="22373A"/>
                </a:solidFill>
                <a:latin typeface="Calibri"/>
                <a:cs typeface="Calibri"/>
              </a:rPr>
              <a:t>variable</a:t>
            </a:r>
            <a:r>
              <a:rPr sz="12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Courier New"/>
                <a:cs typeface="Courier New"/>
              </a:rPr>
              <a:t>h</a:t>
            </a:r>
            <a:r>
              <a:rPr sz="1200" spc="-38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22373A"/>
                </a:solidFill>
                <a:latin typeface="Calibri"/>
                <a:cs typeface="Calibri"/>
              </a:rPr>
              <a:t>=</a:t>
            </a:r>
            <a:r>
              <a:rPr sz="12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2373A"/>
                </a:solidFill>
                <a:latin typeface="Calibri"/>
                <a:cs typeface="Calibri"/>
              </a:rPr>
              <a:t>0.5</a:t>
            </a:r>
            <a:r>
              <a:rPr sz="12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22373A"/>
                </a:solidFill>
                <a:latin typeface="Calibri"/>
                <a:cs typeface="Calibri"/>
              </a:rPr>
              <a:t>m</a:t>
            </a:r>
            <a:endParaRPr sz="1200">
              <a:latin typeface="Calibri"/>
              <a:cs typeface="Calibri"/>
            </a:endParaRPr>
          </a:p>
          <a:p>
            <a:pPr marL="289560" indent="-174625">
              <a:lnSpc>
                <a:spcPct val="100000"/>
              </a:lnSpc>
              <a:spcBef>
                <a:spcPts val="459"/>
              </a:spcBef>
              <a:buAutoNum type="arabicPeriod"/>
              <a:tabLst>
                <a:tab pos="289560" algn="l"/>
              </a:tabLst>
            </a:pPr>
            <a:r>
              <a:rPr sz="1200" dirty="0">
                <a:solidFill>
                  <a:srgbClr val="22373A"/>
                </a:solidFill>
                <a:latin typeface="Calibri"/>
                <a:cs typeface="Calibri"/>
              </a:rPr>
              <a:t>Calculate</a:t>
            </a:r>
            <a:r>
              <a:rPr sz="12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Courier New"/>
                <a:cs typeface="Courier New"/>
              </a:rPr>
              <a:t>perimeter</a:t>
            </a:r>
            <a:r>
              <a:rPr sz="1200" spc="-30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22373A"/>
                </a:solidFill>
                <a:latin typeface="Calibri"/>
                <a:cs typeface="Calibri"/>
              </a:rPr>
              <a:t>=</a:t>
            </a:r>
            <a:r>
              <a:rPr sz="12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i="1" spc="-150" dirty="0">
                <a:solidFill>
                  <a:srgbClr val="22373A"/>
                </a:solidFill>
                <a:latin typeface="Arial"/>
                <a:cs typeface="Arial"/>
              </a:rPr>
              <a:t>π</a:t>
            </a:r>
            <a:r>
              <a:rPr sz="1200" i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200" i="1" spc="220" dirty="0">
                <a:solidFill>
                  <a:srgbClr val="22373A"/>
                </a:solidFill>
                <a:latin typeface="Arial"/>
                <a:cs typeface="Arial"/>
              </a:rPr>
              <a:t>×</a:t>
            </a:r>
            <a:r>
              <a:rPr sz="12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200" i="1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1200" spc="-25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  <a:p>
            <a:pPr marL="289560" indent="-179705">
              <a:lnSpc>
                <a:spcPct val="100000"/>
              </a:lnSpc>
              <a:spcBef>
                <a:spcPts val="465"/>
              </a:spcBef>
              <a:buAutoNum type="arabicPeriod"/>
              <a:tabLst>
                <a:tab pos="289560" algn="l"/>
              </a:tabLst>
            </a:pPr>
            <a:r>
              <a:rPr sz="1200" dirty="0">
                <a:solidFill>
                  <a:srgbClr val="22373A"/>
                </a:solidFill>
                <a:latin typeface="Calibri"/>
                <a:cs typeface="Calibri"/>
              </a:rPr>
              <a:t>Calculate</a:t>
            </a:r>
            <a:r>
              <a:rPr sz="12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Courier New"/>
                <a:cs typeface="Courier New"/>
              </a:rPr>
              <a:t>Area</a:t>
            </a:r>
            <a:r>
              <a:rPr sz="1200" spc="-25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22373A"/>
                </a:solidFill>
                <a:latin typeface="Calibri"/>
                <a:cs typeface="Calibri"/>
              </a:rPr>
              <a:t>=</a:t>
            </a:r>
            <a:r>
              <a:rPr sz="12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2373A"/>
                </a:solidFill>
                <a:latin typeface="Calibri"/>
                <a:cs typeface="Calibri"/>
              </a:rPr>
              <a:t>perimeter</a:t>
            </a:r>
            <a:r>
              <a:rPr sz="12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i="1" spc="220" dirty="0">
                <a:solidFill>
                  <a:srgbClr val="22373A"/>
                </a:solidFill>
                <a:latin typeface="Arial"/>
                <a:cs typeface="Arial"/>
              </a:rPr>
              <a:t>×</a:t>
            </a:r>
            <a:r>
              <a:rPr sz="1200" i="1" spc="1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22373A"/>
                </a:solidFill>
                <a:latin typeface="Calibri"/>
                <a:cs typeface="Calibri"/>
              </a:rPr>
              <a:t>0.5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10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631" y="75410"/>
            <a:ext cx="31362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Source</a:t>
            </a:r>
            <a:r>
              <a:rPr spc="-65" dirty="0"/>
              <a:t> </a:t>
            </a:r>
            <a:r>
              <a:rPr spc="-35" dirty="0"/>
              <a:t>code:</a:t>
            </a:r>
            <a:r>
              <a:rPr spc="45" dirty="0"/>
              <a:t> </a:t>
            </a:r>
            <a:r>
              <a:rPr spc="-40" dirty="0"/>
              <a:t>scripts</a:t>
            </a:r>
            <a:r>
              <a:rPr spc="-65" dirty="0"/>
              <a:t> </a:t>
            </a:r>
            <a:r>
              <a:rPr spc="-50" dirty="0"/>
              <a:t>and</a:t>
            </a:r>
            <a:r>
              <a:rPr spc="-60" dirty="0"/>
              <a:t> </a:t>
            </a:r>
            <a:r>
              <a:rPr spc="-55" dirty="0"/>
              <a:t>functions</a:t>
            </a:r>
            <a:r>
              <a:rPr spc="-65" dirty="0"/>
              <a:t> </a:t>
            </a:r>
            <a:r>
              <a:rPr spc="-50" dirty="0"/>
              <a:t>in</a:t>
            </a:r>
            <a:r>
              <a:rPr spc="-60" dirty="0"/>
              <a:t> </a:t>
            </a:r>
            <a:r>
              <a:rPr spc="-75" dirty="0"/>
              <a:t>MATLAB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71688"/>
            <a:ext cx="5052695" cy="817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Scripts</a:t>
            </a:r>
            <a:r>
              <a:rPr sz="1100" spc="229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are</a:t>
            </a:r>
            <a:r>
              <a:rPr sz="1100" spc="229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22373A"/>
                </a:solidFill>
                <a:latin typeface="Calibri"/>
                <a:cs typeface="Calibri"/>
              </a:rPr>
              <a:t>m-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files</a:t>
            </a:r>
            <a:r>
              <a:rPr sz="1100" spc="2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(text</a:t>
            </a:r>
            <a:r>
              <a:rPr sz="1100" spc="229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format)</a:t>
            </a:r>
            <a:r>
              <a:rPr sz="1100" spc="2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containing</a:t>
            </a:r>
            <a:r>
              <a:rPr sz="1100" spc="229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MATLAB</a:t>
            </a:r>
            <a:r>
              <a:rPr sz="1100" spc="2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statements.</a:t>
            </a:r>
            <a:r>
              <a:rPr sz="1100" spc="3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MATLAB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“functions”</a:t>
            </a:r>
            <a:r>
              <a:rPr sz="1100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are</a:t>
            </a:r>
            <a:r>
              <a:rPr sz="11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another</a:t>
            </a:r>
            <a:r>
              <a:rPr sz="11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type</a:t>
            </a:r>
            <a:r>
              <a:rPr sz="11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22373A"/>
                </a:solidFill>
                <a:latin typeface="Calibri"/>
                <a:cs typeface="Calibri"/>
              </a:rPr>
              <a:t>m-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file.</a:t>
            </a:r>
            <a:r>
              <a:rPr sz="1100" spc="3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biggest</a:t>
            </a:r>
            <a:r>
              <a:rPr sz="1100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difference</a:t>
            </a:r>
            <a:r>
              <a:rPr sz="11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between</a:t>
            </a:r>
            <a:r>
              <a:rPr sz="11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scripts</a:t>
            </a:r>
            <a:r>
              <a:rPr sz="11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30" dirty="0">
                <a:solidFill>
                  <a:srgbClr val="22373A"/>
                </a:solidFill>
                <a:latin typeface="Calibri"/>
                <a:cs typeface="Calibri"/>
              </a:rPr>
              <a:t>and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functions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that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functions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have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input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output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parameters.</a:t>
            </a:r>
            <a:r>
              <a:rPr sz="1100" spc="3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Script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files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can</a:t>
            </a:r>
            <a:r>
              <a:rPr sz="1100" spc="500" dirty="0">
                <a:solidFill>
                  <a:srgbClr val="22373A"/>
                </a:solidFill>
                <a:latin typeface="Calibri"/>
                <a:cs typeface="Calibri"/>
              </a:rPr>
              <a:t> 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only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operate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on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variables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that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are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“hard-coded”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into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their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22373A"/>
                </a:solidFill>
                <a:latin typeface="Calibri"/>
                <a:cs typeface="Calibri"/>
              </a:rPr>
              <a:t>m-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file.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0004" y="1486611"/>
            <a:ext cx="2268220" cy="0"/>
          </a:xfrm>
          <a:custGeom>
            <a:avLst/>
            <a:gdLst/>
            <a:ahLst/>
            <a:cxnLst/>
            <a:rect l="l" t="t" r="r" b="b"/>
            <a:pathLst>
              <a:path w="2268220">
                <a:moveTo>
                  <a:pt x="0" y="0"/>
                </a:moveTo>
                <a:lnTo>
                  <a:pt x="2267978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7652" y="1491173"/>
            <a:ext cx="681990" cy="3460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D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0.2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2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h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0.5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0482" y="1491173"/>
            <a:ext cx="230504" cy="3460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50" dirty="0">
                <a:solidFill>
                  <a:srgbClr val="3D7A7A"/>
                </a:solidFill>
                <a:latin typeface="Courier New"/>
                <a:cs typeface="Courier New"/>
              </a:rPr>
              <a:t>m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50" dirty="0">
                <a:solidFill>
                  <a:srgbClr val="3D7A7A"/>
                </a:solidFill>
                <a:latin typeface="Courier New"/>
                <a:cs typeface="Courier New"/>
              </a:rPr>
              <a:t>m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52" y="1834700"/>
            <a:ext cx="143383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3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perimeter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pi</a:t>
            </a:r>
            <a:r>
              <a:rPr sz="900" spc="-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D;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652" y="1994746"/>
            <a:ext cx="15703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4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Area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perimeter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h;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0004" y="2219998"/>
            <a:ext cx="2268220" cy="0"/>
          </a:xfrm>
          <a:custGeom>
            <a:avLst/>
            <a:gdLst/>
            <a:ahLst/>
            <a:cxnLst/>
            <a:rect l="l" t="t" r="r" b="b"/>
            <a:pathLst>
              <a:path w="2268220">
                <a:moveTo>
                  <a:pt x="0" y="0"/>
                </a:moveTo>
                <a:lnTo>
                  <a:pt x="2267978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7304" y="2379127"/>
            <a:ext cx="1022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ans</a:t>
            </a:r>
            <a:r>
              <a:rPr sz="1100" spc="-4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1100" spc="-3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ourier New"/>
                <a:cs typeface="Courier New"/>
              </a:rPr>
              <a:t>0.3142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47987" y="1486611"/>
            <a:ext cx="2772410" cy="0"/>
          </a:xfrm>
          <a:custGeom>
            <a:avLst/>
            <a:gdLst/>
            <a:ahLst/>
            <a:cxnLst/>
            <a:rect l="l" t="t" r="r" b="b"/>
            <a:pathLst>
              <a:path w="2772410">
                <a:moveTo>
                  <a:pt x="0" y="0"/>
                </a:moveTo>
                <a:lnTo>
                  <a:pt x="2772016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25636" y="1514584"/>
            <a:ext cx="23901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function</a:t>
            </a:r>
            <a:r>
              <a:rPr sz="900" spc="-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Area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0000FF"/>
                </a:solidFill>
                <a:latin typeface="Courier New"/>
                <a:cs typeface="Courier New"/>
              </a:rPr>
              <a:t>ComputeArea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(D,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h)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08579" y="1651231"/>
            <a:ext cx="146050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perimeter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pi</a:t>
            </a:r>
            <a:r>
              <a:rPr sz="900" spc="-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D;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Area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perimeter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h;</a:t>
            </a:r>
            <a:endParaRPr sz="900" dirty="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25636" y="1712600"/>
            <a:ext cx="340360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2</a:t>
            </a:r>
            <a:endParaRPr sz="600" dirty="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3</a:t>
            </a:r>
            <a:endParaRPr sz="600" dirty="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4</a:t>
            </a:r>
            <a:r>
              <a:rPr sz="600" b="0" spc="28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25" dirty="0">
                <a:solidFill>
                  <a:srgbClr val="007F00"/>
                </a:solidFill>
                <a:latin typeface="Courier New"/>
                <a:cs typeface="Courier New"/>
              </a:rPr>
              <a:t>end</a:t>
            </a:r>
            <a:endParaRPr sz="900" dirty="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747987" y="2197328"/>
            <a:ext cx="2772410" cy="0"/>
          </a:xfrm>
          <a:custGeom>
            <a:avLst/>
            <a:gdLst/>
            <a:ahLst/>
            <a:cxnLst/>
            <a:rect l="l" t="t" r="r" b="b"/>
            <a:pathLst>
              <a:path w="2772410">
                <a:moveTo>
                  <a:pt x="0" y="0"/>
                </a:moveTo>
                <a:lnTo>
                  <a:pt x="2772016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747987" y="2505303"/>
            <a:ext cx="2772410" cy="0"/>
          </a:xfrm>
          <a:custGeom>
            <a:avLst/>
            <a:gdLst/>
            <a:ahLst/>
            <a:cxnLst/>
            <a:rect l="l" t="t" r="r" b="b"/>
            <a:pathLst>
              <a:path w="2772410">
                <a:moveTo>
                  <a:pt x="0" y="0"/>
                </a:moveTo>
                <a:lnTo>
                  <a:pt x="2772016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747987" y="2758528"/>
            <a:ext cx="2772410" cy="0"/>
          </a:xfrm>
          <a:custGeom>
            <a:avLst/>
            <a:gdLst/>
            <a:ahLst/>
            <a:cxnLst/>
            <a:rect l="l" t="t" r="r" b="b"/>
            <a:pathLst>
              <a:path w="2772410">
                <a:moveTo>
                  <a:pt x="0" y="0"/>
                </a:moveTo>
                <a:lnTo>
                  <a:pt x="2772016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735287" y="2533289"/>
            <a:ext cx="1460500" cy="504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ComputeArea(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0.2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0.5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ans</a:t>
            </a:r>
            <a:r>
              <a:rPr sz="1100" spc="-4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1100" spc="-3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ourier New"/>
                <a:cs typeface="Courier New"/>
              </a:rPr>
              <a:t>0.3142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631" y="75410"/>
            <a:ext cx="11480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Variables</a:t>
            </a:r>
            <a:r>
              <a:rPr spc="-35" dirty="0"/>
              <a:t> names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47294" y="615929"/>
            <a:ext cx="5065395" cy="1823248"/>
          </a:xfrm>
          <a:prstGeom prst="rect">
            <a:avLst/>
          </a:prstGeom>
        </p:spPr>
        <p:txBody>
          <a:bodyPr vert="horz" wrap="square" lIns="0" tIns="621975" rIns="0" bIns="0" rtlCol="0">
            <a:spAutoFit/>
          </a:bodyPr>
          <a:lstStyle/>
          <a:p>
            <a:pPr marL="287655" indent="-175260">
              <a:lnSpc>
                <a:spcPct val="100000"/>
              </a:lnSpc>
              <a:spcBef>
                <a:spcPts val="635"/>
              </a:spcBef>
              <a:buFont typeface="Arial"/>
              <a:buChar char="►"/>
              <a:tabLst>
                <a:tab pos="288290" algn="l"/>
              </a:tabLst>
            </a:pPr>
            <a:r>
              <a:rPr dirty="0"/>
              <a:t>MATLAB</a:t>
            </a:r>
            <a:r>
              <a:rPr spc="110" dirty="0"/>
              <a:t> </a:t>
            </a:r>
            <a:r>
              <a:rPr spc="55" dirty="0"/>
              <a:t>is</a:t>
            </a:r>
            <a:r>
              <a:rPr spc="110" dirty="0"/>
              <a:t> </a:t>
            </a:r>
            <a:r>
              <a:rPr dirty="0"/>
              <a:t>case</a:t>
            </a:r>
            <a:r>
              <a:rPr spc="114" dirty="0"/>
              <a:t> </a:t>
            </a:r>
            <a:r>
              <a:rPr dirty="0"/>
              <a:t>sensitive!</a:t>
            </a:r>
            <a:r>
              <a:rPr spc="229" dirty="0"/>
              <a:t> </a:t>
            </a:r>
            <a:r>
              <a:rPr spc="-30" dirty="0">
                <a:latin typeface="Lucida Sans Unicode"/>
                <a:cs typeface="Lucida Sans Unicode"/>
              </a:rPr>
              <a:t>Pippo</a:t>
            </a:r>
            <a:r>
              <a:rPr spc="-5" dirty="0">
                <a:latin typeface="Lucida Sans Unicode"/>
                <a:cs typeface="Lucida Sans Unicode"/>
              </a:rPr>
              <a:t> </a:t>
            </a:r>
            <a:r>
              <a:rPr i="1" spc="-130" dirty="0">
                <a:latin typeface="Arial"/>
                <a:cs typeface="Arial"/>
              </a:rPr>
              <a:t>/</a:t>
            </a:r>
            <a:r>
              <a:rPr spc="-130" dirty="0">
                <a:latin typeface="Tahoma"/>
                <a:cs typeface="Tahoma"/>
              </a:rPr>
              <a:t>=</a:t>
            </a:r>
            <a:r>
              <a:rPr dirty="0">
                <a:latin typeface="Tahoma"/>
                <a:cs typeface="Tahoma"/>
              </a:rPr>
              <a:t> </a:t>
            </a:r>
            <a:r>
              <a:rPr spc="-10" dirty="0">
                <a:latin typeface="Lucida Sans Unicode"/>
                <a:cs typeface="Lucida Sans Unicode"/>
              </a:rPr>
              <a:t>pippo</a:t>
            </a:r>
          </a:p>
          <a:p>
            <a:pPr marL="287655" indent="-175260">
              <a:lnSpc>
                <a:spcPct val="100000"/>
              </a:lnSpc>
              <a:spcBef>
                <a:spcPts val="540"/>
              </a:spcBef>
              <a:buFont typeface="Arial"/>
              <a:buChar char="►"/>
              <a:tabLst>
                <a:tab pos="288290" algn="l"/>
              </a:tabLst>
            </a:pPr>
            <a:r>
              <a:rPr dirty="0"/>
              <a:t>Variables</a:t>
            </a:r>
            <a:r>
              <a:rPr spc="145" dirty="0"/>
              <a:t> </a:t>
            </a:r>
            <a:r>
              <a:rPr dirty="0"/>
              <a:t>name</a:t>
            </a:r>
            <a:r>
              <a:rPr spc="150" dirty="0"/>
              <a:t> </a:t>
            </a:r>
            <a:r>
              <a:rPr spc="55" dirty="0"/>
              <a:t>should</a:t>
            </a:r>
            <a:r>
              <a:rPr spc="150" dirty="0"/>
              <a:t> </a:t>
            </a:r>
            <a:r>
              <a:rPr dirty="0"/>
              <a:t>be</a:t>
            </a:r>
            <a:r>
              <a:rPr spc="155" dirty="0"/>
              <a:t> </a:t>
            </a:r>
            <a:r>
              <a:rPr dirty="0"/>
              <a:t>self</a:t>
            </a:r>
            <a:r>
              <a:rPr spc="150" dirty="0"/>
              <a:t> </a:t>
            </a:r>
            <a:r>
              <a:rPr dirty="0"/>
              <a:t>explanatory,</a:t>
            </a:r>
            <a:r>
              <a:rPr spc="150" dirty="0"/>
              <a:t> </a:t>
            </a:r>
            <a:r>
              <a:rPr spc="60" dirty="0"/>
              <a:t>so</a:t>
            </a:r>
            <a:r>
              <a:rPr spc="155" dirty="0"/>
              <a:t> </a:t>
            </a:r>
            <a:r>
              <a:rPr dirty="0"/>
              <a:t>prefer</a:t>
            </a:r>
            <a:r>
              <a:rPr spc="150" dirty="0"/>
              <a:t> </a:t>
            </a:r>
            <a:r>
              <a:rPr spc="-50" dirty="0">
                <a:latin typeface="Lucida Sans Unicode"/>
                <a:cs typeface="Lucida Sans Unicode"/>
              </a:rPr>
              <a:t>distance,</a:t>
            </a:r>
            <a:r>
              <a:rPr spc="40" dirty="0">
                <a:latin typeface="Lucida Sans Unicode"/>
                <a:cs typeface="Lucida Sans Unicode"/>
              </a:rPr>
              <a:t> </a:t>
            </a:r>
            <a:r>
              <a:rPr spc="-55" dirty="0">
                <a:latin typeface="Lucida Sans Unicode"/>
                <a:cs typeface="Lucida Sans Unicode"/>
              </a:rPr>
              <a:t>radius,</a:t>
            </a:r>
            <a:r>
              <a:rPr spc="35" dirty="0">
                <a:latin typeface="Lucida Sans Unicode"/>
                <a:cs typeface="Lucida Sans Unicode"/>
              </a:rPr>
              <a:t> </a:t>
            </a:r>
            <a:r>
              <a:rPr spc="-75" dirty="0">
                <a:latin typeface="Lucida Sans Unicode"/>
                <a:cs typeface="Lucida Sans Unicode"/>
              </a:rPr>
              <a:t>...</a:t>
            </a:r>
            <a:r>
              <a:rPr spc="195" dirty="0">
                <a:latin typeface="Lucida Sans Unicode"/>
                <a:cs typeface="Lucida Sans Unicode"/>
              </a:rPr>
              <a:t> </a:t>
            </a:r>
            <a:r>
              <a:rPr lang="it-IT" spc="-20" dirty="0" err="1"/>
              <a:t>rather</a:t>
            </a:r>
            <a:r>
              <a:rPr lang="it-IT" spc="-20" dirty="0"/>
              <a:t> </a:t>
            </a:r>
            <a:r>
              <a:rPr spc="-20" dirty="0"/>
              <a:t>than</a:t>
            </a:r>
            <a:r>
              <a:rPr lang="it-IT" spc="-20" dirty="0"/>
              <a:t> </a:t>
            </a:r>
            <a:r>
              <a:rPr spc="-65" dirty="0">
                <a:latin typeface="Lucida Sans Unicode"/>
                <a:cs typeface="Lucida Sans Unicode"/>
              </a:rPr>
              <a:t>a,</a:t>
            </a:r>
            <a:r>
              <a:rPr spc="-45" dirty="0">
                <a:latin typeface="Lucida Sans Unicode"/>
                <a:cs typeface="Lucida Sans Unicode"/>
              </a:rPr>
              <a:t> </a:t>
            </a:r>
            <a:r>
              <a:rPr spc="-90" dirty="0">
                <a:latin typeface="Lucida Sans Unicode"/>
                <a:cs typeface="Lucida Sans Unicode"/>
              </a:rPr>
              <a:t>b,</a:t>
            </a:r>
            <a:r>
              <a:rPr spc="-45" dirty="0">
                <a:latin typeface="Lucida Sans Unicode"/>
                <a:cs typeface="Lucida Sans Unicode"/>
              </a:rPr>
              <a:t> </a:t>
            </a:r>
            <a:r>
              <a:rPr spc="-25" dirty="0">
                <a:latin typeface="Lucida Sans Unicode"/>
                <a:cs typeface="Lucida Sans Unicode"/>
              </a:rPr>
              <a:t>...</a:t>
            </a:r>
          </a:p>
          <a:p>
            <a:pPr marL="287655" indent="-175260">
              <a:lnSpc>
                <a:spcPct val="100000"/>
              </a:lnSpc>
              <a:spcBef>
                <a:spcPts val="535"/>
              </a:spcBef>
              <a:buFont typeface="Arial"/>
              <a:buChar char="►"/>
              <a:tabLst>
                <a:tab pos="288290" algn="l"/>
              </a:tabLst>
            </a:pPr>
            <a:r>
              <a:rPr dirty="0"/>
              <a:t>When</a:t>
            </a:r>
            <a:r>
              <a:rPr spc="175" dirty="0"/>
              <a:t> </a:t>
            </a:r>
            <a:r>
              <a:rPr spc="50" dirty="0"/>
              <a:t>possible</a:t>
            </a:r>
            <a:r>
              <a:rPr lang="it-IT" spc="50" dirty="0"/>
              <a:t>,</a:t>
            </a:r>
            <a:r>
              <a:rPr spc="180" dirty="0"/>
              <a:t> </a:t>
            </a:r>
            <a:r>
              <a:rPr u="sng" spc="-55" dirty="0">
                <a:uFill>
                  <a:solidFill>
                    <a:srgbClr val="22373A"/>
                  </a:solidFill>
                </a:uFill>
                <a:latin typeface="Lucida Sans Unicode"/>
                <a:cs typeface="Lucida Sans Unicode"/>
              </a:rPr>
              <a:t>use</a:t>
            </a:r>
            <a:r>
              <a:rPr u="none" spc="80" dirty="0">
                <a:latin typeface="Lucida Sans Unicode"/>
                <a:cs typeface="Lucida Sans Unicode"/>
              </a:rPr>
              <a:t> </a:t>
            </a:r>
            <a:r>
              <a:rPr u="none" dirty="0"/>
              <a:t>the</a:t>
            </a:r>
            <a:r>
              <a:rPr u="none" spc="180" dirty="0"/>
              <a:t> </a:t>
            </a:r>
            <a:r>
              <a:rPr u="none" dirty="0"/>
              <a:t>camel</a:t>
            </a:r>
            <a:r>
              <a:rPr u="none" spc="175" dirty="0"/>
              <a:t> </a:t>
            </a:r>
            <a:r>
              <a:rPr u="none" dirty="0"/>
              <a:t>case</a:t>
            </a:r>
            <a:r>
              <a:rPr u="none" spc="180" dirty="0"/>
              <a:t> </a:t>
            </a:r>
            <a:r>
              <a:rPr u="none" dirty="0"/>
              <a:t>notation</a:t>
            </a:r>
            <a:r>
              <a:rPr u="none" spc="180" dirty="0"/>
              <a:t> </a:t>
            </a:r>
            <a:r>
              <a:rPr u="none" dirty="0"/>
              <a:t>to</a:t>
            </a:r>
            <a:r>
              <a:rPr u="none" spc="180" dirty="0"/>
              <a:t> </a:t>
            </a:r>
            <a:r>
              <a:rPr u="none" dirty="0"/>
              <a:t>make</a:t>
            </a:r>
            <a:r>
              <a:rPr u="none" spc="180" dirty="0"/>
              <a:t> </a:t>
            </a:r>
            <a:r>
              <a:rPr u="none" dirty="0"/>
              <a:t>stuff</a:t>
            </a:r>
            <a:r>
              <a:rPr u="none" spc="175" dirty="0"/>
              <a:t> </a:t>
            </a:r>
            <a:r>
              <a:rPr u="none" dirty="0"/>
              <a:t>easier</a:t>
            </a:r>
            <a:r>
              <a:rPr u="none" spc="180" dirty="0"/>
              <a:t> </a:t>
            </a:r>
            <a:r>
              <a:rPr u="none" dirty="0"/>
              <a:t>to</a:t>
            </a:r>
            <a:r>
              <a:rPr u="none" spc="180" dirty="0"/>
              <a:t> </a:t>
            </a:r>
            <a:r>
              <a:rPr u="none" spc="-10" dirty="0"/>
              <a:t>read.</a:t>
            </a:r>
          </a:p>
          <a:p>
            <a:pPr marL="288925">
              <a:lnSpc>
                <a:spcPct val="100000"/>
              </a:lnSpc>
              <a:spcBef>
                <a:spcPts val="240"/>
              </a:spcBef>
            </a:pPr>
            <a:r>
              <a:rPr spc="-50" dirty="0">
                <a:latin typeface="Lucida Sans Unicode"/>
                <a:cs typeface="Lucida Sans Unicode"/>
              </a:rPr>
              <a:t>PipeLength,</a:t>
            </a:r>
            <a:r>
              <a:rPr spc="-10" dirty="0">
                <a:latin typeface="Lucida Sans Unicode"/>
                <a:cs typeface="Lucida Sans Unicode"/>
              </a:rPr>
              <a:t> </a:t>
            </a:r>
            <a:r>
              <a:rPr spc="-70" dirty="0">
                <a:latin typeface="Lucida Sans Unicode"/>
                <a:cs typeface="Lucida Sans Unicode"/>
              </a:rPr>
              <a:t>GasTemperature,</a:t>
            </a:r>
            <a:r>
              <a:rPr spc="-10" dirty="0">
                <a:latin typeface="Lucida Sans Unicode"/>
                <a:cs typeface="Lucida Sans Unicode"/>
              </a:rPr>
              <a:t> </a:t>
            </a:r>
            <a:r>
              <a:rPr spc="-20" dirty="0">
                <a:latin typeface="Lucida Sans Unicode"/>
                <a:cs typeface="Lucida Sans Unicode"/>
              </a:rPr>
              <a:t>...</a:t>
            </a:r>
            <a:r>
              <a:rPr spc="-20" dirty="0"/>
              <a:t>.</a:t>
            </a:r>
            <a:endParaRPr lang="it-IT" spc="-20" dirty="0"/>
          </a:p>
          <a:p>
            <a:pPr marL="288925">
              <a:lnSpc>
                <a:spcPct val="100000"/>
              </a:lnSpc>
              <a:spcBef>
                <a:spcPts val="240"/>
              </a:spcBef>
            </a:pPr>
            <a:r>
              <a:rPr lang="it-IT" spc="-20" dirty="0"/>
              <a:t>Alternative (</a:t>
            </a:r>
            <a:r>
              <a:rPr lang="it-IT" spc="-20" dirty="0" err="1"/>
              <a:t>what</a:t>
            </a:r>
            <a:r>
              <a:rPr lang="it-IT" spc="-20" dirty="0"/>
              <a:t> </a:t>
            </a:r>
            <a:r>
              <a:rPr lang="it-IT" spc="-20" dirty="0" err="1"/>
              <a:t>you</a:t>
            </a:r>
            <a:r>
              <a:rPr lang="it-IT" spc="-20" dirty="0"/>
              <a:t> </a:t>
            </a:r>
            <a:r>
              <a:rPr lang="it-IT" spc="-20" dirty="0" err="1"/>
              <a:t>prefer</a:t>
            </a:r>
            <a:r>
              <a:rPr lang="it-IT" spc="-20" dirty="0"/>
              <a:t>!) </a:t>
            </a:r>
            <a:r>
              <a:rPr lang="it-IT" spc="-20" dirty="0" err="1"/>
              <a:t>snake</a:t>
            </a:r>
            <a:r>
              <a:rPr lang="it-IT" spc="-20"/>
              <a:t> case: </a:t>
            </a:r>
            <a:r>
              <a:rPr lang="it-IT" spc="-50" dirty="0" err="1">
                <a:latin typeface="Lucida Sans Unicode"/>
                <a:cs typeface="Lucida Sans Unicode"/>
              </a:rPr>
              <a:t>pipe_length</a:t>
            </a:r>
            <a:r>
              <a:rPr lang="it-IT" spc="-50" dirty="0">
                <a:latin typeface="Lucida Sans Unicode"/>
                <a:cs typeface="Lucida Sans Unicode"/>
              </a:rPr>
              <a:t>,</a:t>
            </a:r>
            <a:r>
              <a:rPr lang="it-IT" spc="-10" dirty="0">
                <a:latin typeface="Lucida Sans Unicode"/>
                <a:cs typeface="Lucida Sans Unicode"/>
              </a:rPr>
              <a:t> </a:t>
            </a:r>
            <a:r>
              <a:rPr lang="it-IT" spc="-70" dirty="0" err="1">
                <a:latin typeface="Lucida Sans Unicode"/>
                <a:cs typeface="Lucida Sans Unicode"/>
              </a:rPr>
              <a:t>gas_temperature</a:t>
            </a:r>
            <a:r>
              <a:rPr lang="it-IT" spc="-70" dirty="0">
                <a:latin typeface="Lucida Sans Unicode"/>
                <a:cs typeface="Lucida Sans Unicode"/>
              </a:rPr>
              <a:t>, …</a:t>
            </a:r>
            <a:endParaRPr spc="-20" dirty="0"/>
          </a:p>
        </p:txBody>
      </p:sp>
      <p:sp>
        <p:nvSpPr>
          <p:cNvPr id="4" name="object 4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5" dirty="0"/>
              <a:t>Arrays</a:t>
            </a:r>
            <a:r>
              <a:rPr spc="-50" dirty="0"/>
              <a:t> and</a:t>
            </a:r>
            <a:r>
              <a:rPr spc="-45" dirty="0"/>
              <a:t> </a:t>
            </a:r>
            <a:r>
              <a:rPr spc="-35" dirty="0"/>
              <a:t>Matrices</a:t>
            </a:r>
          </a:p>
        </p:txBody>
      </p:sp>
      <p:sp>
        <p:nvSpPr>
          <p:cNvPr id="3" name="object 3"/>
          <p:cNvSpPr/>
          <p:nvPr/>
        </p:nvSpPr>
        <p:spPr>
          <a:xfrm>
            <a:off x="637095" y="814654"/>
            <a:ext cx="4763135" cy="0"/>
          </a:xfrm>
          <a:custGeom>
            <a:avLst/>
            <a:gdLst/>
            <a:ahLst/>
            <a:cxnLst/>
            <a:rect l="l" t="t" r="r" b="b"/>
            <a:pathLst>
              <a:path w="4763135">
                <a:moveTo>
                  <a:pt x="0" y="0"/>
                </a:moveTo>
                <a:lnTo>
                  <a:pt x="4762906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37095" y="1056830"/>
            <a:ext cx="4763135" cy="0"/>
          </a:xfrm>
          <a:custGeom>
            <a:avLst/>
            <a:gdLst/>
            <a:ahLst/>
            <a:cxnLst/>
            <a:rect l="l" t="t" r="r" b="b"/>
            <a:pathLst>
              <a:path w="4763135">
                <a:moveTo>
                  <a:pt x="0" y="0"/>
                </a:moveTo>
                <a:lnTo>
                  <a:pt x="4762906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7095" y="1877453"/>
            <a:ext cx="4763135" cy="0"/>
          </a:xfrm>
          <a:custGeom>
            <a:avLst/>
            <a:gdLst/>
            <a:ahLst/>
            <a:cxnLst/>
            <a:rect l="l" t="t" r="r" b="b"/>
            <a:pathLst>
              <a:path w="4763135">
                <a:moveTo>
                  <a:pt x="0" y="0"/>
                </a:moveTo>
                <a:lnTo>
                  <a:pt x="4762906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7095" y="2127034"/>
            <a:ext cx="4763135" cy="0"/>
          </a:xfrm>
          <a:custGeom>
            <a:avLst/>
            <a:gdLst/>
            <a:ahLst/>
            <a:cxnLst/>
            <a:rect l="l" t="t" r="r" b="b"/>
            <a:pathLst>
              <a:path w="4763135">
                <a:moveTo>
                  <a:pt x="0" y="0"/>
                </a:moveTo>
                <a:lnTo>
                  <a:pt x="4762906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47357" y="486764"/>
            <a:ext cx="4301490" cy="19723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90"/>
              </a:spcBef>
              <a:buFont typeface="Arial"/>
              <a:buChar char="►"/>
              <a:tabLst>
                <a:tab pos="1879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1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MATLAB</a:t>
            </a:r>
            <a:r>
              <a:rPr sz="11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arrays</a:t>
            </a:r>
            <a:r>
              <a:rPr sz="1100" spc="2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are</a:t>
            </a:r>
            <a:r>
              <a:rPr sz="11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defined</a:t>
            </a:r>
            <a:r>
              <a:rPr sz="11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as: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5"/>
              </a:spcBef>
              <a:buClr>
                <a:srgbClr val="22373A"/>
              </a:buClr>
              <a:buFont typeface="Arial"/>
              <a:buChar char="►"/>
            </a:pPr>
            <a:endParaRPr sz="1100" dirty="0">
              <a:latin typeface="Calibri"/>
              <a:cs typeface="Calibri"/>
            </a:endParaRPr>
          </a:p>
          <a:p>
            <a:pPr marL="189230">
              <a:lnSpc>
                <a:spcPct val="100000"/>
              </a:lnSpc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[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5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13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97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31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98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]</a:t>
            </a:r>
            <a:endParaRPr sz="9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900" dirty="0">
              <a:latin typeface="Courier New"/>
              <a:cs typeface="Courier New"/>
            </a:endParaRPr>
          </a:p>
          <a:p>
            <a:pPr marL="189230">
              <a:lnSpc>
                <a:spcPct val="100000"/>
              </a:lnSpc>
            </a:pP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v</a:t>
            </a: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endParaRPr sz="1100" dirty="0">
              <a:latin typeface="Courier New"/>
              <a:cs typeface="Courier New"/>
            </a:endParaRPr>
          </a:p>
          <a:p>
            <a:pPr marL="688340">
              <a:lnSpc>
                <a:spcPct val="100000"/>
              </a:lnSpc>
              <a:spcBef>
                <a:spcPts val="235"/>
              </a:spcBef>
              <a:tabLst>
                <a:tab pos="1353185" algn="l"/>
                <a:tab pos="2101215" algn="l"/>
                <a:tab pos="2849245" algn="l"/>
                <a:tab pos="3597275" algn="l"/>
              </a:tabLst>
            </a:pP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5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13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97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31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98</a:t>
            </a:r>
            <a:endParaRPr sz="1100" dirty="0">
              <a:latin typeface="Courier New"/>
              <a:cs typeface="Courier New"/>
            </a:endParaRPr>
          </a:p>
          <a:p>
            <a:pPr marL="187960" indent="-175260">
              <a:lnSpc>
                <a:spcPct val="100000"/>
              </a:lnSpc>
              <a:spcBef>
                <a:spcPts val="465"/>
              </a:spcBef>
              <a:buFont typeface="Arial"/>
              <a:buChar char="►"/>
              <a:tabLst>
                <a:tab pos="187960" algn="l"/>
              </a:tabLst>
            </a:pPr>
            <a:r>
              <a:rPr sz="11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Matrices</a:t>
            </a:r>
            <a:r>
              <a:rPr sz="1100" spc="8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can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be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defined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22373A"/>
                </a:solidFill>
                <a:latin typeface="Calibri"/>
                <a:cs typeface="Calibri"/>
              </a:rPr>
              <a:t>as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set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stacked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arrays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separated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with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;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100" dirty="0">
              <a:latin typeface="Calibri"/>
              <a:cs typeface="Calibri"/>
            </a:endParaRPr>
          </a:p>
          <a:p>
            <a:pPr marL="189230">
              <a:lnSpc>
                <a:spcPct val="100000"/>
              </a:lnSpc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M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[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5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13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97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31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98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36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11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9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20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]</a:t>
            </a:r>
            <a:endParaRPr sz="9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900" dirty="0">
              <a:latin typeface="Courier New"/>
              <a:cs typeface="Courier New"/>
            </a:endParaRPr>
          </a:p>
          <a:p>
            <a:pPr marL="189230">
              <a:lnSpc>
                <a:spcPct val="100000"/>
              </a:lnSpc>
            </a:pP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M</a:t>
            </a: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endParaRPr sz="11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3149" y="2433584"/>
            <a:ext cx="191770" cy="6191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5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31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11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8167" y="2433584"/>
            <a:ext cx="191770" cy="6191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13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98</a:t>
            </a:r>
            <a:endParaRPr sz="1100">
              <a:latin typeface="Courier New"/>
              <a:cs typeface="Courier New"/>
            </a:endParaRPr>
          </a:p>
          <a:p>
            <a:pPr marL="95250">
              <a:lnSpc>
                <a:spcPct val="100000"/>
              </a:lnSpc>
              <a:spcBef>
                <a:spcPts val="240"/>
              </a:spcBef>
            </a:pP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9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36313" y="2433584"/>
            <a:ext cx="191770" cy="6191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97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36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20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7095" y="1075816"/>
            <a:ext cx="4763135" cy="0"/>
          </a:xfrm>
          <a:custGeom>
            <a:avLst/>
            <a:gdLst/>
            <a:ahLst/>
            <a:cxnLst/>
            <a:rect l="l" t="t" r="r" b="b"/>
            <a:pathLst>
              <a:path w="4763135">
                <a:moveTo>
                  <a:pt x="0" y="0"/>
                </a:moveTo>
                <a:lnTo>
                  <a:pt x="4762906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7095" y="1320850"/>
            <a:ext cx="4763135" cy="0"/>
          </a:xfrm>
          <a:custGeom>
            <a:avLst/>
            <a:gdLst/>
            <a:ahLst/>
            <a:cxnLst/>
            <a:rect l="l" t="t" r="r" b="b"/>
            <a:pathLst>
              <a:path w="4763135">
                <a:moveTo>
                  <a:pt x="0" y="0"/>
                </a:moveTo>
                <a:lnTo>
                  <a:pt x="4762906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37095" y="1801393"/>
            <a:ext cx="4763135" cy="0"/>
          </a:xfrm>
          <a:custGeom>
            <a:avLst/>
            <a:gdLst/>
            <a:ahLst/>
            <a:cxnLst/>
            <a:rect l="l" t="t" r="r" b="b"/>
            <a:pathLst>
              <a:path w="4763135">
                <a:moveTo>
                  <a:pt x="0" y="0"/>
                </a:moveTo>
                <a:lnTo>
                  <a:pt x="4762906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7095" y="2050859"/>
            <a:ext cx="4763135" cy="0"/>
          </a:xfrm>
          <a:custGeom>
            <a:avLst/>
            <a:gdLst/>
            <a:ahLst/>
            <a:cxnLst/>
            <a:rect l="l" t="t" r="r" b="b"/>
            <a:pathLst>
              <a:path w="4763135">
                <a:moveTo>
                  <a:pt x="0" y="0"/>
                </a:moveTo>
                <a:lnTo>
                  <a:pt x="4762906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47357" y="741742"/>
            <a:ext cx="4927600" cy="1647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90"/>
              </a:spcBef>
              <a:buFont typeface="Arial"/>
              <a:buChar char="►"/>
              <a:tabLst>
                <a:tab pos="187960" algn="l"/>
              </a:tabLst>
            </a:pP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Elements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can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be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accessed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using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their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index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(indices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MATLAB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starts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from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1)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100">
              <a:latin typeface="Calibri"/>
              <a:cs typeface="Calibri"/>
            </a:endParaRPr>
          </a:p>
          <a:p>
            <a:pPr marL="189230">
              <a:lnSpc>
                <a:spcPct val="100000"/>
              </a:lnSpc>
              <a:spcBef>
                <a:spcPts val="5"/>
              </a:spcBef>
            </a:pP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v(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900">
              <a:latin typeface="Courier New"/>
              <a:cs typeface="Courier New"/>
            </a:endParaRPr>
          </a:p>
          <a:p>
            <a:pPr marL="189230">
              <a:lnSpc>
                <a:spcPct val="100000"/>
              </a:lnSpc>
            </a:pP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ans</a:t>
            </a:r>
            <a:r>
              <a:rPr sz="1100" spc="-4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1100" spc="-3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5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100">
              <a:latin typeface="Courier New"/>
              <a:cs typeface="Courier New"/>
            </a:endParaRPr>
          </a:p>
          <a:p>
            <a:pPr marL="189230">
              <a:lnSpc>
                <a:spcPct val="100000"/>
              </a:lnSpc>
              <a:tabLst>
                <a:tab pos="735965" algn="l"/>
              </a:tabLst>
            </a:pP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M(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2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1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(row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number,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column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number)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900">
              <a:latin typeface="Courier New"/>
              <a:cs typeface="Courier New"/>
            </a:endParaRPr>
          </a:p>
          <a:p>
            <a:pPr marL="18923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ans</a:t>
            </a:r>
            <a:r>
              <a:rPr sz="1100" spc="-4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1100" spc="-3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31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75410"/>
            <a:ext cx="19812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70" dirty="0">
                <a:latin typeface="Lucida Sans Unicode"/>
                <a:cs typeface="Lucida Sans Unicode"/>
              </a:rPr>
              <a:t>Creating</a:t>
            </a:r>
            <a:r>
              <a:rPr sz="1200" spc="-40" dirty="0">
                <a:latin typeface="Lucida Sans Unicode"/>
                <a:cs typeface="Lucida Sans Unicode"/>
              </a:rPr>
              <a:t> </a:t>
            </a:r>
            <a:r>
              <a:rPr sz="1200" spc="-45" dirty="0">
                <a:latin typeface="Lucida Sans Unicode"/>
                <a:cs typeface="Lucida Sans Unicode"/>
              </a:rPr>
              <a:t>arrays</a:t>
            </a:r>
            <a:r>
              <a:rPr sz="1200" spc="-35" dirty="0">
                <a:latin typeface="Lucida Sans Unicode"/>
                <a:cs typeface="Lucida Sans Unicode"/>
              </a:rPr>
              <a:t> </a:t>
            </a:r>
            <a:r>
              <a:rPr sz="1200" spc="-50" dirty="0">
                <a:latin typeface="Lucida Sans Unicode"/>
                <a:cs typeface="Lucida Sans Unicode"/>
              </a:rPr>
              <a:t>and</a:t>
            </a:r>
            <a:r>
              <a:rPr sz="1200" spc="-35" dirty="0">
                <a:latin typeface="Lucida Sans Unicode"/>
                <a:cs typeface="Lucida Sans Unicode"/>
              </a:rPr>
              <a:t> </a:t>
            </a:r>
            <a:r>
              <a:rPr sz="1200" spc="-30" dirty="0">
                <a:latin typeface="Lucida Sans Unicode"/>
                <a:cs typeface="Lucida Sans Unicode"/>
              </a:rPr>
              <a:t>matrices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357" y="978635"/>
            <a:ext cx="21926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90"/>
              </a:spcBef>
              <a:buFont typeface="Arial"/>
              <a:buChar char="►"/>
              <a:tabLst>
                <a:tab pos="1879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Create</a:t>
            </a:r>
            <a:r>
              <a:rPr sz="11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1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matrix</a:t>
            </a:r>
            <a:r>
              <a:rPr sz="11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zeros</a:t>
            </a:r>
            <a:r>
              <a:rPr sz="11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or</a:t>
            </a:r>
            <a:r>
              <a:rPr sz="11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ones: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40004" y="1368247"/>
          <a:ext cx="5280657" cy="1200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9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6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23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8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900" spc="-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900" spc="-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spc="-10" dirty="0">
                          <a:solidFill>
                            <a:srgbClr val="007F00"/>
                          </a:solidFill>
                          <a:latin typeface="Courier New"/>
                          <a:cs typeface="Courier New"/>
                        </a:rPr>
                        <a:t>zeros</a:t>
                      </a:r>
                      <a:r>
                        <a:rPr sz="900" spc="-1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900" spc="-10" dirty="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900" spc="-1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900" spc="-10" dirty="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900" spc="-1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T="40005" marB="0"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900" spc="-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900" spc="-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spc="-10" dirty="0">
                          <a:solidFill>
                            <a:srgbClr val="007F00"/>
                          </a:solidFill>
                          <a:latin typeface="Courier New"/>
                          <a:cs typeface="Courier New"/>
                        </a:rPr>
                        <a:t>ones</a:t>
                      </a:r>
                      <a:r>
                        <a:rPr sz="900" spc="-1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900" spc="-10" dirty="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900" spc="-1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900" spc="-10" dirty="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900" spc="-1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T="40005" marB="0"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9525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9525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7095" y="606069"/>
            <a:ext cx="4763135" cy="0"/>
          </a:xfrm>
          <a:custGeom>
            <a:avLst/>
            <a:gdLst/>
            <a:ahLst/>
            <a:cxnLst/>
            <a:rect l="l" t="t" r="r" b="b"/>
            <a:pathLst>
              <a:path w="4763135">
                <a:moveTo>
                  <a:pt x="0" y="0"/>
                </a:moveTo>
                <a:lnTo>
                  <a:pt x="4762906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7095" y="848245"/>
            <a:ext cx="4763135" cy="0"/>
          </a:xfrm>
          <a:custGeom>
            <a:avLst/>
            <a:gdLst/>
            <a:ahLst/>
            <a:cxnLst/>
            <a:rect l="l" t="t" r="r" b="b"/>
            <a:pathLst>
              <a:path w="4763135">
                <a:moveTo>
                  <a:pt x="0" y="0"/>
                </a:moveTo>
                <a:lnTo>
                  <a:pt x="4762906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7356" y="271994"/>
            <a:ext cx="5026343" cy="91178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90"/>
              </a:spcBef>
              <a:buFont typeface="Arial"/>
              <a:buChar char="►"/>
              <a:tabLst>
                <a:tab pos="1879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Create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vector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70" dirty="0">
                <a:solidFill>
                  <a:srgbClr val="22373A"/>
                </a:solidFill>
                <a:latin typeface="Lucida Sans Unicode"/>
                <a:cs typeface="Lucida Sans Unicode"/>
              </a:rPr>
              <a:t>n</a:t>
            </a:r>
            <a:r>
              <a:rPr sz="1100" spc="8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equally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spaced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elements: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100" dirty="0">
              <a:latin typeface="Calibri"/>
              <a:cs typeface="Calibri"/>
            </a:endParaRPr>
          </a:p>
          <a:p>
            <a:pPr marL="189230">
              <a:lnSpc>
                <a:spcPct val="100000"/>
              </a:lnSpc>
              <a:spcBef>
                <a:spcPts val="5"/>
              </a:spcBef>
              <a:tabLst>
                <a:tab pos="1214120" algn="l"/>
              </a:tabLst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v1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[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2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11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]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1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Parenthesis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can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be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omitted</a:t>
            </a:r>
            <a:r>
              <a:rPr lang="it-IT"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: </a:t>
            </a:r>
            <a:r>
              <a:rPr lang="it-IT" sz="900" dirty="0">
                <a:solidFill>
                  <a:srgbClr val="22373A"/>
                </a:solidFill>
                <a:latin typeface="Courier New"/>
                <a:cs typeface="Courier New"/>
              </a:rPr>
              <a:t>v1</a:t>
            </a:r>
            <a:r>
              <a:rPr lang="it-IT"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lang="it-IT"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lang="it-IT"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lang="it-IT" sz="900" spc="-10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lang="it-IT" sz="900" spc="-10" dirty="0">
                <a:solidFill>
                  <a:srgbClr val="22373A"/>
                </a:solidFill>
                <a:latin typeface="Courier New"/>
                <a:cs typeface="Courier New"/>
              </a:rPr>
              <a:t>:</a:t>
            </a:r>
            <a:r>
              <a:rPr lang="it-IT" sz="900" spc="-10" dirty="0">
                <a:solidFill>
                  <a:srgbClr val="666666"/>
                </a:solidFill>
                <a:latin typeface="Courier New"/>
                <a:cs typeface="Courier New"/>
              </a:rPr>
              <a:t>2</a:t>
            </a:r>
            <a:r>
              <a:rPr lang="it-IT" sz="900" spc="-10" dirty="0">
                <a:solidFill>
                  <a:srgbClr val="22373A"/>
                </a:solidFill>
                <a:latin typeface="Courier New"/>
                <a:cs typeface="Courier New"/>
              </a:rPr>
              <a:t>:</a:t>
            </a:r>
            <a:r>
              <a:rPr lang="it-IT" sz="900" spc="-10" dirty="0">
                <a:solidFill>
                  <a:srgbClr val="666666"/>
                </a:solidFill>
                <a:latin typeface="Courier New"/>
                <a:cs typeface="Courier New"/>
              </a:rPr>
              <a:t>11</a:t>
            </a:r>
            <a:r>
              <a:rPr lang="it-IT"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endParaRPr sz="9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900" dirty="0">
              <a:latin typeface="Courier New"/>
              <a:cs typeface="Courier New"/>
            </a:endParaRPr>
          </a:p>
          <a:p>
            <a:pPr marL="189230">
              <a:lnSpc>
                <a:spcPct val="100000"/>
              </a:lnSpc>
              <a:spcBef>
                <a:spcPts val="5"/>
              </a:spcBef>
              <a:tabLst>
                <a:tab pos="965200" algn="l"/>
                <a:tab pos="1491615" algn="l"/>
                <a:tab pos="2018030" algn="l"/>
                <a:tab pos="2544445" algn="l"/>
                <a:tab pos="3070860" algn="l"/>
              </a:tabLst>
            </a:pP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v1</a:t>
            </a:r>
            <a:r>
              <a:rPr sz="1100" spc="-4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-6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1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3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5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7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9</a:t>
            </a:r>
            <a:endParaRPr sz="11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32474" y="994726"/>
            <a:ext cx="1917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11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37095" y="1472793"/>
            <a:ext cx="4763135" cy="0"/>
          </a:xfrm>
          <a:custGeom>
            <a:avLst/>
            <a:gdLst/>
            <a:ahLst/>
            <a:cxnLst/>
            <a:rect l="l" t="t" r="r" b="b"/>
            <a:pathLst>
              <a:path w="4763135">
                <a:moveTo>
                  <a:pt x="0" y="0"/>
                </a:moveTo>
                <a:lnTo>
                  <a:pt x="4762906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7095" y="1714982"/>
            <a:ext cx="4763135" cy="0"/>
          </a:xfrm>
          <a:custGeom>
            <a:avLst/>
            <a:gdLst/>
            <a:ahLst/>
            <a:cxnLst/>
            <a:rect l="l" t="t" r="r" b="b"/>
            <a:pathLst>
              <a:path w="4763135">
                <a:moveTo>
                  <a:pt x="0" y="0"/>
                </a:moveTo>
                <a:lnTo>
                  <a:pt x="4762906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4395" y="1500779"/>
            <a:ext cx="913765" cy="552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v2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[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3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11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]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788035" algn="l"/>
              </a:tabLst>
            </a:pP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v2</a:t>
            </a:r>
            <a:r>
              <a:rPr sz="1100" spc="-4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-6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49247" y="1500779"/>
            <a:ext cx="2907665" cy="552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Parenthesis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can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be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omitted</a:t>
            </a:r>
            <a:endParaRPr sz="9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900" dirty="0">
              <a:latin typeface="Courier New"/>
              <a:cs typeface="Courier New"/>
            </a:endParaRPr>
          </a:p>
          <a:p>
            <a:pPr marL="289560">
              <a:lnSpc>
                <a:spcPct val="100000"/>
              </a:lnSpc>
              <a:tabLst>
                <a:tab pos="815975" algn="l"/>
                <a:tab pos="1343025" algn="l"/>
                <a:tab pos="1813560" algn="l"/>
              </a:tabLst>
            </a:pP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4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7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10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1100" dirty="0">
                <a:solidFill>
                  <a:srgbClr val="EB801A"/>
                </a:solidFill>
                <a:latin typeface="Courier New"/>
                <a:cs typeface="Courier New"/>
              </a:rPr>
              <a:t>%</a:t>
            </a:r>
            <a:r>
              <a:rPr sz="1100" spc="-30" dirty="0">
                <a:solidFill>
                  <a:srgbClr val="EB80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B801A"/>
                </a:solidFill>
                <a:latin typeface="Courier New"/>
                <a:cs typeface="Courier New"/>
              </a:rPr>
              <a:t>be</a:t>
            </a:r>
            <a:r>
              <a:rPr sz="1100" spc="-30" dirty="0">
                <a:solidFill>
                  <a:srgbClr val="EB80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EB801A"/>
                </a:solidFill>
                <a:latin typeface="Courier New"/>
                <a:cs typeface="Courier New"/>
              </a:rPr>
              <a:t>careful!</a:t>
            </a:r>
            <a:endParaRPr sz="110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7095" y="2267521"/>
            <a:ext cx="4763135" cy="0"/>
          </a:xfrm>
          <a:custGeom>
            <a:avLst/>
            <a:gdLst/>
            <a:ahLst/>
            <a:cxnLst/>
            <a:rect l="l" t="t" r="r" b="b"/>
            <a:pathLst>
              <a:path w="4763135">
                <a:moveTo>
                  <a:pt x="0" y="0"/>
                </a:moveTo>
                <a:lnTo>
                  <a:pt x="4762906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7095" y="2520759"/>
            <a:ext cx="4763135" cy="0"/>
          </a:xfrm>
          <a:custGeom>
            <a:avLst/>
            <a:gdLst/>
            <a:ahLst/>
            <a:cxnLst/>
            <a:rect l="l" t="t" r="r" b="b"/>
            <a:pathLst>
              <a:path w="4763135">
                <a:moveTo>
                  <a:pt x="0" y="0"/>
                </a:moveTo>
                <a:lnTo>
                  <a:pt x="4762906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24395" y="2295507"/>
            <a:ext cx="3851910" cy="563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83690" algn="l"/>
              </a:tabLst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v3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linspace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10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6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1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Parenthesis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can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NOT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be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omitted!</a:t>
            </a:r>
            <a:endParaRPr sz="9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788035" algn="l"/>
                <a:tab pos="1480820" algn="l"/>
                <a:tab pos="2173605" algn="l"/>
                <a:tab pos="2866390" algn="l"/>
                <a:tab pos="3559175" algn="l"/>
              </a:tabLst>
            </a:pP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v3</a:t>
            </a:r>
            <a:r>
              <a:rPr sz="1100" spc="-4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-6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1.0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2.8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4.6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6.4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8.2</a:t>
            </a:r>
            <a:endParaRPr sz="1100" dirty="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63747" y="2667227"/>
            <a:ext cx="3581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22373A"/>
                </a:solidFill>
                <a:latin typeface="Courier New"/>
                <a:cs typeface="Courier New"/>
              </a:rPr>
              <a:t>10.0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631" y="75410"/>
            <a:ext cx="250761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Operations</a:t>
            </a:r>
            <a:r>
              <a:rPr spc="-45" dirty="0"/>
              <a:t> with</a:t>
            </a:r>
            <a:r>
              <a:rPr spc="-40" dirty="0"/>
              <a:t> </a:t>
            </a:r>
            <a:r>
              <a:rPr spc="-45" dirty="0"/>
              <a:t>arrays </a:t>
            </a:r>
            <a:r>
              <a:rPr spc="-50" dirty="0"/>
              <a:t>and</a:t>
            </a:r>
            <a:r>
              <a:rPr spc="-40" dirty="0"/>
              <a:t> </a:t>
            </a:r>
            <a:r>
              <a:rPr spc="-30" dirty="0"/>
              <a:t>matrices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7355" y="484618"/>
            <a:ext cx="11791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90"/>
              </a:spcBef>
              <a:buFont typeface="Arial"/>
              <a:buChar char="►"/>
              <a:tabLst>
                <a:tab pos="1879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Size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matrix: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7093" y="818692"/>
            <a:ext cx="2243455" cy="0"/>
          </a:xfrm>
          <a:custGeom>
            <a:avLst/>
            <a:gdLst/>
            <a:ahLst/>
            <a:cxnLst/>
            <a:rect l="l" t="t" r="r" b="b"/>
            <a:pathLst>
              <a:path w="2243455">
                <a:moveTo>
                  <a:pt x="0" y="0"/>
                </a:moveTo>
                <a:lnTo>
                  <a:pt x="2242908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4393" y="823281"/>
            <a:ext cx="1255395" cy="3460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M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[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2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3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4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5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6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]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size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(M)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7093" y="1223771"/>
            <a:ext cx="2243455" cy="0"/>
          </a:xfrm>
          <a:custGeom>
            <a:avLst/>
            <a:gdLst/>
            <a:ahLst/>
            <a:cxnLst/>
            <a:rect l="l" t="t" r="r" b="b"/>
            <a:pathLst>
              <a:path w="2243455">
                <a:moveTo>
                  <a:pt x="0" y="0"/>
                </a:moveTo>
                <a:lnTo>
                  <a:pt x="2242908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27355" y="1228646"/>
            <a:ext cx="1257935" cy="49720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89230">
              <a:lnSpc>
                <a:spcPct val="100000"/>
              </a:lnSpc>
              <a:spcBef>
                <a:spcPts val="635"/>
              </a:spcBef>
            </a:pP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ans</a:t>
            </a:r>
            <a:r>
              <a:rPr sz="1100" spc="-3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1100" spc="-3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2</a:t>
            </a:r>
            <a:r>
              <a:rPr sz="1100" spc="-3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3</a:t>
            </a:r>
            <a:endParaRPr sz="1100">
              <a:latin typeface="Courier New"/>
              <a:cs typeface="Courier New"/>
            </a:endParaRPr>
          </a:p>
          <a:p>
            <a:pPr marL="187960" indent="-175260">
              <a:lnSpc>
                <a:spcPct val="100000"/>
              </a:lnSpc>
              <a:spcBef>
                <a:spcPts val="540"/>
              </a:spcBef>
              <a:buFont typeface="Arial"/>
              <a:buChar char="►"/>
              <a:tabLst>
                <a:tab pos="1879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Copying</a:t>
            </a:r>
            <a:r>
              <a:rPr sz="11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1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matrix: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7093" y="1868169"/>
            <a:ext cx="2243455" cy="0"/>
          </a:xfrm>
          <a:custGeom>
            <a:avLst/>
            <a:gdLst/>
            <a:ahLst/>
            <a:cxnLst/>
            <a:rect l="l" t="t" r="r" b="b"/>
            <a:pathLst>
              <a:path w="2243455">
                <a:moveTo>
                  <a:pt x="0" y="0"/>
                </a:moveTo>
                <a:lnTo>
                  <a:pt x="2242908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4393" y="1896143"/>
            <a:ext cx="36703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Courier New"/>
                <a:cs typeface="Courier New"/>
              </a:rPr>
              <a:t>M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17093" y="2097252"/>
            <a:ext cx="2243455" cy="0"/>
          </a:xfrm>
          <a:custGeom>
            <a:avLst/>
            <a:gdLst/>
            <a:ahLst/>
            <a:cxnLst/>
            <a:rect l="l" t="t" r="r" b="b"/>
            <a:pathLst>
              <a:path w="2243455">
                <a:moveTo>
                  <a:pt x="0" y="0"/>
                </a:moveTo>
                <a:lnTo>
                  <a:pt x="2242908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04393" y="2171724"/>
            <a:ext cx="2749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A</a:t>
            </a: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984110" y="2375388"/>
          <a:ext cx="1476374" cy="391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55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3087357" y="236154"/>
            <a:ext cx="212471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marR="5080" indent="-175260">
              <a:lnSpc>
                <a:spcPct val="118000"/>
              </a:lnSpc>
              <a:spcBef>
                <a:spcPts val="100"/>
              </a:spcBef>
              <a:buFont typeface="Arial"/>
              <a:buChar char="►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Copying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line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or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column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 	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matrix: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77095" y="799731"/>
            <a:ext cx="2243455" cy="0"/>
          </a:xfrm>
          <a:custGeom>
            <a:avLst/>
            <a:gdLst/>
            <a:ahLst/>
            <a:cxnLst/>
            <a:rect l="l" t="t" r="r" b="b"/>
            <a:pathLst>
              <a:path w="2243454">
                <a:moveTo>
                  <a:pt x="0" y="0"/>
                </a:moveTo>
                <a:lnTo>
                  <a:pt x="2242908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64395" y="827717"/>
            <a:ext cx="7086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M(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,:)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77095" y="1049210"/>
            <a:ext cx="2243455" cy="0"/>
          </a:xfrm>
          <a:custGeom>
            <a:avLst/>
            <a:gdLst/>
            <a:ahLst/>
            <a:cxnLst/>
            <a:rect l="l" t="t" r="r" b="b"/>
            <a:pathLst>
              <a:path w="2243454">
                <a:moveTo>
                  <a:pt x="0" y="0"/>
                </a:moveTo>
                <a:lnTo>
                  <a:pt x="2242908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264395" y="1123682"/>
            <a:ext cx="2749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v</a:t>
            </a: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63149" y="1321560"/>
            <a:ext cx="108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28167" y="1321560"/>
            <a:ext cx="108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93186" y="1321560"/>
            <a:ext cx="108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3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87357" y="1557412"/>
            <a:ext cx="1180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90"/>
              </a:spcBef>
              <a:buFont typeface="Arial"/>
              <a:buChar char="►"/>
              <a:tabLst>
                <a:tab pos="1879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Size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an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array: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277095" y="1891487"/>
            <a:ext cx="2243455" cy="0"/>
          </a:xfrm>
          <a:custGeom>
            <a:avLst/>
            <a:gdLst/>
            <a:ahLst/>
            <a:cxnLst/>
            <a:rect l="l" t="t" r="r" b="b"/>
            <a:pathLst>
              <a:path w="2243454">
                <a:moveTo>
                  <a:pt x="0" y="0"/>
                </a:moveTo>
                <a:lnTo>
                  <a:pt x="2242908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264395" y="1919460"/>
            <a:ext cx="5041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size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(v)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77095" y="2136508"/>
            <a:ext cx="2243455" cy="0"/>
          </a:xfrm>
          <a:custGeom>
            <a:avLst/>
            <a:gdLst/>
            <a:ahLst/>
            <a:cxnLst/>
            <a:rect l="l" t="t" r="r" b="b"/>
            <a:pathLst>
              <a:path w="2243454">
                <a:moveTo>
                  <a:pt x="0" y="0"/>
                </a:moveTo>
                <a:lnTo>
                  <a:pt x="2242908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264395" y="2210992"/>
            <a:ext cx="7740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ans</a:t>
            </a:r>
            <a:r>
              <a:rPr sz="1100" spc="-3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1100" spc="-3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1</a:t>
            </a:r>
            <a:r>
              <a:rPr sz="1100" spc="-3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3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277095" y="2545067"/>
            <a:ext cx="2243455" cy="0"/>
          </a:xfrm>
          <a:custGeom>
            <a:avLst/>
            <a:gdLst/>
            <a:ahLst/>
            <a:cxnLst/>
            <a:rect l="l" t="t" r="r" b="b"/>
            <a:pathLst>
              <a:path w="2243454">
                <a:moveTo>
                  <a:pt x="0" y="0"/>
                </a:moveTo>
                <a:lnTo>
                  <a:pt x="2242908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277095" y="2798292"/>
            <a:ext cx="2243455" cy="0"/>
          </a:xfrm>
          <a:custGeom>
            <a:avLst/>
            <a:gdLst/>
            <a:ahLst/>
            <a:cxnLst/>
            <a:rect l="l" t="t" r="r" b="b"/>
            <a:pathLst>
              <a:path w="2243454">
                <a:moveTo>
                  <a:pt x="0" y="0"/>
                </a:moveTo>
                <a:lnTo>
                  <a:pt x="2242908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264395" y="2573040"/>
            <a:ext cx="640715" cy="491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length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(v)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ans</a:t>
            </a:r>
            <a:r>
              <a:rPr sz="1100" spc="-4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1100" spc="-3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3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7355" y="253046"/>
            <a:ext cx="14674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90"/>
              </a:spcBef>
              <a:buFont typeface="Arial"/>
              <a:buChar char="►"/>
              <a:tabLst>
                <a:tab pos="1879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Matrix</a:t>
            </a:r>
            <a:r>
              <a:rPr sz="1100" spc="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transposition: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17093" y="587108"/>
          <a:ext cx="2244724" cy="10966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4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0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9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900" spc="-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900" spc="-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spc="-2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r>
                        <a:rPr sz="900" spc="-25" dirty="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'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T="40005" marB="0"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5725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3815">
                        <a:lnSpc>
                          <a:spcPct val="100000"/>
                        </a:lnSpc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90830">
                        <a:lnSpc>
                          <a:spcPct val="100000"/>
                        </a:lnSpc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123189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27355" y="1721432"/>
            <a:ext cx="19443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90"/>
              </a:spcBef>
              <a:buFont typeface="Arial"/>
              <a:buChar char="►"/>
              <a:tabLst>
                <a:tab pos="1879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Element</a:t>
            </a:r>
            <a:r>
              <a:rPr sz="1100" spc="229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wise</a:t>
            </a:r>
            <a:r>
              <a:rPr sz="1100" spc="2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multiplication: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7093" y="2055494"/>
            <a:ext cx="2243455" cy="0"/>
          </a:xfrm>
          <a:custGeom>
            <a:avLst/>
            <a:gdLst/>
            <a:ahLst/>
            <a:cxnLst/>
            <a:rect l="l" t="t" r="r" b="b"/>
            <a:pathLst>
              <a:path w="2243455">
                <a:moveTo>
                  <a:pt x="0" y="0"/>
                </a:moveTo>
                <a:lnTo>
                  <a:pt x="2242908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4393" y="2083480"/>
            <a:ext cx="435609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M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.*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Courier New"/>
                <a:cs typeface="Courier New"/>
              </a:rPr>
              <a:t>M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7093" y="2285834"/>
            <a:ext cx="2243455" cy="0"/>
          </a:xfrm>
          <a:custGeom>
            <a:avLst/>
            <a:gdLst/>
            <a:ahLst/>
            <a:cxnLst/>
            <a:rect l="l" t="t" r="r" b="b"/>
            <a:pathLst>
              <a:path w="2243455">
                <a:moveTo>
                  <a:pt x="0" y="0"/>
                </a:moveTo>
                <a:lnTo>
                  <a:pt x="2242908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4393" y="2360319"/>
            <a:ext cx="4413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ans</a:t>
            </a: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 =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33057" y="2558197"/>
            <a:ext cx="108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9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3160" y="2526561"/>
            <a:ext cx="191770" cy="4216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1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16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68178" y="2526561"/>
            <a:ext cx="191770" cy="4216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4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25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16185" y="2756089"/>
            <a:ext cx="1917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36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77095" y="738123"/>
            <a:ext cx="2243455" cy="0"/>
          </a:xfrm>
          <a:custGeom>
            <a:avLst/>
            <a:gdLst/>
            <a:ahLst/>
            <a:cxnLst/>
            <a:rect l="l" t="t" r="r" b="b"/>
            <a:pathLst>
              <a:path w="2243454">
                <a:moveTo>
                  <a:pt x="0" y="0"/>
                </a:moveTo>
                <a:lnTo>
                  <a:pt x="2242908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77095" y="967206"/>
            <a:ext cx="2243455" cy="0"/>
          </a:xfrm>
          <a:custGeom>
            <a:avLst/>
            <a:gdLst/>
            <a:ahLst/>
            <a:cxnLst/>
            <a:rect l="l" t="t" r="r" b="b"/>
            <a:pathLst>
              <a:path w="2243454">
                <a:moveTo>
                  <a:pt x="0" y="0"/>
                </a:moveTo>
                <a:lnTo>
                  <a:pt x="2242908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77095" y="1573644"/>
            <a:ext cx="2243455" cy="0"/>
          </a:xfrm>
          <a:custGeom>
            <a:avLst/>
            <a:gdLst/>
            <a:ahLst/>
            <a:cxnLst/>
            <a:rect l="l" t="t" r="r" b="b"/>
            <a:pathLst>
              <a:path w="2243454">
                <a:moveTo>
                  <a:pt x="0" y="0"/>
                </a:moveTo>
                <a:lnTo>
                  <a:pt x="2242908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087357" y="404049"/>
            <a:ext cx="2442210" cy="1360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90"/>
              </a:spcBef>
              <a:buFont typeface="Arial"/>
              <a:buChar char="►"/>
              <a:tabLst>
                <a:tab pos="1879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Matrix</a:t>
            </a:r>
            <a:r>
              <a:rPr sz="1100" spc="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multiplication: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100">
              <a:latin typeface="Calibri"/>
              <a:cs typeface="Calibri"/>
            </a:endParaRPr>
          </a:p>
          <a:p>
            <a:pPr marL="18923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M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Courier New"/>
                <a:cs typeface="Courier New"/>
              </a:rPr>
              <a:t>B</a:t>
            </a:r>
            <a:endParaRPr sz="900">
              <a:latin typeface="Courier New"/>
              <a:cs typeface="Courier New"/>
            </a:endParaRPr>
          </a:p>
          <a:p>
            <a:pPr marL="189230" marR="5080">
              <a:lnSpc>
                <a:spcPct val="129900"/>
              </a:lnSpc>
              <a:spcBef>
                <a:spcPts val="825"/>
              </a:spcBef>
            </a:pPr>
            <a:r>
              <a:rPr sz="1000" dirty="0">
                <a:solidFill>
                  <a:srgbClr val="FF0000"/>
                </a:solidFill>
                <a:latin typeface="Calibri"/>
                <a:cs typeface="Calibri"/>
              </a:rPr>
              <a:t>Error</a:t>
            </a:r>
            <a:r>
              <a:rPr sz="1000" spc="1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0000"/>
                </a:solidFill>
                <a:latin typeface="Calibri"/>
                <a:cs typeface="Calibri"/>
              </a:rPr>
              <a:t>using</a:t>
            </a:r>
            <a:r>
              <a:rPr sz="1000" spc="1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0000"/>
                </a:solidFill>
                <a:latin typeface="Calibri"/>
                <a:cs typeface="Calibri"/>
              </a:rPr>
              <a:t>*</a:t>
            </a:r>
            <a:r>
              <a:rPr sz="1000" spc="1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0000"/>
                </a:solidFill>
                <a:latin typeface="Calibri"/>
                <a:cs typeface="Calibri"/>
              </a:rPr>
              <a:t>Inner</a:t>
            </a:r>
            <a:r>
              <a:rPr sz="1000" spc="1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0000"/>
                </a:solidFill>
                <a:latin typeface="Calibri"/>
                <a:cs typeface="Calibri"/>
              </a:rPr>
              <a:t>matrices</a:t>
            </a:r>
            <a:r>
              <a:rPr sz="1000" spc="1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Calibri"/>
                <a:cs typeface="Calibri"/>
              </a:rPr>
              <a:t>dimensions </a:t>
            </a:r>
            <a:r>
              <a:rPr sz="1000" dirty="0">
                <a:solidFill>
                  <a:srgbClr val="FF0000"/>
                </a:solidFill>
                <a:latin typeface="Calibri"/>
                <a:cs typeface="Calibri"/>
              </a:rPr>
              <a:t>must</a:t>
            </a:r>
            <a:r>
              <a:rPr sz="1000" spc="2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Calibri"/>
                <a:cs typeface="Calibri"/>
              </a:rPr>
              <a:t>agree.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000">
              <a:latin typeface="Calibri"/>
              <a:cs typeface="Calibri"/>
            </a:endParaRPr>
          </a:p>
          <a:p>
            <a:pPr marL="189230">
              <a:lnSpc>
                <a:spcPct val="100000"/>
              </a:lnSpc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M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Courier New"/>
                <a:cs typeface="Courier New"/>
              </a:rPr>
              <a:t>C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277095" y="1803984"/>
            <a:ext cx="2243455" cy="0"/>
          </a:xfrm>
          <a:custGeom>
            <a:avLst/>
            <a:gdLst/>
            <a:ahLst/>
            <a:cxnLst/>
            <a:rect l="l" t="t" r="r" b="b"/>
            <a:pathLst>
              <a:path w="2243454">
                <a:moveTo>
                  <a:pt x="0" y="0"/>
                </a:moveTo>
                <a:lnTo>
                  <a:pt x="2242908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264395" y="1846831"/>
            <a:ext cx="441325" cy="619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ans</a:t>
            </a: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 = </a:t>
            </a: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14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32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29413" y="2044697"/>
            <a:ext cx="191770" cy="4216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32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77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64395" y="2522215"/>
            <a:ext cx="2211070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15"/>
              </a:lnSpc>
            </a:pPr>
            <a:r>
              <a:rPr sz="1100" dirty="0">
                <a:solidFill>
                  <a:srgbClr val="EB801A"/>
                </a:solidFill>
                <a:latin typeface="Calibri"/>
                <a:cs typeface="Calibri"/>
              </a:rPr>
              <a:t>N.B.</a:t>
            </a:r>
            <a:r>
              <a:rPr sz="1100" spc="5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size(M)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2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3;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size(C)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3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Courier New"/>
                <a:cs typeface="Courier New"/>
              </a:rPr>
              <a:t>2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66659" y="1511348"/>
            <a:ext cx="28270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>
                <a:solidFill>
                  <a:srgbClr val="F9F9F9"/>
                </a:solidFill>
                <a:latin typeface="Lucida Sans Unicode"/>
                <a:cs typeface="Lucida Sans Unicode"/>
              </a:rPr>
              <a:t>Loops</a:t>
            </a:r>
            <a:r>
              <a:rPr sz="1400" spc="-45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9F9F9"/>
                </a:solidFill>
                <a:latin typeface="Lucida Sans Unicode"/>
                <a:cs typeface="Lucida Sans Unicode"/>
              </a:rPr>
              <a:t>and</a:t>
            </a:r>
            <a:r>
              <a:rPr sz="1400" spc="-45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9F9F9"/>
                </a:solidFill>
                <a:latin typeface="Lucida Sans Unicode"/>
                <a:cs typeface="Lucida Sans Unicode"/>
              </a:rPr>
              <a:t>conditional</a:t>
            </a:r>
            <a:r>
              <a:rPr sz="1400" spc="-45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9F9F9"/>
                </a:solidFill>
                <a:latin typeface="Lucida Sans Unicode"/>
                <a:cs typeface="Lucida Sans Unicode"/>
              </a:rPr>
              <a:t>statements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631" y="75410"/>
            <a:ext cx="5721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>
                <a:solidFill>
                  <a:srgbClr val="0000FF"/>
                </a:solidFill>
              </a:rPr>
              <a:t>for</a:t>
            </a:r>
            <a:r>
              <a:rPr spc="-45" dirty="0">
                <a:solidFill>
                  <a:srgbClr val="0000FF"/>
                </a:solidFill>
              </a:rPr>
              <a:t> </a:t>
            </a:r>
            <a:r>
              <a:rPr spc="-25" dirty="0"/>
              <a:t>loop</a:t>
            </a:r>
          </a:p>
        </p:txBody>
      </p:sp>
      <p:sp>
        <p:nvSpPr>
          <p:cNvPr id="3" name="object 3"/>
          <p:cNvSpPr/>
          <p:nvPr/>
        </p:nvSpPr>
        <p:spPr>
          <a:xfrm>
            <a:off x="637095" y="1020025"/>
            <a:ext cx="4763135" cy="0"/>
          </a:xfrm>
          <a:custGeom>
            <a:avLst/>
            <a:gdLst/>
            <a:ahLst/>
            <a:cxnLst/>
            <a:rect l="l" t="t" r="r" b="b"/>
            <a:pathLst>
              <a:path w="4763135">
                <a:moveTo>
                  <a:pt x="0" y="0"/>
                </a:moveTo>
                <a:lnTo>
                  <a:pt x="4762906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7357" y="685951"/>
            <a:ext cx="4445000" cy="524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90"/>
              </a:spcBef>
              <a:buFont typeface="Arial"/>
              <a:buChar char="►"/>
              <a:tabLst>
                <a:tab pos="1879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for</a:t>
            </a:r>
            <a:r>
              <a:rPr sz="1100" spc="10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loop</a:t>
            </a:r>
            <a:r>
              <a:rPr sz="11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repeats</a:t>
            </a:r>
            <a:r>
              <a:rPr sz="11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1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series</a:t>
            </a:r>
            <a:r>
              <a:rPr sz="11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instructions</a:t>
            </a:r>
            <a:r>
              <a:rPr sz="11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1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B801A"/>
                </a:solidFill>
                <a:latin typeface="Calibri"/>
                <a:cs typeface="Calibri"/>
              </a:rPr>
              <a:t>fixed</a:t>
            </a:r>
            <a:r>
              <a:rPr sz="1100" spc="204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B801A"/>
                </a:solidFill>
                <a:latin typeface="Calibri"/>
                <a:cs typeface="Calibri"/>
              </a:rPr>
              <a:t>number</a:t>
            </a:r>
            <a:r>
              <a:rPr sz="1100" spc="204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B801A"/>
                </a:solidFill>
                <a:latin typeface="Calibri"/>
                <a:cs typeface="Calibri"/>
              </a:rPr>
              <a:t>of</a:t>
            </a:r>
            <a:r>
              <a:rPr sz="1100" spc="204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B801A"/>
                </a:solidFill>
                <a:latin typeface="Calibri"/>
                <a:cs typeface="Calibri"/>
              </a:rPr>
              <a:t>times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100" dirty="0">
              <a:latin typeface="Calibri"/>
              <a:cs typeface="Calibri"/>
            </a:endParaRPr>
          </a:p>
          <a:p>
            <a:pPr marL="80010">
              <a:lnSpc>
                <a:spcPct val="100000"/>
              </a:lnSpc>
              <a:spcBef>
                <a:spcPts val="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i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: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10</a:t>
            </a:r>
            <a:r>
              <a:rPr lang="it-IT" sz="900" spc="-20" dirty="0">
                <a:solidFill>
                  <a:srgbClr val="666666"/>
                </a:solidFill>
                <a:latin typeface="Courier New"/>
                <a:cs typeface="Courier New"/>
              </a:rPr>
              <a:t> % </a:t>
            </a:r>
            <a:r>
              <a:rPr lang="it-IT" sz="900" spc="-20" dirty="0" err="1">
                <a:solidFill>
                  <a:srgbClr val="666666"/>
                </a:solidFill>
                <a:latin typeface="Courier New"/>
                <a:cs typeface="Courier New"/>
              </a:rPr>
              <a:t>equivalent</a:t>
            </a:r>
            <a:r>
              <a:rPr lang="it-IT" sz="900" spc="-20" dirty="0">
                <a:solidFill>
                  <a:srgbClr val="666666"/>
                </a:solidFill>
                <a:latin typeface="Courier New"/>
                <a:cs typeface="Courier New"/>
              </a:rPr>
              <a:t> to 1:1:10. </a:t>
            </a:r>
            <a:r>
              <a:rPr lang="it-IT" sz="900" spc="-20" dirty="0" err="1">
                <a:solidFill>
                  <a:srgbClr val="666666"/>
                </a:solidFill>
                <a:latin typeface="Courier New"/>
                <a:cs typeface="Courier New"/>
              </a:rPr>
              <a:t>Spacing</a:t>
            </a:r>
            <a:r>
              <a:rPr lang="it-IT" sz="900" spc="-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it-IT" sz="900" spc="-20" dirty="0" err="1">
                <a:solidFill>
                  <a:srgbClr val="666666"/>
                </a:solidFill>
                <a:latin typeface="Courier New"/>
                <a:cs typeface="Courier New"/>
              </a:rPr>
              <a:t>is</a:t>
            </a:r>
            <a:r>
              <a:rPr lang="it-IT" sz="900" spc="-20" dirty="0">
                <a:solidFill>
                  <a:srgbClr val="666666"/>
                </a:solidFill>
                <a:latin typeface="Courier New"/>
                <a:cs typeface="Courier New"/>
              </a:rPr>
              <a:t> one by default.</a:t>
            </a:r>
            <a:endParaRPr sz="9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7686" y="1208069"/>
            <a:ext cx="11188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paperino(i)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i;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4743" y="1225359"/>
            <a:ext cx="340360" cy="30543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2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3</a:t>
            </a:r>
            <a:r>
              <a:rPr sz="600" b="0" spc="28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25" dirty="0">
                <a:solidFill>
                  <a:srgbClr val="007F00"/>
                </a:solidFill>
                <a:latin typeface="Courier New"/>
                <a:cs typeface="Courier New"/>
              </a:rPr>
              <a:t>end</a:t>
            </a:r>
            <a:endParaRPr sz="900">
              <a:latin typeface="Courier New"/>
              <a:cs typeface="Courier New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37095" y="1570824"/>
          <a:ext cx="4763767" cy="1261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6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57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5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paperino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5725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5725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5725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paperino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paperino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paperino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paperino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10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144005" y="309725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7095" y="815378"/>
            <a:ext cx="4763135" cy="0"/>
          </a:xfrm>
          <a:custGeom>
            <a:avLst/>
            <a:gdLst/>
            <a:ahLst/>
            <a:cxnLst/>
            <a:rect l="l" t="t" r="r" b="b"/>
            <a:pathLst>
              <a:path w="4763135">
                <a:moveTo>
                  <a:pt x="0" y="0"/>
                </a:moveTo>
                <a:lnTo>
                  <a:pt x="4762906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47357" y="481303"/>
            <a:ext cx="4383405" cy="524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90"/>
              </a:spcBef>
              <a:buFont typeface="Arial"/>
              <a:buChar char="►"/>
              <a:tabLst>
                <a:tab pos="1879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index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for</a:t>
            </a:r>
            <a:r>
              <a:rPr sz="1100" spc="7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loop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can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be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changed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by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an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B801A"/>
                </a:solidFill>
                <a:latin typeface="Calibri"/>
                <a:cs typeface="Calibri"/>
              </a:rPr>
              <a:t>arbitrary</a:t>
            </a:r>
            <a:r>
              <a:rPr sz="1100" spc="18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B801A"/>
                </a:solidFill>
                <a:latin typeface="Calibri"/>
                <a:cs typeface="Calibri"/>
              </a:rPr>
              <a:t>increment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100">
              <a:latin typeface="Calibri"/>
              <a:cs typeface="Calibri"/>
            </a:endParaRPr>
          </a:p>
          <a:p>
            <a:pPr marL="80010">
              <a:lnSpc>
                <a:spcPct val="100000"/>
              </a:lnSpc>
              <a:spcBef>
                <a:spcPts val="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</a:t>
            </a:r>
            <a:r>
              <a:rPr sz="600" b="0" spc="30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for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i = 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10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: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7686" y="1003422"/>
            <a:ext cx="9137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pluto(i)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i;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4743" y="1020720"/>
            <a:ext cx="340360" cy="3048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2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3</a:t>
            </a:r>
            <a:r>
              <a:rPr sz="600" b="0" spc="28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25" dirty="0">
                <a:solidFill>
                  <a:srgbClr val="007F00"/>
                </a:solidFill>
                <a:latin typeface="Courier New"/>
                <a:cs typeface="Courier New"/>
              </a:rPr>
              <a:t>end</a:t>
            </a:r>
            <a:endParaRPr sz="9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37095" y="1366164"/>
          <a:ext cx="4764398" cy="1261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6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6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63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63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63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64350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75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pluto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5725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5725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5725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5725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5725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5725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5725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5725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5725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5725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5725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100" spc="-2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5725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pluto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pluto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pluto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pluto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74022" y="709293"/>
            <a:ext cx="1790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22373A"/>
                </a:solidFill>
                <a:latin typeface="Calibri"/>
                <a:cs typeface="Calibri"/>
              </a:rPr>
              <a:t>100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957" y="476413"/>
            <a:ext cx="2890520" cy="728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3360" indent="-175260">
              <a:lnSpc>
                <a:spcPct val="100000"/>
              </a:lnSpc>
              <a:spcBef>
                <a:spcPts val="90"/>
              </a:spcBef>
              <a:buFont typeface="Arial"/>
              <a:buChar char="►"/>
              <a:tabLst>
                <a:tab pos="213360" algn="l"/>
              </a:tabLst>
            </a:pP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Sum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first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hundred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natural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numbers.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Calibri"/>
              <a:cs typeface="Calibri"/>
            </a:endParaRPr>
          </a:p>
          <a:p>
            <a:pPr marL="2341245">
              <a:lnSpc>
                <a:spcPct val="100000"/>
              </a:lnSpc>
            </a:pPr>
            <a:r>
              <a:rPr sz="1650" spc="727" baseline="53030" dirty="0">
                <a:solidFill>
                  <a:srgbClr val="22373A"/>
                </a:solidFill>
                <a:latin typeface="Arial"/>
                <a:cs typeface="Arial"/>
              </a:rPr>
              <a:t>I:</a:t>
            </a:r>
            <a:r>
              <a:rPr sz="1650" spc="-187" baseline="530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i="1" spc="65" dirty="0">
                <a:solidFill>
                  <a:srgbClr val="22373A"/>
                </a:solidFill>
                <a:latin typeface="Century Gothic"/>
                <a:cs typeface="Century Gothic"/>
              </a:rPr>
              <a:t>i</a:t>
            </a:r>
            <a:r>
              <a:rPr sz="1100" i="1" spc="-5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Tahoma"/>
                <a:cs typeface="Tahoma"/>
              </a:rPr>
              <a:t>=?</a:t>
            </a:r>
            <a:r>
              <a:rPr sz="1100" i="1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364740">
              <a:lnSpc>
                <a:spcPct val="100000"/>
              </a:lnSpc>
              <a:spcBef>
                <a:spcPts val="360"/>
              </a:spcBef>
            </a:pPr>
            <a:r>
              <a:rPr sz="800" i="1" spc="-25" dirty="0">
                <a:solidFill>
                  <a:srgbClr val="22373A"/>
                </a:solidFill>
                <a:latin typeface="Century Gothic"/>
                <a:cs typeface="Century Gothic"/>
              </a:rPr>
              <a:t>i</a:t>
            </a:r>
            <a:r>
              <a:rPr sz="800" spc="-25" dirty="0">
                <a:solidFill>
                  <a:srgbClr val="22373A"/>
                </a:solidFill>
                <a:latin typeface="Verdana"/>
                <a:cs typeface="Verdana"/>
              </a:rPr>
              <a:t>=</a:t>
            </a:r>
            <a:r>
              <a:rPr sz="800" spc="-25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7357" y="1247253"/>
            <a:ext cx="1716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90"/>
              </a:spcBef>
              <a:buFont typeface="Arial"/>
              <a:buChar char="►"/>
              <a:tabLst>
                <a:tab pos="187960" algn="l"/>
              </a:tabLst>
            </a:pP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Sum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hundred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times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one.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83281" y="1384374"/>
            <a:ext cx="1790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22373A"/>
                </a:solidFill>
                <a:latin typeface="Calibri"/>
                <a:cs typeface="Calibri"/>
              </a:rPr>
              <a:t>100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34398" y="1456477"/>
            <a:ext cx="568325" cy="42354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90"/>
              </a:spcBef>
            </a:pPr>
            <a:r>
              <a:rPr sz="1650" spc="727" baseline="53030" dirty="0">
                <a:solidFill>
                  <a:srgbClr val="22373A"/>
                </a:solidFill>
                <a:latin typeface="Arial"/>
                <a:cs typeface="Arial"/>
              </a:rPr>
              <a:t>I:</a:t>
            </a:r>
            <a:r>
              <a:rPr sz="1650" spc="-187" baseline="530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100" spc="-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Tahoma"/>
                <a:cs typeface="Tahoma"/>
              </a:rPr>
              <a:t>=?</a:t>
            </a:r>
            <a:endParaRPr sz="1100">
              <a:latin typeface="Tahoma"/>
              <a:cs typeface="Tahoma"/>
            </a:endParaRPr>
          </a:p>
          <a:p>
            <a:pPr marL="61594">
              <a:lnSpc>
                <a:spcPct val="100000"/>
              </a:lnSpc>
              <a:spcBef>
                <a:spcPts val="365"/>
              </a:spcBef>
            </a:pPr>
            <a:r>
              <a:rPr sz="800" i="1" spc="-25" dirty="0">
                <a:solidFill>
                  <a:srgbClr val="22373A"/>
                </a:solidFill>
                <a:latin typeface="Century Gothic"/>
                <a:cs typeface="Century Gothic"/>
              </a:rPr>
              <a:t>i</a:t>
            </a:r>
            <a:r>
              <a:rPr sz="800" spc="-25" dirty="0">
                <a:solidFill>
                  <a:srgbClr val="22373A"/>
                </a:solidFill>
                <a:latin typeface="Verdana"/>
                <a:cs typeface="Verdana"/>
              </a:rPr>
              <a:t>=</a:t>
            </a:r>
            <a:r>
              <a:rPr sz="800" spc="-25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0004" y="2129510"/>
            <a:ext cx="2520315" cy="0"/>
          </a:xfrm>
          <a:custGeom>
            <a:avLst/>
            <a:gdLst/>
            <a:ahLst/>
            <a:cxnLst/>
            <a:rect l="l" t="t" r="r" b="b"/>
            <a:pathLst>
              <a:path w="2520315">
                <a:moveTo>
                  <a:pt x="0" y="0"/>
                </a:moveTo>
                <a:lnTo>
                  <a:pt x="2519997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7652" y="2134086"/>
            <a:ext cx="1023619" cy="3460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sum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0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2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i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100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0595" y="2477600"/>
            <a:ext cx="982344" cy="1506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sum</a:t>
            </a:r>
            <a:r>
              <a:rPr sz="900" spc="-1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sum</a:t>
            </a:r>
            <a:r>
              <a:rPr sz="900" spc="-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+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Courier New"/>
                <a:cs typeface="Courier New"/>
              </a:rPr>
              <a:t>i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endParaRPr sz="900" dirty="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652" y="2494889"/>
            <a:ext cx="340360" cy="30543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3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4</a:t>
            </a:r>
            <a:r>
              <a:rPr sz="600" b="0" spc="28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25" dirty="0">
                <a:solidFill>
                  <a:srgbClr val="007F00"/>
                </a:solidFill>
                <a:latin typeface="Courier New"/>
                <a:cs typeface="Courier New"/>
              </a:rPr>
              <a:t>end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652" y="2797716"/>
            <a:ext cx="8185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5</a:t>
            </a:r>
            <a:r>
              <a:rPr sz="600" b="0" spc="28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disp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sum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40004" y="3022955"/>
            <a:ext cx="2520315" cy="0"/>
          </a:xfrm>
          <a:custGeom>
            <a:avLst/>
            <a:gdLst/>
            <a:ahLst/>
            <a:cxnLst/>
            <a:rect l="l" t="t" r="r" b="b"/>
            <a:pathLst>
              <a:path w="2520315">
                <a:moveTo>
                  <a:pt x="0" y="0"/>
                </a:moveTo>
                <a:lnTo>
                  <a:pt x="2519997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99994" y="2129510"/>
            <a:ext cx="2520315" cy="0"/>
          </a:xfrm>
          <a:custGeom>
            <a:avLst/>
            <a:gdLst/>
            <a:ahLst/>
            <a:cxnLst/>
            <a:rect l="l" t="t" r="r" b="b"/>
            <a:pathLst>
              <a:path w="2520315">
                <a:moveTo>
                  <a:pt x="0" y="0"/>
                </a:moveTo>
                <a:lnTo>
                  <a:pt x="2519997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877654" y="2134086"/>
            <a:ext cx="1023619" cy="3460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sum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0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2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i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100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0597" y="2477600"/>
            <a:ext cx="982344" cy="1506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sum</a:t>
            </a:r>
            <a:r>
              <a:rPr sz="900" spc="-1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sum</a:t>
            </a:r>
            <a:r>
              <a:rPr sz="900" spc="-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+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b="1" spc="-25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endParaRPr sz="900" dirty="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77654" y="2494889"/>
            <a:ext cx="340360" cy="30543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3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4</a:t>
            </a:r>
            <a:r>
              <a:rPr sz="600" b="0" spc="28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25" dirty="0">
                <a:solidFill>
                  <a:srgbClr val="007F00"/>
                </a:solidFill>
                <a:latin typeface="Courier New"/>
                <a:cs typeface="Courier New"/>
              </a:rPr>
              <a:t>end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77654" y="2797716"/>
            <a:ext cx="8185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5</a:t>
            </a:r>
            <a:r>
              <a:rPr sz="600" b="0" spc="28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disp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sum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99994" y="3022955"/>
            <a:ext cx="2520315" cy="0"/>
          </a:xfrm>
          <a:custGeom>
            <a:avLst/>
            <a:gdLst/>
            <a:ahLst/>
            <a:cxnLst/>
            <a:rect l="l" t="t" r="r" b="b"/>
            <a:pathLst>
              <a:path w="2520315">
                <a:moveTo>
                  <a:pt x="0" y="0"/>
                </a:moveTo>
                <a:lnTo>
                  <a:pt x="2519997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631" y="75410"/>
            <a:ext cx="7410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>
                <a:solidFill>
                  <a:srgbClr val="0000FF"/>
                </a:solidFill>
              </a:rPr>
              <a:t>while</a:t>
            </a:r>
            <a:r>
              <a:rPr spc="-55" dirty="0">
                <a:solidFill>
                  <a:srgbClr val="0000FF"/>
                </a:solidFill>
              </a:rPr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1139101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7655" y="425358"/>
            <a:ext cx="5158740" cy="122428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97510" indent="-175260">
              <a:lnSpc>
                <a:spcPct val="100000"/>
              </a:lnSpc>
              <a:spcBef>
                <a:spcPts val="615"/>
              </a:spcBef>
              <a:buFont typeface="Arial"/>
              <a:buChar char="►"/>
              <a:tabLst>
                <a:tab pos="39751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while</a:t>
            </a:r>
            <a:r>
              <a:rPr sz="1100" spc="12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loop</a:t>
            </a:r>
            <a:r>
              <a:rPr sz="1100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repeats</a:t>
            </a:r>
            <a:r>
              <a:rPr sz="1100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100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series</a:t>
            </a:r>
            <a:r>
              <a:rPr sz="1100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instructions</a:t>
            </a:r>
            <a:r>
              <a:rPr sz="1100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it-IT" sz="1100" dirty="0" err="1">
                <a:solidFill>
                  <a:srgbClr val="EB801A"/>
                </a:solidFill>
                <a:latin typeface="Calibri"/>
                <a:cs typeface="Calibri"/>
              </a:rPr>
              <a:t>as</a:t>
            </a:r>
            <a:r>
              <a:rPr lang="it-IT" sz="1100" dirty="0">
                <a:solidFill>
                  <a:srgbClr val="EB801A"/>
                </a:solidFill>
                <a:latin typeface="Calibri"/>
                <a:cs typeface="Calibri"/>
              </a:rPr>
              <a:t> long </a:t>
            </a:r>
            <a:r>
              <a:rPr lang="it-IT" sz="1100" dirty="0" err="1">
                <a:solidFill>
                  <a:srgbClr val="EB801A"/>
                </a:solidFill>
                <a:latin typeface="Calibri"/>
                <a:cs typeface="Calibri"/>
              </a:rPr>
              <a:t>as</a:t>
            </a:r>
            <a:r>
              <a:rPr sz="1100" spc="22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EB801A"/>
                </a:solidFill>
                <a:latin typeface="Calibri"/>
                <a:cs typeface="Calibri"/>
              </a:rPr>
              <a:t>a</a:t>
            </a:r>
            <a:r>
              <a:rPr sz="1100" spc="22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B801A"/>
                </a:solidFill>
                <a:latin typeface="Calibri"/>
                <a:cs typeface="Calibri"/>
              </a:rPr>
              <a:t>condition</a:t>
            </a:r>
            <a:r>
              <a:rPr sz="1100" spc="22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EB801A"/>
                </a:solidFill>
                <a:latin typeface="Calibri"/>
                <a:cs typeface="Calibri"/>
              </a:rPr>
              <a:t>is</a:t>
            </a:r>
            <a:r>
              <a:rPr sz="1100" spc="22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B801A"/>
                </a:solidFill>
                <a:latin typeface="Calibri"/>
                <a:cs typeface="Calibri"/>
              </a:rPr>
              <a:t>TRUE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  <a:p>
            <a:pPr marL="397510" indent="-175260">
              <a:lnSpc>
                <a:spcPct val="100000"/>
              </a:lnSpc>
              <a:spcBef>
                <a:spcPts val="515"/>
              </a:spcBef>
              <a:buFont typeface="Arial"/>
              <a:buChar char="►"/>
              <a:tabLst>
                <a:tab pos="39751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N.B.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pay</a:t>
            </a:r>
            <a:r>
              <a:rPr sz="11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attention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with</a:t>
            </a:r>
            <a:r>
              <a:rPr sz="11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while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loop</a:t>
            </a:r>
            <a:r>
              <a:rPr sz="11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it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can</a:t>
            </a:r>
            <a:r>
              <a:rPr sz="11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run</a:t>
            </a:r>
            <a:r>
              <a:rPr sz="11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it-IT" sz="1100" dirty="0" err="1">
                <a:solidFill>
                  <a:srgbClr val="22373A"/>
                </a:solidFill>
                <a:latin typeface="Calibri"/>
                <a:cs typeface="Calibri"/>
              </a:rPr>
              <a:t>indefinitely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sz="11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B801A"/>
                </a:solidFill>
                <a:latin typeface="Calibri"/>
                <a:cs typeface="Calibri"/>
              </a:rPr>
              <a:t>handle</a:t>
            </a:r>
            <a:r>
              <a:rPr sz="1100" spc="19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B801A"/>
                </a:solidFill>
                <a:latin typeface="Calibri"/>
                <a:cs typeface="Calibri"/>
              </a:rPr>
              <a:t>with</a:t>
            </a:r>
            <a:r>
              <a:rPr sz="1100" spc="19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B801A"/>
                </a:solidFill>
                <a:latin typeface="Calibri"/>
                <a:cs typeface="Calibri"/>
              </a:rPr>
              <a:t>care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result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0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2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token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0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3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while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sum</a:t>
            </a:r>
            <a:r>
              <a:rPr sz="900" spc="-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325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endParaRPr sz="9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0598" y="1623838"/>
            <a:ext cx="166560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token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token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+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;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result</a:t>
            </a:r>
            <a:r>
              <a:rPr sz="900" spc="-1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result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+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token;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7655" y="1685206"/>
            <a:ext cx="340360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4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5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6</a:t>
            </a:r>
            <a:r>
              <a:rPr sz="600" b="0" spc="28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25" dirty="0">
                <a:solidFill>
                  <a:srgbClr val="007F00"/>
                </a:solidFill>
                <a:latin typeface="Courier New"/>
                <a:cs typeface="Courier New"/>
              </a:rPr>
              <a:t>end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9994" y="2512707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7655" y="2103999"/>
            <a:ext cx="3278504" cy="9525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7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disp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([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'Iteration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number: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'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num2str(token)]);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  <a:tabLst>
                <a:tab pos="1830070" algn="l"/>
              </a:tabLst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8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disp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([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'Sum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is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equal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BA2121"/>
                </a:solidFill>
                <a:latin typeface="Courier New"/>
                <a:cs typeface="Courier New"/>
              </a:rPr>
              <a:t>to: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	'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-1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num2str(result)]);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900">
              <a:latin typeface="Courier New"/>
              <a:cs typeface="Courier New"/>
            </a:endParaRPr>
          </a:p>
          <a:p>
            <a:pPr marL="121920" marR="1485265">
              <a:lnSpc>
                <a:spcPct val="118000"/>
              </a:lnSpc>
            </a:pP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Iteration</a:t>
            </a:r>
            <a:r>
              <a:rPr sz="1100" spc="-1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number:</a:t>
            </a:r>
            <a:r>
              <a:rPr sz="1100" spc="-114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25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Sum</a:t>
            </a:r>
            <a:r>
              <a:rPr sz="1100" spc="-5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is</a:t>
            </a:r>
            <a:r>
              <a:rPr sz="1100" spc="-5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equal</a:t>
            </a:r>
            <a:r>
              <a:rPr sz="1100" spc="-5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to:</a:t>
            </a:r>
            <a:r>
              <a:rPr sz="1100" spc="-5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325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22</a:t>
            </a: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>
                <a:solidFill>
                  <a:srgbClr val="0000FF"/>
                </a:solidFill>
              </a:rPr>
              <a:t>IF</a:t>
            </a:r>
            <a:r>
              <a:rPr spc="-55" dirty="0">
                <a:solidFill>
                  <a:srgbClr val="0000FF"/>
                </a:solidFill>
              </a:rPr>
              <a:t> </a:t>
            </a:r>
            <a:r>
              <a:rPr spc="-3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357" y="608544"/>
            <a:ext cx="49637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90"/>
              </a:spcBef>
              <a:buFont typeface="Arial"/>
              <a:buChar char="►"/>
              <a:tabLst>
                <a:tab pos="1879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Lucida Sans Unicode"/>
                <a:cs typeface="Lucida Sans Unicode"/>
              </a:rPr>
              <a:t>IF</a:t>
            </a:r>
            <a:r>
              <a:rPr sz="1100" spc="11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statement</a:t>
            </a:r>
            <a:r>
              <a:rPr sz="11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executes</a:t>
            </a:r>
            <a:r>
              <a:rPr sz="11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1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series</a:t>
            </a:r>
            <a:r>
              <a:rPr sz="11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instructions</a:t>
            </a:r>
            <a:r>
              <a:rPr sz="11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only</a:t>
            </a:r>
            <a:r>
              <a:rPr sz="11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Lucida Sans Unicode"/>
                <a:cs typeface="Lucida Sans Unicode"/>
              </a:rPr>
              <a:t>IF</a:t>
            </a:r>
            <a:r>
              <a:rPr sz="1100" spc="11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1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condition</a:t>
            </a:r>
            <a:r>
              <a:rPr sz="11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1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TRUE: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0004" y="1405902"/>
            <a:ext cx="2520315" cy="0"/>
          </a:xfrm>
          <a:custGeom>
            <a:avLst/>
            <a:gdLst/>
            <a:ahLst/>
            <a:cxnLst/>
            <a:rect l="l" t="t" r="r" b="b"/>
            <a:pathLst>
              <a:path w="2520315">
                <a:moveTo>
                  <a:pt x="0" y="0"/>
                </a:moveTo>
                <a:lnTo>
                  <a:pt x="2519997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7652" y="1433888"/>
            <a:ext cx="10922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</a:t>
            </a:r>
            <a:r>
              <a:rPr sz="600" b="0" spc="28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if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(condition)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652" y="1631904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2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0595" y="1593946"/>
            <a:ext cx="982344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instructions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652" y="1754004"/>
            <a:ext cx="13652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3</a:t>
            </a:r>
            <a:r>
              <a:rPr sz="600" b="0" spc="28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elseif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(condition)</a:t>
            </a:r>
            <a:endParaRPr sz="90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652" y="1952007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4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0595" y="1914050"/>
            <a:ext cx="982344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instructions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652" y="2074108"/>
            <a:ext cx="13652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5</a:t>
            </a:r>
            <a:r>
              <a:rPr sz="600" b="0" spc="28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elseif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(condition)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652" y="2272124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6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0595" y="2234166"/>
            <a:ext cx="982344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instructions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7652" y="2394211"/>
            <a:ext cx="4089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7</a:t>
            </a:r>
            <a:r>
              <a:rPr sz="600" b="0" spc="28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20" dirty="0">
                <a:solidFill>
                  <a:srgbClr val="007F00"/>
                </a:solidFill>
                <a:latin typeface="Courier New"/>
                <a:cs typeface="Courier New"/>
              </a:rPr>
              <a:t>else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0595" y="2554269"/>
            <a:ext cx="982344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instructions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7652" y="2571559"/>
            <a:ext cx="340360" cy="30543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8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9</a:t>
            </a:r>
            <a:r>
              <a:rPr sz="600" b="0" spc="28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25" dirty="0">
                <a:solidFill>
                  <a:srgbClr val="007F00"/>
                </a:solidFill>
                <a:latin typeface="Courier New"/>
                <a:cs typeface="Courier New"/>
              </a:rPr>
              <a:t>end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40004" y="2917024"/>
            <a:ext cx="2520315" cy="0"/>
          </a:xfrm>
          <a:custGeom>
            <a:avLst/>
            <a:gdLst/>
            <a:ahLst/>
            <a:cxnLst/>
            <a:rect l="l" t="t" r="r" b="b"/>
            <a:pathLst>
              <a:path w="2520315">
                <a:moveTo>
                  <a:pt x="0" y="0"/>
                </a:moveTo>
                <a:lnTo>
                  <a:pt x="2519997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987294" y="1120099"/>
            <a:ext cx="2064385" cy="619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8000"/>
              </a:lnSpc>
              <a:spcBef>
                <a:spcPts val="100"/>
              </a:spcBef>
            </a:pPr>
            <a:r>
              <a:rPr sz="1100" spc="-40" dirty="0">
                <a:solidFill>
                  <a:srgbClr val="006EB8"/>
                </a:solidFill>
                <a:latin typeface="Lucida Sans Unicode"/>
                <a:cs typeface="Lucida Sans Unicode"/>
              </a:rPr>
              <a:t>Example</a:t>
            </a:r>
            <a:r>
              <a:rPr sz="1100" spc="-40" dirty="0">
                <a:solidFill>
                  <a:srgbClr val="006EB8"/>
                </a:solidFill>
                <a:latin typeface="Calibri"/>
                <a:cs typeface="Calibri"/>
              </a:rPr>
              <a:t>:</a:t>
            </a:r>
            <a:r>
              <a:rPr sz="1100" spc="24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6EB8"/>
                </a:solidFill>
                <a:latin typeface="Calibri"/>
                <a:cs typeface="Calibri"/>
              </a:rPr>
              <a:t>Write</a:t>
            </a:r>
            <a:r>
              <a:rPr sz="1100" spc="12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006EB8"/>
                </a:solidFill>
                <a:latin typeface="Calibri"/>
                <a:cs typeface="Calibri"/>
              </a:rPr>
              <a:t>a</a:t>
            </a:r>
            <a:r>
              <a:rPr sz="1100" spc="12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6EB8"/>
                </a:solidFill>
                <a:latin typeface="Calibri"/>
                <a:cs typeface="Calibri"/>
              </a:rPr>
              <a:t>simple</a:t>
            </a:r>
            <a:r>
              <a:rPr sz="1100" spc="12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6EB8"/>
                </a:solidFill>
                <a:latin typeface="Calibri"/>
                <a:cs typeface="Calibri"/>
              </a:rPr>
              <a:t>script</a:t>
            </a:r>
            <a:r>
              <a:rPr sz="1100" spc="12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006EB8"/>
                </a:solidFill>
                <a:latin typeface="Calibri"/>
                <a:cs typeface="Calibri"/>
              </a:rPr>
              <a:t>to </a:t>
            </a:r>
            <a:r>
              <a:rPr sz="1100" spc="10" dirty="0">
                <a:solidFill>
                  <a:srgbClr val="006EB8"/>
                </a:solidFill>
                <a:latin typeface="Calibri"/>
                <a:cs typeface="Calibri"/>
              </a:rPr>
              <a:t>compute</a:t>
            </a:r>
            <a:r>
              <a:rPr sz="1100" spc="19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006EB8"/>
                </a:solidFill>
                <a:latin typeface="Calibri"/>
                <a:cs typeface="Calibri"/>
              </a:rPr>
              <a:t>the</a:t>
            </a:r>
            <a:r>
              <a:rPr sz="1100" spc="19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006EB8"/>
                </a:solidFill>
                <a:latin typeface="Calibri"/>
                <a:cs typeface="Calibri"/>
              </a:rPr>
              <a:t>absolute</a:t>
            </a:r>
            <a:r>
              <a:rPr sz="1100" spc="19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006EB8"/>
                </a:solidFill>
                <a:latin typeface="Calibri"/>
                <a:cs typeface="Calibri"/>
              </a:rPr>
              <a:t>value</a:t>
            </a:r>
            <a:r>
              <a:rPr sz="1100" spc="19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006EB8"/>
                </a:solidFill>
                <a:latin typeface="Calibri"/>
                <a:cs typeface="Calibri"/>
              </a:rPr>
              <a:t>of</a:t>
            </a:r>
            <a:r>
              <a:rPr sz="1100" spc="20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6EB8"/>
                </a:solidFill>
                <a:latin typeface="Calibri"/>
                <a:cs typeface="Calibri"/>
              </a:rPr>
              <a:t>a </a:t>
            </a:r>
            <a:r>
              <a:rPr sz="1100" spc="-10" dirty="0">
                <a:solidFill>
                  <a:srgbClr val="006EB8"/>
                </a:solidFill>
                <a:latin typeface="Calibri"/>
                <a:cs typeface="Calibri"/>
              </a:rPr>
              <a:t>number.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99994" y="1897837"/>
            <a:ext cx="2520315" cy="0"/>
          </a:xfrm>
          <a:custGeom>
            <a:avLst/>
            <a:gdLst/>
            <a:ahLst/>
            <a:cxnLst/>
            <a:rect l="l" t="t" r="r" b="b"/>
            <a:pathLst>
              <a:path w="2520315">
                <a:moveTo>
                  <a:pt x="0" y="0"/>
                </a:moveTo>
                <a:lnTo>
                  <a:pt x="2519997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877654" y="1902425"/>
            <a:ext cx="887094" cy="3460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x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35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2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if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(x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0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77654" y="2283884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3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60597" y="2245926"/>
            <a:ext cx="5721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abs</a:t>
            </a:r>
            <a:r>
              <a:rPr sz="900" spc="-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Courier New"/>
                <a:cs typeface="Courier New"/>
              </a:rPr>
              <a:t>x;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60597" y="2566030"/>
            <a:ext cx="6407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abs</a:t>
            </a:r>
            <a:r>
              <a:rPr sz="900" spc="-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 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x;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77654" y="2405984"/>
            <a:ext cx="40894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4</a:t>
            </a:r>
            <a:r>
              <a:rPr sz="600" b="0" spc="28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20" dirty="0">
                <a:solidFill>
                  <a:srgbClr val="007F00"/>
                </a:solidFill>
                <a:latin typeface="Courier New"/>
                <a:cs typeface="Courier New"/>
              </a:rPr>
              <a:t>else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5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6</a:t>
            </a:r>
            <a:r>
              <a:rPr sz="600" b="0" spc="28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25" dirty="0">
                <a:solidFill>
                  <a:srgbClr val="007F00"/>
                </a:solidFill>
                <a:latin typeface="Courier New"/>
                <a:cs typeface="Courier New"/>
              </a:rPr>
              <a:t>end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999994" y="2928784"/>
            <a:ext cx="2520315" cy="0"/>
          </a:xfrm>
          <a:custGeom>
            <a:avLst/>
            <a:gdLst/>
            <a:ahLst/>
            <a:cxnLst/>
            <a:rect l="l" t="t" r="r" b="b"/>
            <a:pathLst>
              <a:path w="2520315">
                <a:moveTo>
                  <a:pt x="0" y="0"/>
                </a:moveTo>
                <a:lnTo>
                  <a:pt x="2519997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Functions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8527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dirty="0"/>
              <a:t>In</a:t>
            </a:r>
            <a:r>
              <a:rPr spc="170" dirty="0"/>
              <a:t> </a:t>
            </a:r>
            <a:r>
              <a:rPr spc="-10" dirty="0"/>
              <a:t>MATLAB,</a:t>
            </a:r>
            <a:r>
              <a:rPr spc="170" dirty="0"/>
              <a:t> </a:t>
            </a:r>
            <a:r>
              <a:rPr spc="50" dirty="0"/>
              <a:t>a</a:t>
            </a:r>
            <a:r>
              <a:rPr spc="170" dirty="0"/>
              <a:t> </a:t>
            </a:r>
            <a:r>
              <a:rPr dirty="0">
                <a:solidFill>
                  <a:srgbClr val="EB801A"/>
                </a:solidFill>
              </a:rPr>
              <a:t>function</a:t>
            </a:r>
            <a:r>
              <a:rPr spc="170" dirty="0">
                <a:solidFill>
                  <a:srgbClr val="EB801A"/>
                </a:solidFill>
              </a:rPr>
              <a:t> </a:t>
            </a:r>
            <a:r>
              <a:rPr spc="55" dirty="0"/>
              <a:t>is</a:t>
            </a:r>
            <a:r>
              <a:rPr spc="170" dirty="0"/>
              <a:t> </a:t>
            </a:r>
            <a:r>
              <a:rPr spc="50" dirty="0"/>
              <a:t>a</a:t>
            </a:r>
            <a:r>
              <a:rPr spc="170" dirty="0"/>
              <a:t> </a:t>
            </a:r>
            <a:r>
              <a:rPr dirty="0"/>
              <a:t>block</a:t>
            </a:r>
            <a:r>
              <a:rPr spc="170" dirty="0"/>
              <a:t> </a:t>
            </a:r>
            <a:r>
              <a:rPr dirty="0"/>
              <a:t>of</a:t>
            </a:r>
            <a:r>
              <a:rPr spc="170" dirty="0"/>
              <a:t> </a:t>
            </a:r>
            <a:r>
              <a:rPr dirty="0"/>
              <a:t>code</a:t>
            </a:r>
            <a:r>
              <a:rPr spc="170" dirty="0"/>
              <a:t> </a:t>
            </a:r>
            <a:r>
              <a:rPr dirty="0"/>
              <a:t>that</a:t>
            </a:r>
            <a:r>
              <a:rPr spc="175" dirty="0"/>
              <a:t> </a:t>
            </a:r>
            <a:r>
              <a:rPr dirty="0"/>
              <a:t>takes</a:t>
            </a:r>
            <a:r>
              <a:rPr spc="170" dirty="0"/>
              <a:t> </a:t>
            </a:r>
            <a:r>
              <a:rPr dirty="0"/>
              <a:t>inputs,</a:t>
            </a:r>
            <a:r>
              <a:rPr spc="170" dirty="0"/>
              <a:t> </a:t>
            </a:r>
            <a:r>
              <a:rPr dirty="0"/>
              <a:t>performs</a:t>
            </a:r>
            <a:r>
              <a:rPr spc="170" dirty="0"/>
              <a:t> </a:t>
            </a:r>
            <a:r>
              <a:rPr spc="50" dirty="0"/>
              <a:t>a</a:t>
            </a:r>
            <a:r>
              <a:rPr spc="170" dirty="0"/>
              <a:t> </a:t>
            </a:r>
            <a:r>
              <a:rPr dirty="0"/>
              <a:t>set</a:t>
            </a:r>
            <a:r>
              <a:rPr spc="170" dirty="0"/>
              <a:t> </a:t>
            </a:r>
            <a:r>
              <a:rPr spc="-25" dirty="0"/>
              <a:t>of </a:t>
            </a:r>
            <a:r>
              <a:rPr spc="10" dirty="0"/>
              <a:t>operations,</a:t>
            </a:r>
            <a:r>
              <a:rPr spc="155" dirty="0"/>
              <a:t> </a:t>
            </a:r>
            <a:r>
              <a:rPr spc="55" dirty="0"/>
              <a:t>and</a:t>
            </a:r>
            <a:r>
              <a:rPr spc="155" dirty="0"/>
              <a:t> </a:t>
            </a:r>
            <a:r>
              <a:rPr spc="10" dirty="0"/>
              <a:t>returns</a:t>
            </a:r>
            <a:r>
              <a:rPr spc="150" dirty="0"/>
              <a:t> </a:t>
            </a:r>
            <a:r>
              <a:rPr spc="10" dirty="0"/>
              <a:t>outputs.</a:t>
            </a:r>
            <a:r>
              <a:rPr spc="310" dirty="0"/>
              <a:t> </a:t>
            </a:r>
            <a:r>
              <a:rPr spc="10" dirty="0"/>
              <a:t>Functions</a:t>
            </a:r>
            <a:r>
              <a:rPr spc="150" dirty="0"/>
              <a:t> </a:t>
            </a:r>
            <a:r>
              <a:rPr spc="10" dirty="0"/>
              <a:t>allow</a:t>
            </a:r>
            <a:r>
              <a:rPr spc="150" dirty="0"/>
              <a:t> </a:t>
            </a:r>
            <a:r>
              <a:rPr spc="10" dirty="0"/>
              <a:t>you</a:t>
            </a:r>
            <a:r>
              <a:rPr spc="160" dirty="0"/>
              <a:t> </a:t>
            </a:r>
            <a:r>
              <a:rPr spc="10" dirty="0"/>
              <a:t>to</a:t>
            </a:r>
            <a:r>
              <a:rPr spc="150" dirty="0"/>
              <a:t> </a:t>
            </a:r>
            <a:r>
              <a:rPr spc="10" dirty="0"/>
              <a:t>organize</a:t>
            </a:r>
            <a:r>
              <a:rPr spc="155" dirty="0"/>
              <a:t> </a:t>
            </a:r>
            <a:r>
              <a:rPr spc="10" dirty="0"/>
              <a:t>code</a:t>
            </a:r>
            <a:r>
              <a:rPr spc="155" dirty="0"/>
              <a:t> </a:t>
            </a:r>
            <a:r>
              <a:rPr spc="10" dirty="0"/>
              <a:t>in</a:t>
            </a:r>
            <a:r>
              <a:rPr spc="160" dirty="0"/>
              <a:t> </a:t>
            </a:r>
            <a:r>
              <a:rPr spc="50" dirty="0"/>
              <a:t>a</a:t>
            </a:r>
            <a:r>
              <a:rPr spc="155" dirty="0"/>
              <a:t> </a:t>
            </a:r>
            <a:r>
              <a:rPr spc="-10" dirty="0"/>
              <a:t>clearer </a:t>
            </a:r>
            <a:r>
              <a:rPr spc="55" dirty="0"/>
              <a:t>and</a:t>
            </a:r>
            <a:r>
              <a:rPr spc="200" dirty="0"/>
              <a:t> </a:t>
            </a:r>
            <a:r>
              <a:rPr dirty="0"/>
              <a:t>more</a:t>
            </a:r>
            <a:r>
              <a:rPr spc="204" dirty="0"/>
              <a:t> </a:t>
            </a:r>
            <a:r>
              <a:rPr dirty="0"/>
              <a:t>reusable</a:t>
            </a:r>
            <a:r>
              <a:rPr spc="204" dirty="0"/>
              <a:t> </a:t>
            </a:r>
            <a:r>
              <a:rPr dirty="0"/>
              <a:t>way,</a:t>
            </a:r>
            <a:r>
              <a:rPr spc="204" dirty="0"/>
              <a:t> </a:t>
            </a:r>
            <a:r>
              <a:rPr dirty="0"/>
              <a:t>especially</a:t>
            </a:r>
            <a:r>
              <a:rPr spc="200" dirty="0"/>
              <a:t> </a:t>
            </a:r>
            <a:r>
              <a:rPr dirty="0"/>
              <a:t>when</a:t>
            </a:r>
            <a:r>
              <a:rPr spc="204" dirty="0"/>
              <a:t> </a:t>
            </a:r>
            <a:r>
              <a:rPr dirty="0"/>
              <a:t>you</a:t>
            </a:r>
            <a:r>
              <a:rPr spc="204" dirty="0"/>
              <a:t> </a:t>
            </a:r>
            <a:r>
              <a:rPr dirty="0"/>
              <a:t>need</a:t>
            </a:r>
            <a:r>
              <a:rPr spc="204" dirty="0"/>
              <a:t> </a:t>
            </a:r>
            <a:r>
              <a:rPr dirty="0"/>
              <a:t>to</a:t>
            </a:r>
            <a:r>
              <a:rPr spc="204" dirty="0"/>
              <a:t> </a:t>
            </a:r>
            <a:r>
              <a:rPr dirty="0"/>
              <a:t>perform</a:t>
            </a:r>
            <a:r>
              <a:rPr spc="200" dirty="0"/>
              <a:t> </a:t>
            </a:r>
            <a:r>
              <a:rPr dirty="0"/>
              <a:t>the</a:t>
            </a:r>
            <a:r>
              <a:rPr spc="204" dirty="0"/>
              <a:t> </a:t>
            </a:r>
            <a:r>
              <a:rPr dirty="0"/>
              <a:t>same</a:t>
            </a:r>
            <a:r>
              <a:rPr spc="204" dirty="0"/>
              <a:t> </a:t>
            </a:r>
            <a:r>
              <a:rPr spc="-10" dirty="0"/>
              <a:t>operation </a:t>
            </a:r>
            <a:r>
              <a:rPr dirty="0"/>
              <a:t>in</a:t>
            </a:r>
            <a:r>
              <a:rPr spc="180" dirty="0"/>
              <a:t> </a:t>
            </a:r>
            <a:r>
              <a:rPr dirty="0"/>
              <a:t>different</a:t>
            </a:r>
            <a:r>
              <a:rPr spc="185" dirty="0"/>
              <a:t> </a:t>
            </a:r>
            <a:r>
              <a:rPr dirty="0"/>
              <a:t>parts</a:t>
            </a:r>
            <a:r>
              <a:rPr spc="185" dirty="0"/>
              <a:t> </a:t>
            </a:r>
            <a:r>
              <a:rPr dirty="0"/>
              <a:t>of</a:t>
            </a:r>
            <a:r>
              <a:rPr spc="185" dirty="0"/>
              <a:t> </a:t>
            </a:r>
            <a:r>
              <a:rPr dirty="0"/>
              <a:t>your</a:t>
            </a:r>
            <a:r>
              <a:rPr spc="185" dirty="0"/>
              <a:t> </a:t>
            </a:r>
            <a:r>
              <a:rPr spc="-10" dirty="0"/>
              <a:t>program.</a:t>
            </a: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pc="-50" dirty="0">
                <a:latin typeface="Lucida Sans Unicode"/>
                <a:cs typeface="Lucida Sans Unicode"/>
              </a:rPr>
              <a:t>Why</a:t>
            </a:r>
            <a:r>
              <a:rPr spc="-60" dirty="0">
                <a:latin typeface="Lucida Sans Unicode"/>
                <a:cs typeface="Lucida Sans Unicode"/>
              </a:rPr>
              <a:t> </a:t>
            </a:r>
            <a:r>
              <a:rPr spc="-65" dirty="0">
                <a:latin typeface="Lucida Sans Unicode"/>
                <a:cs typeface="Lucida Sans Unicode"/>
              </a:rPr>
              <a:t>using</a:t>
            </a:r>
            <a:r>
              <a:rPr spc="-60" dirty="0">
                <a:latin typeface="Lucida Sans Unicode"/>
                <a:cs typeface="Lucida Sans Unicode"/>
              </a:rPr>
              <a:t> </a:t>
            </a:r>
            <a:r>
              <a:rPr spc="-10" dirty="0">
                <a:latin typeface="Lucida Sans Unicode"/>
                <a:cs typeface="Lucida Sans Unicode"/>
              </a:rPr>
              <a:t>functions?</a:t>
            </a:r>
          </a:p>
          <a:p>
            <a:pPr marL="287655" marR="531495" indent="-175260">
              <a:lnSpc>
                <a:spcPct val="118000"/>
              </a:lnSpc>
              <a:spcBef>
                <a:spcPts val="844"/>
              </a:spcBef>
              <a:buFont typeface="Arial"/>
              <a:buChar char="►"/>
              <a:tabLst>
                <a:tab pos="289560" algn="l"/>
              </a:tabLst>
            </a:pPr>
            <a:r>
              <a:rPr spc="-40" dirty="0">
                <a:latin typeface="Lucida Sans Unicode"/>
                <a:cs typeface="Lucida Sans Unicode"/>
              </a:rPr>
              <a:t>Modularity</a:t>
            </a:r>
            <a:r>
              <a:rPr spc="-40" dirty="0"/>
              <a:t>:</a:t>
            </a:r>
            <a:r>
              <a:rPr spc="405" dirty="0"/>
              <a:t> </a:t>
            </a:r>
            <a:r>
              <a:rPr dirty="0"/>
              <a:t>Separating</a:t>
            </a:r>
            <a:r>
              <a:rPr spc="245" dirty="0"/>
              <a:t> </a:t>
            </a:r>
            <a:r>
              <a:rPr dirty="0"/>
              <a:t>code</a:t>
            </a:r>
            <a:r>
              <a:rPr spc="245" dirty="0"/>
              <a:t> </a:t>
            </a:r>
            <a:r>
              <a:rPr dirty="0"/>
              <a:t>into</a:t>
            </a:r>
            <a:r>
              <a:rPr spc="245" dirty="0"/>
              <a:t> </a:t>
            </a:r>
            <a:r>
              <a:rPr dirty="0"/>
              <a:t>functions</a:t>
            </a:r>
            <a:r>
              <a:rPr spc="245" dirty="0"/>
              <a:t> </a:t>
            </a:r>
            <a:r>
              <a:rPr dirty="0"/>
              <a:t>makes</a:t>
            </a:r>
            <a:r>
              <a:rPr spc="245" dirty="0"/>
              <a:t> </a:t>
            </a:r>
            <a:r>
              <a:rPr dirty="0"/>
              <a:t>the</a:t>
            </a:r>
            <a:r>
              <a:rPr spc="245" dirty="0"/>
              <a:t> </a:t>
            </a:r>
            <a:r>
              <a:rPr dirty="0"/>
              <a:t>program</a:t>
            </a:r>
            <a:r>
              <a:rPr spc="245" dirty="0"/>
              <a:t> </a:t>
            </a:r>
            <a:r>
              <a:rPr spc="-20" dirty="0"/>
              <a:t>more 	</a:t>
            </a:r>
            <a:r>
              <a:rPr spc="10" dirty="0"/>
              <a:t>readable</a:t>
            </a:r>
            <a:r>
              <a:rPr spc="160" dirty="0"/>
              <a:t> </a:t>
            </a:r>
            <a:r>
              <a:rPr spc="55" dirty="0"/>
              <a:t>and</a:t>
            </a:r>
            <a:r>
              <a:rPr spc="165" dirty="0"/>
              <a:t> </a:t>
            </a:r>
            <a:r>
              <a:rPr spc="10" dirty="0"/>
              <a:t>easier</a:t>
            </a:r>
            <a:r>
              <a:rPr spc="160" dirty="0"/>
              <a:t> </a:t>
            </a:r>
            <a:r>
              <a:rPr spc="10" dirty="0"/>
              <a:t>to</a:t>
            </a:r>
            <a:r>
              <a:rPr spc="165" dirty="0"/>
              <a:t> </a:t>
            </a:r>
            <a:r>
              <a:rPr spc="-10" dirty="0"/>
              <a:t>maintain.</a:t>
            </a:r>
          </a:p>
          <a:p>
            <a:pPr marL="287655" marR="421640" indent="-175260">
              <a:lnSpc>
                <a:spcPct val="118000"/>
              </a:lnSpc>
              <a:spcBef>
                <a:spcPts val="300"/>
              </a:spcBef>
              <a:buFont typeface="Arial"/>
              <a:buChar char="►"/>
              <a:tabLst>
                <a:tab pos="289560" algn="l"/>
              </a:tabLst>
            </a:pPr>
            <a:r>
              <a:rPr spc="-35" dirty="0">
                <a:latin typeface="Lucida Sans Unicode"/>
                <a:cs typeface="Lucida Sans Unicode"/>
              </a:rPr>
              <a:t>Reusability</a:t>
            </a:r>
            <a:r>
              <a:rPr spc="-35" dirty="0"/>
              <a:t>:</a:t>
            </a:r>
            <a:r>
              <a:rPr spc="315" dirty="0"/>
              <a:t> </a:t>
            </a:r>
            <a:r>
              <a:rPr dirty="0"/>
              <a:t>A</a:t>
            </a:r>
            <a:r>
              <a:rPr spc="175" dirty="0"/>
              <a:t> </a:t>
            </a:r>
            <a:r>
              <a:rPr dirty="0"/>
              <a:t>function</a:t>
            </a:r>
            <a:r>
              <a:rPr spc="180" dirty="0"/>
              <a:t> </a:t>
            </a:r>
            <a:r>
              <a:rPr dirty="0"/>
              <a:t>can</a:t>
            </a:r>
            <a:r>
              <a:rPr spc="175" dirty="0"/>
              <a:t> </a:t>
            </a:r>
            <a:r>
              <a:rPr dirty="0"/>
              <a:t>be</a:t>
            </a:r>
            <a:r>
              <a:rPr spc="175" dirty="0"/>
              <a:t> </a:t>
            </a:r>
            <a:r>
              <a:rPr dirty="0"/>
              <a:t>reused</a:t>
            </a:r>
            <a:r>
              <a:rPr spc="180" dirty="0"/>
              <a:t> </a:t>
            </a:r>
            <a:r>
              <a:rPr dirty="0"/>
              <a:t>in</a:t>
            </a:r>
            <a:r>
              <a:rPr spc="175" dirty="0"/>
              <a:t> </a:t>
            </a:r>
            <a:r>
              <a:rPr dirty="0"/>
              <a:t>different</a:t>
            </a:r>
            <a:r>
              <a:rPr spc="175" dirty="0"/>
              <a:t> </a:t>
            </a:r>
            <a:r>
              <a:rPr dirty="0"/>
              <a:t>parts</a:t>
            </a:r>
            <a:r>
              <a:rPr spc="180" dirty="0"/>
              <a:t> </a:t>
            </a:r>
            <a:r>
              <a:rPr dirty="0"/>
              <a:t>of</a:t>
            </a:r>
            <a:r>
              <a:rPr spc="175" dirty="0"/>
              <a:t> </a:t>
            </a:r>
            <a:r>
              <a:rPr dirty="0"/>
              <a:t>the</a:t>
            </a:r>
            <a:r>
              <a:rPr spc="175" dirty="0"/>
              <a:t> </a:t>
            </a:r>
            <a:r>
              <a:rPr spc="-10" dirty="0"/>
              <a:t>program 	</a:t>
            </a:r>
            <a:r>
              <a:rPr dirty="0"/>
              <a:t>without</a:t>
            </a:r>
            <a:r>
              <a:rPr spc="204" dirty="0"/>
              <a:t> </a:t>
            </a:r>
            <a:r>
              <a:rPr dirty="0"/>
              <a:t>rewriting</a:t>
            </a:r>
            <a:r>
              <a:rPr spc="210" dirty="0"/>
              <a:t> </a:t>
            </a:r>
            <a:r>
              <a:rPr dirty="0"/>
              <a:t>the</a:t>
            </a:r>
            <a:r>
              <a:rPr spc="204" dirty="0"/>
              <a:t> </a:t>
            </a:r>
            <a:r>
              <a:rPr spc="-20" dirty="0"/>
              <a:t>code.</a:t>
            </a:r>
          </a:p>
        </p:txBody>
      </p:sp>
      <p:sp>
        <p:nvSpPr>
          <p:cNvPr id="4" name="object 4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24</a:t>
            </a: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631" y="75410"/>
            <a:ext cx="4806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Syntax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915987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7655" y="943973"/>
            <a:ext cx="3619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function</a:t>
            </a:r>
            <a:r>
              <a:rPr sz="900" spc="-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0000FF"/>
                </a:solidFill>
                <a:latin typeface="Courier New"/>
                <a:cs typeface="Courier New"/>
              </a:rPr>
              <a:t>[y1,</a:t>
            </a:r>
            <a:r>
              <a:rPr sz="900" spc="-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0000FF"/>
                </a:solidFill>
                <a:latin typeface="Courier New"/>
                <a:cs typeface="Courier New"/>
              </a:rPr>
              <a:t>...,</a:t>
            </a:r>
            <a:r>
              <a:rPr sz="900" spc="-1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0000FF"/>
                </a:solidFill>
                <a:latin typeface="Courier New"/>
                <a:cs typeface="Courier New"/>
              </a:rPr>
              <a:t>yN]</a:t>
            </a:r>
            <a:r>
              <a:rPr sz="900" spc="-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0000FF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0000FF"/>
                </a:solidFill>
                <a:latin typeface="Courier New"/>
                <a:cs typeface="Courier New"/>
              </a:rPr>
              <a:t>function_name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(x1,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...,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xM)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655" y="1080633"/>
            <a:ext cx="887094" cy="13061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2</a:t>
            </a:r>
            <a:r>
              <a:rPr sz="600" b="0" spc="28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25" dirty="0">
                <a:solidFill>
                  <a:srgbClr val="3D7A7A"/>
                </a:solidFill>
                <a:latin typeface="Courier New"/>
                <a:cs typeface="Courier New"/>
              </a:rPr>
              <a:t>...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3</a:t>
            </a:r>
            <a:r>
              <a:rPr sz="600" b="0" spc="28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25" dirty="0">
                <a:solidFill>
                  <a:srgbClr val="3D7A7A"/>
                </a:solidFill>
                <a:latin typeface="Courier New"/>
                <a:cs typeface="Courier New"/>
              </a:rPr>
              <a:t>...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4</a:t>
            </a:r>
            <a:r>
              <a:rPr sz="600" b="0" spc="28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25" dirty="0">
                <a:solidFill>
                  <a:srgbClr val="3D7A7A"/>
                </a:solidFill>
                <a:latin typeface="Courier New"/>
                <a:cs typeface="Courier New"/>
              </a:rPr>
              <a:t>...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5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Some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20" dirty="0">
                <a:solidFill>
                  <a:srgbClr val="3D7A7A"/>
                </a:solidFill>
                <a:latin typeface="Courier New"/>
                <a:cs typeface="Courier New"/>
              </a:rPr>
              <a:t>code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6</a:t>
            </a:r>
            <a:r>
              <a:rPr sz="600" b="0" spc="28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25" dirty="0">
                <a:solidFill>
                  <a:srgbClr val="3D7A7A"/>
                </a:solidFill>
                <a:latin typeface="Courier New"/>
                <a:cs typeface="Courier New"/>
              </a:rPr>
              <a:t>...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7</a:t>
            </a:r>
            <a:r>
              <a:rPr sz="600" b="0" spc="28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25" dirty="0">
                <a:solidFill>
                  <a:srgbClr val="3D7A7A"/>
                </a:solidFill>
                <a:latin typeface="Courier New"/>
                <a:cs typeface="Courier New"/>
              </a:rPr>
              <a:t>...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8</a:t>
            </a:r>
            <a:r>
              <a:rPr sz="600" b="0" spc="28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25" dirty="0">
                <a:solidFill>
                  <a:srgbClr val="3D7A7A"/>
                </a:solidFill>
                <a:latin typeface="Courier New"/>
                <a:cs typeface="Courier New"/>
              </a:rPr>
              <a:t>...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9</a:t>
            </a:r>
            <a:r>
              <a:rPr sz="600" b="0" spc="28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25" dirty="0">
                <a:solidFill>
                  <a:srgbClr val="007F00"/>
                </a:solidFill>
                <a:latin typeface="Courier New"/>
                <a:cs typeface="Courier New"/>
              </a:rPr>
              <a:t>end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9994" y="2427109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12743" y="1252265"/>
            <a:ext cx="8070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7457A4"/>
                </a:solidFill>
                <a:latin typeface="Calibri"/>
                <a:cs typeface="Calibri"/>
              </a:rPr>
              <a:t>Input</a:t>
            </a:r>
            <a:r>
              <a:rPr sz="900" spc="200" dirty="0">
                <a:solidFill>
                  <a:srgbClr val="7457A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7457A4"/>
                </a:solidFill>
                <a:latin typeface="Calibri"/>
                <a:cs typeface="Calibri"/>
              </a:rPr>
              <a:t>variables.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378929" y="1112095"/>
            <a:ext cx="1179195" cy="322580"/>
            <a:chOff x="3378929" y="1112095"/>
            <a:chExt cx="1179195" cy="322580"/>
          </a:xfrm>
        </p:grpSpPr>
        <p:sp>
          <p:nvSpPr>
            <p:cNvPr id="9" name="object 9"/>
            <p:cNvSpPr/>
            <p:nvPr/>
          </p:nvSpPr>
          <p:spPr>
            <a:xfrm>
              <a:off x="3399173" y="1137400"/>
              <a:ext cx="1156335" cy="294640"/>
            </a:xfrm>
            <a:custGeom>
              <a:avLst/>
              <a:gdLst/>
              <a:ahLst/>
              <a:cxnLst/>
              <a:rect l="l" t="t" r="r" b="b"/>
              <a:pathLst>
                <a:path w="1156335" h="294640">
                  <a:moveTo>
                    <a:pt x="0" y="0"/>
                  </a:moveTo>
                  <a:lnTo>
                    <a:pt x="0" y="294445"/>
                  </a:lnTo>
                  <a:lnTo>
                    <a:pt x="1156308" y="294445"/>
                  </a:lnTo>
                </a:path>
              </a:pathLst>
            </a:custGeom>
            <a:ln w="5060">
              <a:solidFill>
                <a:srgbClr val="623F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78929" y="1112095"/>
              <a:ext cx="40640" cy="40640"/>
            </a:xfrm>
            <a:custGeom>
              <a:avLst/>
              <a:gdLst/>
              <a:ahLst/>
              <a:cxnLst/>
              <a:rect l="l" t="t" r="r" b="b"/>
              <a:pathLst>
                <a:path w="40639" h="40640">
                  <a:moveTo>
                    <a:pt x="0" y="40487"/>
                  </a:moveTo>
                  <a:lnTo>
                    <a:pt x="20243" y="25305"/>
                  </a:lnTo>
                  <a:lnTo>
                    <a:pt x="40487" y="40487"/>
                  </a:lnTo>
                  <a:lnTo>
                    <a:pt x="20243" y="0"/>
                  </a:lnTo>
                  <a:lnTo>
                    <a:pt x="0" y="40487"/>
                  </a:lnTo>
                  <a:close/>
                </a:path>
              </a:pathLst>
            </a:custGeom>
            <a:solidFill>
              <a:srgbClr val="623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658275" y="1538016"/>
            <a:ext cx="18719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F05779"/>
                </a:solidFill>
                <a:latin typeface="Calibri"/>
                <a:cs typeface="Calibri"/>
              </a:rPr>
              <a:t>Name</a:t>
            </a:r>
            <a:r>
              <a:rPr sz="900" spc="175" dirty="0">
                <a:solidFill>
                  <a:srgbClr val="F0577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05779"/>
                </a:solidFill>
                <a:latin typeface="Calibri"/>
                <a:cs typeface="Calibri"/>
              </a:rPr>
              <a:t>of</a:t>
            </a:r>
            <a:r>
              <a:rPr sz="900" spc="175" dirty="0">
                <a:solidFill>
                  <a:srgbClr val="F0577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05779"/>
                </a:solidFill>
                <a:latin typeface="Calibri"/>
                <a:cs typeface="Calibri"/>
              </a:rPr>
              <a:t>the</a:t>
            </a:r>
            <a:r>
              <a:rPr sz="900" spc="180" dirty="0">
                <a:solidFill>
                  <a:srgbClr val="F0577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05779"/>
                </a:solidFill>
                <a:latin typeface="Calibri"/>
                <a:cs typeface="Calibri"/>
              </a:rPr>
              <a:t>function</a:t>
            </a:r>
            <a:r>
              <a:rPr sz="900" spc="175" dirty="0">
                <a:solidFill>
                  <a:srgbClr val="F0577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05779"/>
                </a:solidFill>
                <a:latin typeface="Calibri"/>
                <a:cs typeface="Calibri"/>
              </a:rPr>
              <a:t>(user</a:t>
            </a:r>
            <a:r>
              <a:rPr sz="900" spc="180" dirty="0">
                <a:solidFill>
                  <a:srgbClr val="F05779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05779"/>
                </a:solidFill>
                <a:latin typeface="Calibri"/>
                <a:cs typeface="Calibri"/>
              </a:rPr>
              <a:t>defined).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90709" y="1112095"/>
            <a:ext cx="2077720" cy="600710"/>
            <a:chOff x="2490709" y="1112095"/>
            <a:chExt cx="2077720" cy="600710"/>
          </a:xfrm>
        </p:grpSpPr>
        <p:sp>
          <p:nvSpPr>
            <p:cNvPr id="13" name="object 13"/>
            <p:cNvSpPr/>
            <p:nvPr/>
          </p:nvSpPr>
          <p:spPr>
            <a:xfrm>
              <a:off x="2510953" y="1137400"/>
              <a:ext cx="2055495" cy="572770"/>
            </a:xfrm>
            <a:custGeom>
              <a:avLst/>
              <a:gdLst/>
              <a:ahLst/>
              <a:cxnLst/>
              <a:rect l="l" t="t" r="r" b="b"/>
              <a:pathLst>
                <a:path w="2055495" h="572769">
                  <a:moveTo>
                    <a:pt x="0" y="0"/>
                  </a:moveTo>
                  <a:lnTo>
                    <a:pt x="0" y="572450"/>
                  </a:lnTo>
                  <a:lnTo>
                    <a:pt x="2054892" y="572450"/>
                  </a:lnTo>
                </a:path>
              </a:pathLst>
            </a:custGeom>
            <a:ln w="5060">
              <a:solidFill>
                <a:srgbClr val="EE2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90709" y="1112095"/>
              <a:ext cx="40640" cy="40640"/>
            </a:xfrm>
            <a:custGeom>
              <a:avLst/>
              <a:gdLst/>
              <a:ahLst/>
              <a:cxnLst/>
              <a:rect l="l" t="t" r="r" b="b"/>
              <a:pathLst>
                <a:path w="40639" h="40640">
                  <a:moveTo>
                    <a:pt x="0" y="40487"/>
                  </a:moveTo>
                  <a:lnTo>
                    <a:pt x="20243" y="25305"/>
                  </a:lnTo>
                  <a:lnTo>
                    <a:pt x="40487" y="40487"/>
                  </a:lnTo>
                  <a:lnTo>
                    <a:pt x="20243" y="0"/>
                  </a:lnTo>
                  <a:lnTo>
                    <a:pt x="0" y="40487"/>
                  </a:lnTo>
                  <a:close/>
                </a:path>
              </a:pathLst>
            </a:custGeom>
            <a:solidFill>
              <a:srgbClr val="EE28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050008" y="1811230"/>
            <a:ext cx="23882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20" dirty="0">
                <a:solidFill>
                  <a:srgbClr val="568D47"/>
                </a:solidFill>
                <a:latin typeface="Calibri"/>
                <a:cs typeface="Calibri"/>
              </a:rPr>
              <a:t>Output</a:t>
            </a:r>
            <a:r>
              <a:rPr sz="900" spc="130" dirty="0">
                <a:solidFill>
                  <a:srgbClr val="568D47"/>
                </a:solidFill>
                <a:latin typeface="Calibri"/>
                <a:cs typeface="Calibri"/>
              </a:rPr>
              <a:t> </a:t>
            </a:r>
            <a:r>
              <a:rPr sz="900" spc="20" dirty="0">
                <a:solidFill>
                  <a:srgbClr val="568D47"/>
                </a:solidFill>
                <a:latin typeface="Calibri"/>
                <a:cs typeface="Calibri"/>
              </a:rPr>
              <a:t>variables</a:t>
            </a:r>
            <a:r>
              <a:rPr sz="900" spc="130" dirty="0">
                <a:solidFill>
                  <a:srgbClr val="568D47"/>
                </a:solidFill>
                <a:latin typeface="Calibri"/>
                <a:cs typeface="Calibri"/>
              </a:rPr>
              <a:t> </a:t>
            </a:r>
            <a:r>
              <a:rPr sz="900" spc="20" dirty="0">
                <a:solidFill>
                  <a:srgbClr val="568D47"/>
                </a:solidFill>
                <a:latin typeface="Calibri"/>
                <a:cs typeface="Calibri"/>
              </a:rPr>
              <a:t>(parenthesis</a:t>
            </a:r>
            <a:r>
              <a:rPr sz="900" spc="130" dirty="0">
                <a:solidFill>
                  <a:srgbClr val="568D47"/>
                </a:solidFill>
                <a:latin typeface="Calibri"/>
                <a:cs typeface="Calibri"/>
              </a:rPr>
              <a:t> </a:t>
            </a:r>
            <a:r>
              <a:rPr sz="900" spc="20" dirty="0">
                <a:solidFill>
                  <a:srgbClr val="568D47"/>
                </a:solidFill>
                <a:latin typeface="Calibri"/>
                <a:cs typeface="Calibri"/>
              </a:rPr>
              <a:t>can</a:t>
            </a:r>
            <a:r>
              <a:rPr sz="900" spc="130" dirty="0">
                <a:solidFill>
                  <a:srgbClr val="568D47"/>
                </a:solidFill>
                <a:latin typeface="Calibri"/>
                <a:cs typeface="Calibri"/>
              </a:rPr>
              <a:t> </a:t>
            </a:r>
            <a:r>
              <a:rPr sz="900" spc="20" dirty="0">
                <a:solidFill>
                  <a:srgbClr val="568D47"/>
                </a:solidFill>
                <a:latin typeface="Calibri"/>
                <a:cs typeface="Calibri"/>
              </a:rPr>
              <a:t>be</a:t>
            </a:r>
            <a:r>
              <a:rPr sz="900" spc="130" dirty="0">
                <a:solidFill>
                  <a:srgbClr val="568D4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568D47"/>
                </a:solidFill>
                <a:latin typeface="Calibri"/>
                <a:cs typeface="Calibri"/>
              </a:rPr>
              <a:t>omitted).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397516" y="1112095"/>
            <a:ext cx="3079750" cy="881380"/>
            <a:chOff x="1397516" y="1112095"/>
            <a:chExt cx="3079750" cy="881380"/>
          </a:xfrm>
        </p:grpSpPr>
        <p:sp>
          <p:nvSpPr>
            <p:cNvPr id="17" name="object 17"/>
            <p:cNvSpPr/>
            <p:nvPr/>
          </p:nvSpPr>
          <p:spPr>
            <a:xfrm>
              <a:off x="1417760" y="1137400"/>
              <a:ext cx="3056890" cy="853440"/>
            </a:xfrm>
            <a:custGeom>
              <a:avLst/>
              <a:gdLst/>
              <a:ahLst/>
              <a:cxnLst/>
              <a:rect l="l" t="t" r="r" b="b"/>
              <a:pathLst>
                <a:path w="3056890" h="853439">
                  <a:moveTo>
                    <a:pt x="0" y="0"/>
                  </a:moveTo>
                  <a:lnTo>
                    <a:pt x="0" y="853417"/>
                  </a:lnTo>
                  <a:lnTo>
                    <a:pt x="3056455" y="853417"/>
                  </a:lnTo>
                </a:path>
              </a:pathLst>
            </a:custGeom>
            <a:ln w="5060">
              <a:solidFill>
                <a:srgbClr val="3C7F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97516" y="1112095"/>
              <a:ext cx="40640" cy="40640"/>
            </a:xfrm>
            <a:custGeom>
              <a:avLst/>
              <a:gdLst/>
              <a:ahLst/>
              <a:cxnLst/>
              <a:rect l="l" t="t" r="r" b="b"/>
              <a:pathLst>
                <a:path w="40640" h="40640">
                  <a:moveTo>
                    <a:pt x="0" y="40487"/>
                  </a:moveTo>
                  <a:lnTo>
                    <a:pt x="20243" y="25305"/>
                  </a:lnTo>
                  <a:lnTo>
                    <a:pt x="40487" y="40487"/>
                  </a:lnTo>
                  <a:lnTo>
                    <a:pt x="20243" y="0"/>
                  </a:lnTo>
                  <a:lnTo>
                    <a:pt x="0" y="40487"/>
                  </a:lnTo>
                  <a:close/>
                </a:path>
              </a:pathLst>
            </a:custGeom>
            <a:solidFill>
              <a:srgbClr val="3C7F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25</a:t>
            </a: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80" dirty="0"/>
              <a:t>The</a:t>
            </a:r>
            <a:r>
              <a:rPr spc="-30" dirty="0"/>
              <a:t> </a:t>
            </a:r>
            <a:r>
              <a:rPr spc="-35" dirty="0"/>
              <a:t>Babylonian</a:t>
            </a:r>
            <a:r>
              <a:rPr spc="-25" dirty="0"/>
              <a:t> </a:t>
            </a:r>
            <a:r>
              <a:rPr spc="-4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94" y="553031"/>
            <a:ext cx="5116830" cy="924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18000"/>
              </a:lnSpc>
              <a:spcBef>
                <a:spcPts val="100"/>
              </a:spcBef>
            </a:pP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Let’s</a:t>
            </a:r>
            <a:r>
              <a:rPr sz="1100" spc="13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write</a:t>
            </a:r>
            <a:r>
              <a:rPr sz="1100" spc="13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006EB8"/>
                </a:solidFill>
                <a:latin typeface="Calibri"/>
                <a:cs typeface="Calibri"/>
              </a:rPr>
              <a:t>a</a:t>
            </a:r>
            <a:r>
              <a:rPr sz="1100" spc="13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script</a:t>
            </a:r>
            <a:r>
              <a:rPr sz="1100" spc="13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implementing</a:t>
            </a:r>
            <a:r>
              <a:rPr sz="1100" spc="13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the</a:t>
            </a:r>
            <a:r>
              <a:rPr sz="1100" spc="14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Babylonian</a:t>
            </a:r>
            <a:r>
              <a:rPr sz="1100" spc="13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method</a:t>
            </a:r>
            <a:r>
              <a:rPr sz="1100" spc="13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to</a:t>
            </a:r>
            <a:r>
              <a:rPr sz="1100" spc="13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compute</a:t>
            </a:r>
            <a:r>
              <a:rPr sz="1100" spc="13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the</a:t>
            </a:r>
            <a:r>
              <a:rPr sz="1100" spc="14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6EB8"/>
                </a:solidFill>
                <a:latin typeface="Calibri"/>
                <a:cs typeface="Calibri"/>
              </a:rPr>
              <a:t>square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root</a:t>
            </a:r>
            <a:r>
              <a:rPr sz="1100" spc="7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of</a:t>
            </a:r>
            <a:r>
              <a:rPr sz="1100" spc="8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006EB8"/>
                </a:solidFill>
                <a:latin typeface="Calibri"/>
                <a:cs typeface="Calibri"/>
              </a:rPr>
              <a:t>a</a:t>
            </a:r>
            <a:r>
              <a:rPr sz="1100" spc="7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number</a:t>
            </a:r>
            <a:r>
              <a:rPr sz="1100" spc="8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with</a:t>
            </a:r>
            <a:r>
              <a:rPr sz="1100" spc="7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006EB8"/>
                </a:solidFill>
                <a:latin typeface="Calibri"/>
                <a:cs typeface="Calibri"/>
              </a:rPr>
              <a:t>a</a:t>
            </a:r>
            <a:r>
              <a:rPr sz="1100" spc="8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precision</a:t>
            </a:r>
            <a:r>
              <a:rPr sz="1100" spc="7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of</a:t>
            </a:r>
            <a:r>
              <a:rPr sz="1100" spc="8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four</a:t>
            </a:r>
            <a:r>
              <a:rPr sz="1100" spc="7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006EB8"/>
                </a:solidFill>
                <a:latin typeface="Calibri"/>
                <a:cs typeface="Calibri"/>
              </a:rPr>
              <a:t>decimal</a:t>
            </a:r>
            <a:r>
              <a:rPr sz="1100" spc="8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figures,</a:t>
            </a:r>
            <a:r>
              <a:rPr sz="1100" spc="8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then</a:t>
            </a:r>
            <a:r>
              <a:rPr sz="1100" spc="8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wrap</a:t>
            </a:r>
            <a:r>
              <a:rPr sz="1100" spc="7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this</a:t>
            </a:r>
            <a:r>
              <a:rPr sz="1100" spc="8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code</a:t>
            </a:r>
            <a:r>
              <a:rPr sz="1100" spc="7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006EB8"/>
                </a:solidFill>
                <a:latin typeface="Calibri"/>
                <a:cs typeface="Calibri"/>
              </a:rPr>
              <a:t>into </a:t>
            </a:r>
            <a:r>
              <a:rPr sz="1100" spc="50" dirty="0">
                <a:solidFill>
                  <a:srgbClr val="006EB8"/>
                </a:solidFill>
                <a:latin typeface="Calibri"/>
                <a:cs typeface="Calibri"/>
              </a:rPr>
              <a:t>a</a:t>
            </a:r>
            <a:r>
              <a:rPr sz="1100" spc="5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6EB8"/>
                </a:solidFill>
                <a:latin typeface="Calibri"/>
                <a:cs typeface="Calibri"/>
              </a:rPr>
              <a:t>function.</a:t>
            </a:r>
            <a:endParaRPr sz="1100" dirty="0">
              <a:latin typeface="Calibri"/>
              <a:cs typeface="Calibri"/>
            </a:endParaRPr>
          </a:p>
          <a:p>
            <a:pPr marL="159385">
              <a:lnSpc>
                <a:spcPct val="100000"/>
              </a:lnSpc>
              <a:spcBef>
                <a:spcPts val="1085"/>
              </a:spcBef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1.</a:t>
            </a:r>
            <a:r>
              <a:rPr sz="1100" spc="4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65" dirty="0">
                <a:solidFill>
                  <a:srgbClr val="22373A"/>
                </a:solidFill>
                <a:latin typeface="Lucida Sans Unicode"/>
                <a:cs typeface="Lucida Sans Unicode"/>
              </a:rPr>
              <a:t>Make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Lucida Sans Unicode"/>
                <a:cs typeface="Lucida Sans Unicode"/>
              </a:rPr>
              <a:t>an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Initial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guess</a:t>
            </a: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sz="1100" spc="2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Guess</a:t>
            </a:r>
            <a:r>
              <a:rPr sz="11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any</a:t>
            </a:r>
            <a:r>
              <a:rPr sz="11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positive</a:t>
            </a:r>
            <a:r>
              <a:rPr sz="11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number</a:t>
            </a:r>
            <a:r>
              <a:rPr sz="11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-25" dirty="0">
                <a:solidFill>
                  <a:srgbClr val="22373A"/>
                </a:solidFill>
                <a:latin typeface="Century Gothic"/>
                <a:cs typeface="Century Gothic"/>
              </a:rPr>
              <a:t>x</a:t>
            </a:r>
            <a:r>
              <a:rPr sz="1200" spc="-37" baseline="-10416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4670" y="1568550"/>
            <a:ext cx="31502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2.</a:t>
            </a:r>
            <a:r>
              <a:rPr sz="1100" spc="3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Improve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 the </a:t>
            </a:r>
            <a:r>
              <a:rPr sz="1100" spc="-55" dirty="0">
                <a:solidFill>
                  <a:srgbClr val="22373A"/>
                </a:solidFill>
                <a:latin typeface="Lucida Sans Unicode"/>
                <a:cs typeface="Lucida Sans Unicode"/>
              </a:rPr>
              <a:t>first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guess</a:t>
            </a: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sz="11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Apply</a:t>
            </a:r>
            <a:r>
              <a:rPr sz="1100" spc="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formula</a:t>
            </a:r>
            <a:r>
              <a:rPr sz="1100" spc="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x</a:t>
            </a:r>
            <a:r>
              <a:rPr sz="1200" baseline="-10416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200" spc="292" baseline="-10416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Tahoma"/>
                <a:cs typeface="Tahoma"/>
              </a:rPr>
              <a:t>=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62387" y="1455837"/>
            <a:ext cx="3314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baseline="-24305" dirty="0">
                <a:solidFill>
                  <a:srgbClr val="22373A"/>
                </a:solidFill>
                <a:latin typeface="Century Gothic"/>
                <a:cs typeface="Century Gothic"/>
              </a:rPr>
              <a:t>x</a:t>
            </a:r>
            <a:r>
              <a:rPr sz="900" baseline="-41666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200" baseline="-24305" dirty="0">
                <a:solidFill>
                  <a:srgbClr val="22373A"/>
                </a:solidFill>
                <a:latin typeface="Verdana"/>
                <a:cs typeface="Verdana"/>
              </a:rPr>
              <a:t>+</a:t>
            </a:r>
            <a:r>
              <a:rPr sz="1200" spc="-217" baseline="-24305" dirty="0">
                <a:solidFill>
                  <a:srgbClr val="22373A"/>
                </a:solidFill>
                <a:latin typeface="Verdana"/>
                <a:cs typeface="Verdana"/>
              </a:rPr>
              <a:t> </a:t>
            </a:r>
            <a:r>
              <a:rPr sz="600" i="1" u="sng" spc="3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Century Gothic"/>
                <a:cs typeface="Century Gothic"/>
              </a:rPr>
              <a:t> </a:t>
            </a:r>
            <a:r>
              <a:rPr sz="600" i="1" u="sng" spc="-5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Century Gothic"/>
                <a:cs typeface="Century Gothic"/>
              </a:rPr>
              <a:t>S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00487" y="1685150"/>
            <a:ext cx="291465" cy="0"/>
          </a:xfrm>
          <a:custGeom>
            <a:avLst/>
            <a:gdLst/>
            <a:ahLst/>
            <a:cxnLst/>
            <a:rect l="l" t="t" r="r" b="b"/>
            <a:pathLst>
              <a:path w="291464">
                <a:moveTo>
                  <a:pt x="0" y="0"/>
                </a:moveTo>
                <a:lnTo>
                  <a:pt x="291122" y="0"/>
                </a:lnTo>
              </a:path>
            </a:pathLst>
          </a:custGeom>
          <a:ln w="5537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683698" y="1562219"/>
            <a:ext cx="1487805" cy="198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9855">
              <a:lnSpc>
                <a:spcPts val="380"/>
              </a:lnSpc>
              <a:spcBef>
                <a:spcPts val="95"/>
              </a:spcBef>
            </a:pPr>
            <a:r>
              <a:rPr sz="600" i="1" spc="-25" dirty="0">
                <a:solidFill>
                  <a:srgbClr val="22373A"/>
                </a:solidFill>
                <a:latin typeface="Century Gothic"/>
                <a:cs typeface="Century Gothic"/>
              </a:rPr>
              <a:t>x</a:t>
            </a:r>
            <a:r>
              <a:rPr sz="900" spc="-37" baseline="-18518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endParaRPr sz="900" baseline="-18518">
              <a:latin typeface="Calibri"/>
              <a:cs typeface="Calibri"/>
            </a:endParaRPr>
          </a:p>
          <a:p>
            <a:pPr marL="38100">
              <a:lnSpc>
                <a:spcPts val="980"/>
              </a:lnSpc>
              <a:tabLst>
                <a:tab pos="222885" algn="l"/>
              </a:tabLst>
            </a:pPr>
            <a:r>
              <a:rPr sz="1200" spc="-75" baseline="-27777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1200" baseline="-27777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sz="11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number</a:t>
            </a:r>
            <a:r>
              <a:rPr sz="11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x</a:t>
            </a:r>
            <a:r>
              <a:rPr sz="1200" baseline="-10416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200" spc="300" baseline="-10416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1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endParaRPr sz="11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/>
              <p:cNvSpPr txBox="1"/>
              <p:nvPr/>
            </p:nvSpPr>
            <p:spPr>
              <a:xfrm>
                <a:off x="598995" y="1766429"/>
                <a:ext cx="1805305" cy="196657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0"/>
                  </a:spcBef>
                </a:pPr>
                <a:r>
                  <a:rPr lang="it-IT" sz="1100" spc="20" dirty="0">
                    <a:solidFill>
                      <a:srgbClr val="22373A"/>
                    </a:solidFill>
                    <a:latin typeface="Calibri"/>
                    <a:cs typeface="Calibri"/>
                  </a:rPr>
                  <a:t>better</a:t>
                </a:r>
                <a:r>
                  <a:rPr lang="it-IT" sz="1100" spc="135" dirty="0">
                    <a:solidFill>
                      <a:srgbClr val="22373A"/>
                    </a:solidFill>
                    <a:latin typeface="Calibri"/>
                    <a:cs typeface="Calibri"/>
                  </a:rPr>
                  <a:t> </a:t>
                </a:r>
                <a:r>
                  <a:rPr lang="it-IT" sz="1100" spc="20" dirty="0">
                    <a:solidFill>
                      <a:srgbClr val="22373A"/>
                    </a:solidFill>
                    <a:latin typeface="Calibri"/>
                    <a:cs typeface="Calibri"/>
                  </a:rPr>
                  <a:t>approximation</a:t>
                </a:r>
                <a:r>
                  <a:rPr lang="it-IT" sz="1100" spc="135" dirty="0">
                    <a:solidFill>
                      <a:srgbClr val="22373A"/>
                    </a:solidFill>
                    <a:latin typeface="Calibri"/>
                    <a:cs typeface="Calibri"/>
                  </a:rPr>
                  <a:t> </a:t>
                </a:r>
                <a:r>
                  <a:rPr lang="it-IT" sz="1100" spc="20" dirty="0">
                    <a:solidFill>
                      <a:srgbClr val="22373A"/>
                    </a:solidFill>
                    <a:latin typeface="Calibri"/>
                    <a:cs typeface="Calibri"/>
                  </a:rPr>
                  <a:t>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it-IT" sz="1100" b="0" i="1" spc="20" smtClean="0">
                            <a:solidFill>
                              <a:srgbClr val="22373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radPr>
                      <m:deg/>
                      <m:e>
                        <m:r>
                          <a:rPr lang="it-IT" sz="1100" b="0" i="1" spc="20" smtClean="0">
                            <a:solidFill>
                              <a:srgbClr val="22373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𝑆</m:t>
                        </m:r>
                      </m:e>
                    </m:rad>
                  </m:oMath>
                </a14:m>
                <a:r>
                  <a:rPr lang="it-IT" sz="1100" spc="135" dirty="0">
                    <a:solidFill>
                      <a:srgbClr val="22373A"/>
                    </a:solidFill>
                    <a:latin typeface="Calibri"/>
                    <a:cs typeface="Calibri"/>
                  </a:rPr>
                  <a:t> </a:t>
                </a:r>
                <a:endParaRPr sz="11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95" y="1766429"/>
                <a:ext cx="1805305" cy="196657"/>
              </a:xfrm>
              <a:prstGeom prst="rect">
                <a:avLst/>
              </a:prstGeom>
              <a:blipFill>
                <a:blip r:embed="rId2"/>
                <a:stretch>
                  <a:fillRect l="-2703" t="-12500" b="-4375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bject 10"/>
          <p:cNvSpPr txBox="1"/>
          <p:nvPr/>
        </p:nvSpPr>
        <p:spPr>
          <a:xfrm>
            <a:off x="3836593" y="1989644"/>
            <a:ext cx="3346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baseline="6944" dirty="0">
                <a:solidFill>
                  <a:srgbClr val="22373A"/>
                </a:solidFill>
                <a:latin typeface="Century Gothic"/>
                <a:cs typeface="Century Gothic"/>
              </a:rPr>
              <a:t>x</a:t>
            </a:r>
            <a:r>
              <a:rPr sz="600" i="1" dirty="0">
                <a:solidFill>
                  <a:srgbClr val="22373A"/>
                </a:solidFill>
                <a:latin typeface="Century Gothic"/>
                <a:cs typeface="Century Gothic"/>
              </a:rPr>
              <a:t>n</a:t>
            </a:r>
            <a:r>
              <a:rPr sz="1200" baseline="6944" dirty="0">
                <a:solidFill>
                  <a:srgbClr val="22373A"/>
                </a:solidFill>
                <a:latin typeface="Verdana"/>
                <a:cs typeface="Verdana"/>
              </a:rPr>
              <a:t>+</a:t>
            </a:r>
            <a:r>
              <a:rPr sz="1200" spc="-247" baseline="6944" dirty="0">
                <a:solidFill>
                  <a:srgbClr val="22373A"/>
                </a:solidFill>
                <a:latin typeface="Verdana"/>
                <a:cs typeface="Verdana"/>
              </a:rPr>
              <a:t> </a:t>
            </a:r>
            <a:r>
              <a:rPr sz="900" i="1" u="sng" spc="22" baseline="41666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Century Gothic"/>
                <a:cs typeface="Century Gothic"/>
              </a:rPr>
              <a:t> </a:t>
            </a:r>
            <a:r>
              <a:rPr sz="900" i="1" u="sng" spc="-75" baseline="41666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Century Gothic"/>
                <a:cs typeface="Century Gothic"/>
              </a:rPr>
              <a:t>S</a:t>
            </a:r>
            <a:endParaRPr sz="900" baseline="41666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74693" y="2153310"/>
            <a:ext cx="295910" cy="0"/>
          </a:xfrm>
          <a:custGeom>
            <a:avLst/>
            <a:gdLst/>
            <a:ahLst/>
            <a:cxnLst/>
            <a:rect l="l" t="t" r="r" b="b"/>
            <a:pathLst>
              <a:path w="295910">
                <a:moveTo>
                  <a:pt x="0" y="0"/>
                </a:moveTo>
                <a:lnTo>
                  <a:pt x="295833" y="0"/>
                </a:lnTo>
              </a:path>
            </a:pathLst>
          </a:custGeom>
          <a:ln w="5537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33705" y="2005073"/>
            <a:ext cx="435483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marR="30480" indent="-165735">
              <a:lnSpc>
                <a:spcPct val="118000"/>
              </a:lnSpc>
              <a:spcBef>
                <a:spcPts val="100"/>
              </a:spcBef>
              <a:tabLst>
                <a:tab pos="3564254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3.</a:t>
            </a:r>
            <a:r>
              <a:rPr sz="1100" spc="3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Iterate</a:t>
            </a:r>
            <a:r>
              <a:rPr sz="11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until</a:t>
            </a:r>
            <a:r>
              <a:rPr sz="11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convergence</a:t>
            </a: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sz="11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Apply</a:t>
            </a:r>
            <a:r>
              <a:rPr sz="11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formula</a:t>
            </a:r>
            <a:r>
              <a:rPr sz="11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22373A"/>
                </a:solidFill>
                <a:latin typeface="Century Gothic"/>
                <a:cs typeface="Century Gothic"/>
              </a:rPr>
              <a:t>x</a:t>
            </a:r>
            <a:r>
              <a:rPr sz="1200" i="1" spc="-15" baseline="-10416" dirty="0">
                <a:solidFill>
                  <a:srgbClr val="22373A"/>
                </a:solidFill>
                <a:latin typeface="Century Gothic"/>
                <a:cs typeface="Century Gothic"/>
              </a:rPr>
              <a:t>n</a:t>
            </a:r>
            <a:r>
              <a:rPr sz="1200" spc="-15" baseline="-10416" dirty="0">
                <a:solidFill>
                  <a:srgbClr val="22373A"/>
                </a:solidFill>
                <a:latin typeface="Verdana"/>
                <a:cs typeface="Verdana"/>
              </a:rPr>
              <a:t>+</a:t>
            </a:r>
            <a:r>
              <a:rPr sz="1200" spc="-15" baseline="-10416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200" spc="307" baseline="-10416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Tahoma"/>
                <a:cs typeface="Tahoma"/>
              </a:rPr>
              <a:t>=</a:t>
            </a:r>
            <a:r>
              <a:rPr sz="1100" dirty="0">
                <a:solidFill>
                  <a:srgbClr val="22373A"/>
                </a:solidFill>
                <a:latin typeface="Tahoma"/>
                <a:cs typeface="Tahoma"/>
              </a:rPr>
              <a:t>	</a:t>
            </a:r>
            <a:r>
              <a:rPr sz="1200" baseline="-27777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1200" spc="37" baseline="-27777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i="1" baseline="41666" dirty="0">
                <a:solidFill>
                  <a:srgbClr val="22373A"/>
                </a:solidFill>
                <a:latin typeface="Century Gothic"/>
                <a:cs typeface="Century Gothic"/>
              </a:rPr>
              <a:t>x</a:t>
            </a:r>
            <a:r>
              <a:rPr sz="900" i="1" baseline="32407" dirty="0">
                <a:solidFill>
                  <a:srgbClr val="22373A"/>
                </a:solidFill>
                <a:latin typeface="Century Gothic"/>
                <a:cs typeface="Century Gothic"/>
              </a:rPr>
              <a:t>n</a:t>
            </a:r>
            <a:r>
              <a:rPr sz="900" i="1" spc="254" baseline="32407" dirty="0">
                <a:solidFill>
                  <a:srgbClr val="22373A"/>
                </a:solidFill>
                <a:latin typeface="Century Gothic"/>
                <a:cs typeface="Century Gothic"/>
              </a:rPr>
              <a:t> 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until</a:t>
            </a:r>
            <a:r>
              <a:rPr sz="11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the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convergence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reached.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1894" y="2508056"/>
            <a:ext cx="504571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18000"/>
              </a:lnSpc>
              <a:spcBef>
                <a:spcPts val="100"/>
              </a:spcBef>
            </a:pPr>
            <a:r>
              <a:rPr sz="1100" spc="-65" dirty="0">
                <a:solidFill>
                  <a:srgbClr val="22373A"/>
                </a:solidFill>
                <a:latin typeface="Lucida Sans Unicode"/>
                <a:cs typeface="Lucida Sans Unicode"/>
              </a:rPr>
              <a:t>Convergence</a:t>
            </a:r>
            <a:r>
              <a:rPr sz="1100" spc="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reached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when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digits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22373A"/>
                </a:solidFill>
                <a:latin typeface="Century Gothic"/>
                <a:cs typeface="Century Gothic"/>
              </a:rPr>
              <a:t>x</a:t>
            </a:r>
            <a:r>
              <a:rPr sz="1200" i="1" spc="-15" baseline="-10416" dirty="0">
                <a:solidFill>
                  <a:srgbClr val="22373A"/>
                </a:solidFill>
                <a:latin typeface="Century Gothic"/>
                <a:cs typeface="Century Gothic"/>
              </a:rPr>
              <a:t>n</a:t>
            </a:r>
            <a:r>
              <a:rPr sz="1200" spc="-15" baseline="-10416" dirty="0">
                <a:solidFill>
                  <a:srgbClr val="22373A"/>
                </a:solidFill>
                <a:latin typeface="Verdana"/>
                <a:cs typeface="Verdana"/>
              </a:rPr>
              <a:t>+</a:t>
            </a:r>
            <a:r>
              <a:rPr sz="1200" spc="-15" baseline="-10416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200" spc="367" baseline="-10416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x</a:t>
            </a:r>
            <a:r>
              <a:rPr sz="1200" i="1" baseline="-10416" dirty="0">
                <a:solidFill>
                  <a:srgbClr val="22373A"/>
                </a:solidFill>
                <a:latin typeface="Century Gothic"/>
                <a:cs typeface="Century Gothic"/>
              </a:rPr>
              <a:t>n</a:t>
            </a:r>
            <a:r>
              <a:rPr sz="1200" i="1" spc="330" baseline="-10416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agree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22373A"/>
                </a:solidFill>
                <a:latin typeface="Calibri"/>
                <a:cs typeface="Calibri"/>
              </a:rPr>
              <a:t>as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many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decimal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places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22373A"/>
                </a:solidFill>
                <a:latin typeface="Calibri"/>
                <a:cs typeface="Calibri"/>
              </a:rPr>
              <a:t>as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you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desire.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Implementation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49490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7655" y="677476"/>
            <a:ext cx="3004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function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SquareRoot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0000FF"/>
                </a:solidFill>
                <a:latin typeface="Courier New"/>
                <a:cs typeface="Courier New"/>
              </a:rPr>
              <a:t>ComputeSquareRoot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(S)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0598" y="814137"/>
            <a:ext cx="3481502" cy="501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92810">
              <a:lnSpc>
                <a:spcPct val="116700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iter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0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br>
              <a:rPr lang="it-IT" sz="900" spc="-25" dirty="0">
                <a:solidFill>
                  <a:srgbClr val="22373A"/>
                </a:solidFill>
                <a:latin typeface="Courier New"/>
                <a:cs typeface="Courier New"/>
              </a:rPr>
            </a:b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x0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Courier New"/>
                <a:cs typeface="Courier New"/>
              </a:rPr>
              <a:t>S;</a:t>
            </a:r>
            <a:r>
              <a:rPr lang="it-IT" sz="900" spc="-35" dirty="0">
                <a:solidFill>
                  <a:srgbClr val="22373A"/>
                </a:solidFill>
                <a:latin typeface="Courier New"/>
                <a:cs typeface="Courier New"/>
              </a:rPr>
              <a:t> % Use S </a:t>
            </a:r>
            <a:r>
              <a:rPr lang="it-IT" sz="900" spc="-35" dirty="0" err="1">
                <a:solidFill>
                  <a:srgbClr val="22373A"/>
                </a:solidFill>
                <a:latin typeface="Courier New"/>
                <a:cs typeface="Courier New"/>
              </a:rPr>
              <a:t>as</a:t>
            </a:r>
            <a:r>
              <a:rPr lang="it-IT" sz="900" spc="-3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lang="it-IT" sz="900" spc="-35" dirty="0" err="1">
                <a:solidFill>
                  <a:srgbClr val="22373A"/>
                </a:solidFill>
                <a:latin typeface="Courier New"/>
                <a:cs typeface="Courier New"/>
              </a:rPr>
              <a:t>guess</a:t>
            </a:r>
            <a:r>
              <a:rPr lang="it-IT" sz="900" spc="-35" dirty="0">
                <a:solidFill>
                  <a:srgbClr val="22373A"/>
                </a:solidFill>
                <a:latin typeface="Courier New"/>
                <a:cs typeface="Courier New"/>
              </a:rPr>
              <a:t> for the </a:t>
            </a:r>
            <a:r>
              <a:rPr lang="it-IT" sz="900" spc="-35" dirty="0" err="1">
                <a:solidFill>
                  <a:srgbClr val="22373A"/>
                </a:solidFill>
                <a:latin typeface="Courier New"/>
                <a:cs typeface="Courier New"/>
              </a:rPr>
              <a:t>problem</a:t>
            </a: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y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0.5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(x0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+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S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/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x0);</a:t>
            </a:r>
            <a:endParaRPr sz="9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0598" y="1454331"/>
            <a:ext cx="2416810" cy="826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marR="5080" indent="-273685">
              <a:lnSpc>
                <a:spcPct val="116700"/>
              </a:lnSpc>
              <a:spcBef>
                <a:spcPts val="100"/>
              </a:spcBef>
            </a:pP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while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 abs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(x0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y)</a:t>
            </a:r>
            <a:r>
              <a:rPr sz="900" spc="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sz="900" spc="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1e-4</a:t>
            </a:r>
            <a:r>
              <a:rPr sz="900" spc="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&amp;&amp;</a:t>
            </a:r>
            <a:r>
              <a:rPr sz="900" spc="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iter</a:t>
            </a:r>
            <a:r>
              <a:rPr sz="900" spc="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sz="900" spc="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50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x0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y;</a:t>
            </a:r>
            <a:endParaRPr sz="900" dirty="0">
              <a:latin typeface="Courier New"/>
              <a:cs typeface="Courier New"/>
            </a:endParaRPr>
          </a:p>
          <a:p>
            <a:pPr marL="285750" marR="619760">
              <a:lnSpc>
                <a:spcPct val="116700"/>
              </a:lnSpc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y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0.5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(x0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+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S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/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x0);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iter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iter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+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900" spc="-25" dirty="0">
                <a:solidFill>
                  <a:srgbClr val="007F00"/>
                </a:solidFill>
                <a:latin typeface="Courier New"/>
                <a:cs typeface="Courier New"/>
              </a:rPr>
              <a:t>end</a:t>
            </a:r>
            <a:endParaRPr sz="9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1274" y="875492"/>
            <a:ext cx="118745" cy="1877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2</a:t>
            </a:r>
            <a:endParaRPr sz="600">
              <a:latin typeface="Bookman Old Style"/>
              <a:cs typeface="Bookman Old Style"/>
            </a:endParaRPr>
          </a:p>
          <a:p>
            <a:pPr marL="59055">
              <a:lnSpc>
                <a:spcPct val="100000"/>
              </a:lnSpc>
              <a:spcBef>
                <a:spcPts val="540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3</a:t>
            </a:r>
            <a:endParaRPr sz="600">
              <a:latin typeface="Bookman Old Style"/>
              <a:cs typeface="Bookman Old Style"/>
            </a:endParaRPr>
          </a:p>
          <a:p>
            <a:pPr marL="59055">
              <a:lnSpc>
                <a:spcPct val="100000"/>
              </a:lnSpc>
              <a:spcBef>
                <a:spcPts val="540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4</a:t>
            </a:r>
            <a:endParaRPr sz="600">
              <a:latin typeface="Bookman Old Style"/>
              <a:cs typeface="Bookman Old Style"/>
            </a:endParaRPr>
          </a:p>
          <a:p>
            <a:pPr marL="59055">
              <a:lnSpc>
                <a:spcPct val="100000"/>
              </a:lnSpc>
              <a:spcBef>
                <a:spcPts val="540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5</a:t>
            </a:r>
            <a:endParaRPr sz="600">
              <a:latin typeface="Bookman Old Style"/>
              <a:cs typeface="Bookman Old Style"/>
            </a:endParaRPr>
          </a:p>
          <a:p>
            <a:pPr marL="59055">
              <a:lnSpc>
                <a:spcPct val="100000"/>
              </a:lnSpc>
              <a:spcBef>
                <a:spcPts val="540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6</a:t>
            </a:r>
            <a:endParaRPr sz="600">
              <a:latin typeface="Bookman Old Style"/>
              <a:cs typeface="Bookman Old Style"/>
            </a:endParaRPr>
          </a:p>
          <a:p>
            <a:pPr marL="59055">
              <a:lnSpc>
                <a:spcPct val="100000"/>
              </a:lnSpc>
              <a:spcBef>
                <a:spcPts val="545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7</a:t>
            </a:r>
            <a:endParaRPr sz="600">
              <a:latin typeface="Bookman Old Style"/>
              <a:cs typeface="Bookman Old Style"/>
            </a:endParaRPr>
          </a:p>
          <a:p>
            <a:pPr marL="59055">
              <a:lnSpc>
                <a:spcPct val="100000"/>
              </a:lnSpc>
              <a:spcBef>
                <a:spcPts val="540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8</a:t>
            </a:r>
            <a:endParaRPr sz="600">
              <a:latin typeface="Bookman Old Style"/>
              <a:cs typeface="Bookman Old Style"/>
            </a:endParaRPr>
          </a:p>
          <a:p>
            <a:pPr marL="59055">
              <a:lnSpc>
                <a:spcPct val="100000"/>
              </a:lnSpc>
              <a:spcBef>
                <a:spcPts val="540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9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10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11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12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13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0598" y="2414654"/>
            <a:ext cx="460311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disp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([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'Number</a:t>
            </a:r>
            <a:r>
              <a:rPr sz="900" spc="-5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of</a:t>
            </a:r>
            <a:r>
              <a:rPr sz="900" spc="-5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iteration</a:t>
            </a:r>
            <a:r>
              <a:rPr sz="900" spc="-5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to</a:t>
            </a:r>
            <a:r>
              <a:rPr sz="900" spc="-5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reach</a:t>
            </a:r>
            <a:r>
              <a:rPr sz="900" spc="-5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convergence:</a:t>
            </a:r>
            <a:r>
              <a:rPr sz="900" spc="-5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'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num2str(iter)])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SquareRoot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y;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9994" y="2960763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4005" y="309786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1274" y="2752487"/>
            <a:ext cx="386715" cy="1854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14</a:t>
            </a:r>
            <a:r>
              <a:rPr sz="600" b="0" spc="27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25" dirty="0">
                <a:solidFill>
                  <a:srgbClr val="007F00"/>
                </a:solidFill>
                <a:latin typeface="Courier New"/>
                <a:cs typeface="Courier New"/>
              </a:rPr>
              <a:t>end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Introduction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100" dirty="0"/>
              <a:t> </a:t>
            </a:r>
            <a:r>
              <a:rPr spc="-10" dirty="0"/>
              <a:t>Matlab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18005" y="1511348"/>
            <a:ext cx="232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75" dirty="0">
                <a:solidFill>
                  <a:srgbClr val="F9F9F9"/>
                </a:solidFill>
                <a:latin typeface="Lucida Sans Unicode"/>
                <a:cs typeface="Lucida Sans Unicode"/>
              </a:rPr>
              <a:t>Thank</a:t>
            </a:r>
            <a:r>
              <a:rPr sz="1400" spc="-55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9F9F9"/>
                </a:solidFill>
                <a:latin typeface="Lucida Sans Unicode"/>
                <a:cs typeface="Lucida Sans Unicode"/>
              </a:rPr>
              <a:t>you</a:t>
            </a:r>
            <a:r>
              <a:rPr sz="1400" spc="-55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F9F9F9"/>
                </a:solidFill>
                <a:latin typeface="Lucida Sans Unicode"/>
                <a:cs typeface="Lucida Sans Unicode"/>
              </a:rPr>
              <a:t>for</a:t>
            </a:r>
            <a:r>
              <a:rPr sz="1400" spc="-55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9F9F9"/>
                </a:solidFill>
                <a:latin typeface="Lucida Sans Unicode"/>
                <a:cs typeface="Lucida Sans Unicode"/>
              </a:rPr>
              <a:t>the</a:t>
            </a:r>
            <a:r>
              <a:rPr sz="1400" spc="-55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9F9F9"/>
                </a:solidFill>
                <a:latin typeface="Lucida Sans Unicode"/>
                <a:cs typeface="Lucida Sans Unicode"/>
              </a:rPr>
              <a:t>attention!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37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2653</Words>
  <Application>Microsoft Office PowerPoint</Application>
  <PresentationFormat>Personalizzato</PresentationFormat>
  <Paragraphs>499</Paragraphs>
  <Slides>34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45" baseType="lpstr">
      <vt:lpstr>Arial</vt:lpstr>
      <vt:lpstr>Bookman Old Style</vt:lpstr>
      <vt:lpstr>Calibri</vt:lpstr>
      <vt:lpstr>Cambria Math</vt:lpstr>
      <vt:lpstr>Century Gothic</vt:lpstr>
      <vt:lpstr>Courier New</vt:lpstr>
      <vt:lpstr>Lucida Sans Unicode</vt:lpstr>
      <vt:lpstr>Tahoma</vt:lpstr>
      <vt:lpstr>Times New Roman</vt:lpstr>
      <vt:lpstr>Verdana</vt:lpstr>
      <vt:lpstr>Office Theme</vt:lpstr>
      <vt:lpstr>Introduction to MATLAB</vt:lpstr>
      <vt:lpstr>Contacts &amp; Information</vt:lpstr>
      <vt:lpstr>Resources</vt:lpstr>
      <vt:lpstr>Presentazione standard di PowerPoint</vt:lpstr>
      <vt:lpstr>Table of Contents</vt:lpstr>
      <vt:lpstr>What is programming?</vt:lpstr>
      <vt:lpstr>What is programming?</vt:lpstr>
      <vt:lpstr>What is programming?</vt:lpstr>
      <vt:lpstr>What is programming?</vt:lpstr>
      <vt:lpstr>The Natural Language of Computers</vt:lpstr>
      <vt:lpstr>Presentazione standard di PowerPoint</vt:lpstr>
      <vt:lpstr>What can a Computer handle?</vt:lpstr>
      <vt:lpstr>What can a Computer handle?</vt:lpstr>
      <vt:lpstr>What can a Computer handle?</vt:lpstr>
      <vt:lpstr>Area of a cylinder</vt:lpstr>
      <vt:lpstr>Source code: scripts and functions in MATLAB</vt:lpstr>
      <vt:lpstr>Variables names</vt:lpstr>
      <vt:lpstr>Arrays and Matrices</vt:lpstr>
      <vt:lpstr>Presentazione standard di PowerPoint</vt:lpstr>
      <vt:lpstr>Presentazione standard di PowerPoint</vt:lpstr>
      <vt:lpstr>Presentazione standard di PowerPoint</vt:lpstr>
      <vt:lpstr>Operations with arrays and matrices</vt:lpstr>
      <vt:lpstr>Presentazione standard di PowerPoint</vt:lpstr>
      <vt:lpstr>Presentazione standard di PowerPoint</vt:lpstr>
      <vt:lpstr>for loop</vt:lpstr>
      <vt:lpstr>Presentazione standard di PowerPoint</vt:lpstr>
      <vt:lpstr>Examples</vt:lpstr>
      <vt:lpstr>while loop</vt:lpstr>
      <vt:lpstr>IF Statement</vt:lpstr>
      <vt:lpstr>Functions</vt:lpstr>
      <vt:lpstr>Syntax</vt:lpstr>
      <vt:lpstr>The Babylonian method</vt:lpstr>
      <vt:lpstr>Implementation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MATLAB - Calcoli di Processo dell' Ingegneria Chimica</dc:title>
  <dc:creator>Timoteo Dinelli</dc:creator>
  <cp:lastModifiedBy>Lorenzo Giardini</cp:lastModifiedBy>
  <cp:revision>11</cp:revision>
  <dcterms:created xsi:type="dcterms:W3CDTF">2026-08-06T03:20:08Z</dcterms:created>
  <dcterms:modified xsi:type="dcterms:W3CDTF">2026-08-07T15:33:22Z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2025-10-06T00:00:00Z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2026-08-06T00:00:00Z</vt:filetime>
  </property>
  <property fmtid="{D5CDD505-2E9C-101B-9397-08002B2CF9AE}" pid="5" name="PTEX.FullBanner">
    <vt:lpwstr>This is LuaHBTeX, Version 1.18.0 (TeX Live 2024)</vt:lpwstr>
  </property>
  <property fmtid="{D5CDD505-2E9C-101B-9397-08002B2CF9AE}" pid="6" name="Producer">
    <vt:lpwstr>LuaTeX-1.18.0</vt:lpwstr>
  </property>
</Properties>
</file>