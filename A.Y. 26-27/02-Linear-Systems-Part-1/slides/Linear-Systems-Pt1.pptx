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60" d="100"/>
          <a:sy n="160" d="100"/>
        </p:scale>
        <p:origin x="922" y="1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2373A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120" dirty="0"/>
              <a:t> </a:t>
            </a:r>
            <a:r>
              <a:rPr dirty="0"/>
              <a:t>system</a:t>
            </a:r>
            <a:r>
              <a:rPr spc="120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‹N›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2373A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120" dirty="0"/>
              <a:t> </a:t>
            </a:r>
            <a:r>
              <a:rPr dirty="0"/>
              <a:t>system</a:t>
            </a:r>
            <a:r>
              <a:rPr spc="120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‹N›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120" dirty="0"/>
              <a:t> </a:t>
            </a:r>
            <a:r>
              <a:rPr dirty="0"/>
              <a:t>system</a:t>
            </a:r>
            <a:r>
              <a:rPr spc="120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‹N›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120" dirty="0"/>
              <a:t> </a:t>
            </a:r>
            <a:r>
              <a:rPr dirty="0"/>
              <a:t>system</a:t>
            </a:r>
            <a:r>
              <a:rPr spc="120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‹N›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120" dirty="0"/>
              <a:t> </a:t>
            </a:r>
            <a:r>
              <a:rPr dirty="0"/>
              <a:t>system</a:t>
            </a:r>
            <a:r>
              <a:rPr spc="120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‹N›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631" y="75410"/>
            <a:ext cx="269367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294" y="1246389"/>
            <a:ext cx="3677285" cy="969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2373A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77088" y="3080509"/>
            <a:ext cx="938530" cy="132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120" dirty="0"/>
              <a:t> </a:t>
            </a:r>
            <a:r>
              <a:rPr dirty="0"/>
              <a:t>system</a:t>
            </a:r>
            <a:r>
              <a:rPr spc="120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260786" y="3080509"/>
            <a:ext cx="160654" cy="132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‹N›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lorenzo.giardini@polimi.i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443613"/>
            <a:ext cx="2276475" cy="5492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2800"/>
              </a:lnSpc>
              <a:spcBef>
                <a:spcPts val="90"/>
              </a:spcBef>
            </a:pPr>
            <a:r>
              <a:rPr sz="1400" spc="-25" dirty="0">
                <a:solidFill>
                  <a:srgbClr val="22373A"/>
                </a:solidFill>
              </a:rPr>
              <a:t>Linear</a:t>
            </a:r>
            <a:r>
              <a:rPr sz="1400" spc="-60" dirty="0">
                <a:solidFill>
                  <a:srgbClr val="22373A"/>
                </a:solidFill>
              </a:rPr>
              <a:t> </a:t>
            </a:r>
            <a:r>
              <a:rPr sz="1400" spc="-35" dirty="0">
                <a:solidFill>
                  <a:srgbClr val="22373A"/>
                </a:solidFill>
              </a:rPr>
              <a:t>System</a:t>
            </a:r>
            <a:r>
              <a:rPr sz="1400" spc="-60" dirty="0">
                <a:solidFill>
                  <a:srgbClr val="22373A"/>
                </a:solidFill>
              </a:rPr>
              <a:t> </a:t>
            </a:r>
            <a:r>
              <a:rPr sz="1400" spc="-70" dirty="0">
                <a:solidFill>
                  <a:srgbClr val="22373A"/>
                </a:solidFill>
              </a:rPr>
              <a:t>Of</a:t>
            </a:r>
            <a:r>
              <a:rPr sz="1400" spc="-60" dirty="0">
                <a:solidFill>
                  <a:srgbClr val="22373A"/>
                </a:solidFill>
              </a:rPr>
              <a:t> </a:t>
            </a:r>
            <a:r>
              <a:rPr sz="1400" spc="-25" dirty="0">
                <a:solidFill>
                  <a:srgbClr val="22373A"/>
                </a:solidFill>
              </a:rPr>
              <a:t>Equations </a:t>
            </a:r>
            <a:r>
              <a:rPr sz="1400" dirty="0">
                <a:solidFill>
                  <a:srgbClr val="22373A"/>
                </a:solidFill>
              </a:rPr>
              <a:t>Part</a:t>
            </a:r>
            <a:r>
              <a:rPr sz="1400" spc="-105" dirty="0">
                <a:solidFill>
                  <a:srgbClr val="22373A"/>
                </a:solidFill>
              </a:rPr>
              <a:t> </a:t>
            </a:r>
            <a:r>
              <a:rPr sz="1400" spc="-330" dirty="0">
                <a:solidFill>
                  <a:srgbClr val="22373A"/>
                </a:solidFill>
              </a:rPr>
              <a:t>1</a:t>
            </a:r>
            <a:endParaRPr sz="1400"/>
          </a:p>
        </p:txBody>
      </p:sp>
      <p:sp>
        <p:nvSpPr>
          <p:cNvPr id="3" name="object 3"/>
          <p:cNvSpPr txBox="1"/>
          <p:nvPr/>
        </p:nvSpPr>
        <p:spPr>
          <a:xfrm>
            <a:off x="347294" y="1073973"/>
            <a:ext cx="294259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20" dirty="0">
                <a:solidFill>
                  <a:srgbClr val="22373A"/>
                </a:solidFill>
                <a:latin typeface="Calibri"/>
                <a:cs typeface="Calibri"/>
              </a:rPr>
              <a:t>Calcoli</a:t>
            </a:r>
            <a:r>
              <a:rPr sz="12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2373A"/>
                </a:solidFill>
                <a:latin typeface="Calibri"/>
                <a:cs typeface="Calibri"/>
              </a:rPr>
              <a:t>di</a:t>
            </a:r>
            <a:r>
              <a:rPr sz="12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2373A"/>
                </a:solidFill>
                <a:latin typeface="Calibri"/>
                <a:cs typeface="Calibri"/>
              </a:rPr>
              <a:t>Processo</a:t>
            </a:r>
            <a:r>
              <a:rPr sz="12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2373A"/>
                </a:solidFill>
                <a:latin typeface="Calibri"/>
                <a:cs typeface="Calibri"/>
              </a:rPr>
              <a:t>dell’</a:t>
            </a:r>
            <a:r>
              <a:rPr sz="12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2373A"/>
                </a:solidFill>
                <a:latin typeface="Calibri"/>
                <a:cs typeface="Calibri"/>
              </a:rPr>
              <a:t>Ingegneria</a:t>
            </a:r>
            <a:r>
              <a:rPr sz="12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Calibri"/>
                <a:cs typeface="Calibri"/>
              </a:rPr>
              <a:t>Chimica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9994" y="1507242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011E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09194" y="1746320"/>
            <a:ext cx="4552315" cy="731611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25"/>
              </a:spcBef>
            </a:pPr>
            <a:r>
              <a:rPr lang="it-IT" sz="1000" spc="-55" dirty="0">
                <a:solidFill>
                  <a:srgbClr val="22373A"/>
                </a:solidFill>
                <a:latin typeface="Lucida Sans Unicode"/>
                <a:cs typeface="Lucida Sans Unicode"/>
              </a:rPr>
              <a:t>Lorenzo Giardini</a:t>
            </a:r>
            <a:endParaRPr lang="it-IT" sz="1000" dirty="0">
              <a:latin typeface="Lucida Sans Unicode"/>
              <a:cs typeface="Lucida Sans Unicode"/>
            </a:endParaRPr>
          </a:p>
          <a:p>
            <a:pPr marL="56515">
              <a:lnSpc>
                <a:spcPct val="100000"/>
              </a:lnSpc>
              <a:spcBef>
                <a:spcPts val="940"/>
              </a:spcBef>
            </a:pP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Department</a:t>
            </a:r>
            <a:r>
              <a:rPr sz="8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8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Chemistry,</a:t>
            </a:r>
            <a:r>
              <a:rPr sz="8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Materials</a:t>
            </a:r>
            <a:r>
              <a:rPr sz="8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8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Chemical</a:t>
            </a:r>
            <a:r>
              <a:rPr sz="8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Engineering,</a:t>
            </a:r>
            <a:r>
              <a:rPr sz="8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“Giulio</a:t>
            </a:r>
            <a:r>
              <a:rPr sz="8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Natta”,</a:t>
            </a:r>
            <a:r>
              <a:rPr sz="8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Politecnico</a:t>
            </a:r>
            <a:r>
              <a:rPr sz="8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di</a:t>
            </a:r>
            <a:r>
              <a:rPr sz="8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Calibri"/>
                <a:cs typeface="Calibri"/>
              </a:rPr>
              <a:t>Milano.</a:t>
            </a:r>
            <a:endParaRPr sz="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800" dirty="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</a:pPr>
            <a:r>
              <a:rPr sz="800" spc="-20" dirty="0">
                <a:solidFill>
                  <a:srgbClr val="22373A"/>
                </a:solidFill>
                <a:latin typeface="Lucida Sans Unicode"/>
                <a:cs typeface="Lucida Sans Unicode"/>
              </a:rPr>
              <a:t>email</a:t>
            </a:r>
            <a:r>
              <a:rPr sz="800" spc="-20" dirty="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sz="800" spc="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lang="it-IT" sz="800" spc="-1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lorenzo.giardin</a:t>
            </a:r>
            <a:r>
              <a:rPr sz="800" spc="-1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i@polimi.it</a:t>
            </a:r>
            <a:endParaRPr sz="800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18505" y="171782"/>
            <a:ext cx="1022985" cy="736600"/>
            <a:chOff x="4518505" y="171782"/>
            <a:chExt cx="1022985" cy="7366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18505" y="575904"/>
              <a:ext cx="1002895" cy="3322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4084" y="171782"/>
              <a:ext cx="1017309" cy="367963"/>
            </a:xfrm>
            <a:prstGeom prst="rect">
              <a:avLst/>
            </a:prstGeom>
          </p:spPr>
        </p:pic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Motivation:</a:t>
            </a:r>
            <a:r>
              <a:rPr spc="5" dirty="0"/>
              <a:t> </a:t>
            </a:r>
            <a:r>
              <a:rPr spc="-60" dirty="0"/>
              <a:t>Why</a:t>
            </a:r>
            <a:r>
              <a:rPr spc="-65" dirty="0"/>
              <a:t> </a:t>
            </a:r>
            <a:r>
              <a:rPr spc="-35" dirty="0"/>
              <a:t>Linear</a:t>
            </a:r>
            <a:r>
              <a:rPr spc="-65" dirty="0"/>
              <a:t> </a:t>
            </a:r>
            <a:r>
              <a:rPr spc="-30" dirty="0"/>
              <a:t>Systems?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25113"/>
            <a:ext cx="4924425" cy="374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Consider</a:t>
            </a:r>
            <a:r>
              <a:rPr sz="10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0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chemical</a:t>
            </a:r>
            <a:r>
              <a:rPr sz="10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process</a:t>
            </a:r>
            <a:r>
              <a:rPr sz="10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with</a:t>
            </a:r>
            <a:r>
              <a:rPr sz="10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multiple</a:t>
            </a:r>
            <a:r>
              <a:rPr sz="10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unit</a:t>
            </a:r>
            <a:r>
              <a:rPr sz="10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operations.</a:t>
            </a:r>
            <a:r>
              <a:rPr sz="1000" spc="3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Mass</a:t>
            </a:r>
            <a:r>
              <a:rPr sz="10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balance</a:t>
            </a:r>
            <a:r>
              <a:rPr sz="10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equations</a:t>
            </a:r>
            <a:r>
              <a:rPr sz="10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for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 each</a:t>
            </a:r>
            <a:r>
              <a:rPr sz="10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component</a:t>
            </a:r>
            <a:r>
              <a:rPr sz="10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form</a:t>
            </a:r>
            <a:r>
              <a:rPr sz="10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000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system</a:t>
            </a:r>
            <a:r>
              <a:rPr sz="10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0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equations: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7864" y="1442696"/>
            <a:ext cx="483870" cy="311785"/>
          </a:xfrm>
          <a:prstGeom prst="rect">
            <a:avLst/>
          </a:prstGeom>
          <a:solidFill>
            <a:srgbClr val="F4D0D0"/>
          </a:solidFill>
          <a:ln w="8209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endParaRPr sz="60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5"/>
              </a:spcBef>
            </a:pPr>
            <a:r>
              <a:rPr sz="600" b="1" spc="35" dirty="0">
                <a:latin typeface="Georgia"/>
                <a:cs typeface="Georgia"/>
              </a:rPr>
              <a:t>REACTOR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7607" y="2069710"/>
            <a:ext cx="389890" cy="311785"/>
          </a:xfrm>
          <a:prstGeom prst="rect">
            <a:avLst/>
          </a:prstGeom>
          <a:solidFill>
            <a:srgbClr val="D0EEDF"/>
          </a:solidFill>
          <a:ln w="8209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endParaRPr sz="600">
              <a:latin typeface="Times New Roman"/>
              <a:cs typeface="Times New Roman"/>
            </a:endParaRPr>
          </a:p>
          <a:p>
            <a:pPr marL="40005">
              <a:lnSpc>
                <a:spcPct val="100000"/>
              </a:lnSpc>
              <a:spcBef>
                <a:spcPts val="5"/>
              </a:spcBef>
            </a:pPr>
            <a:r>
              <a:rPr sz="600" b="1" spc="-10" dirty="0">
                <a:latin typeface="Georgia"/>
                <a:cs typeface="Georgia"/>
              </a:rPr>
              <a:t>MIXER</a:t>
            </a:r>
            <a:endParaRPr sz="600">
              <a:latin typeface="Georgia"/>
              <a:cs typeface="Georg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32305" y="1585816"/>
            <a:ext cx="304165" cy="25400"/>
            <a:chOff x="332305" y="1585816"/>
            <a:chExt cx="304165" cy="25400"/>
          </a:xfrm>
        </p:grpSpPr>
        <p:sp>
          <p:nvSpPr>
            <p:cNvPr id="7" name="object 7"/>
            <p:cNvSpPr/>
            <p:nvPr/>
          </p:nvSpPr>
          <p:spPr>
            <a:xfrm>
              <a:off x="332305" y="1598423"/>
              <a:ext cx="283210" cy="0"/>
            </a:xfrm>
            <a:custGeom>
              <a:avLst/>
              <a:gdLst/>
              <a:ahLst/>
              <a:cxnLst/>
              <a:rect l="l" t="t" r="r" b="b"/>
              <a:pathLst>
                <a:path w="283209">
                  <a:moveTo>
                    <a:pt x="0" y="0"/>
                  </a:moveTo>
                  <a:lnTo>
                    <a:pt x="283164" y="0"/>
                  </a:lnTo>
                </a:path>
              </a:pathLst>
            </a:custGeom>
            <a:ln w="82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9771" y="1589758"/>
              <a:ext cx="22860" cy="17780"/>
            </a:xfrm>
            <a:custGeom>
              <a:avLst/>
              <a:gdLst/>
              <a:ahLst/>
              <a:cxnLst/>
              <a:rect l="l" t="t" r="r" b="b"/>
              <a:pathLst>
                <a:path w="22859" h="17780">
                  <a:moveTo>
                    <a:pt x="0" y="0"/>
                  </a:moveTo>
                  <a:lnTo>
                    <a:pt x="7669" y="8664"/>
                  </a:lnTo>
                  <a:lnTo>
                    <a:pt x="0" y="17329"/>
                  </a:lnTo>
                  <a:lnTo>
                    <a:pt x="22762" y="8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9771" y="1589758"/>
              <a:ext cx="22860" cy="17780"/>
            </a:xfrm>
            <a:custGeom>
              <a:avLst/>
              <a:gdLst/>
              <a:ahLst/>
              <a:cxnLst/>
              <a:rect l="l" t="t" r="r" b="b"/>
              <a:pathLst>
                <a:path w="22859" h="17780">
                  <a:moveTo>
                    <a:pt x="22762" y="8664"/>
                  </a:moveTo>
                  <a:lnTo>
                    <a:pt x="0" y="0"/>
                  </a:lnTo>
                  <a:lnTo>
                    <a:pt x="7669" y="8664"/>
                  </a:lnTo>
                  <a:lnTo>
                    <a:pt x="0" y="17329"/>
                  </a:lnTo>
                  <a:lnTo>
                    <a:pt x="22762" y="8664"/>
                  </a:lnTo>
                  <a:close/>
                </a:path>
              </a:pathLst>
            </a:custGeom>
            <a:ln w="7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97640" y="1484568"/>
            <a:ext cx="18097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20" dirty="0">
                <a:latin typeface="Garamond"/>
                <a:cs typeface="Garamond"/>
              </a:rPr>
              <a:t>Feed</a:t>
            </a:r>
            <a:endParaRPr sz="600">
              <a:latin typeface="Garamond"/>
              <a:cs typeface="Garamond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35703" y="1585816"/>
            <a:ext cx="615950" cy="25400"/>
            <a:chOff x="1135703" y="1585816"/>
            <a:chExt cx="615950" cy="25400"/>
          </a:xfrm>
        </p:grpSpPr>
        <p:sp>
          <p:nvSpPr>
            <p:cNvPr id="12" name="object 12"/>
            <p:cNvSpPr/>
            <p:nvPr/>
          </p:nvSpPr>
          <p:spPr>
            <a:xfrm>
              <a:off x="1135703" y="1598423"/>
              <a:ext cx="594995" cy="0"/>
            </a:xfrm>
            <a:custGeom>
              <a:avLst/>
              <a:gdLst/>
              <a:ahLst/>
              <a:cxnLst/>
              <a:rect l="l" t="t" r="r" b="b"/>
              <a:pathLst>
                <a:path w="594994">
                  <a:moveTo>
                    <a:pt x="0" y="0"/>
                  </a:moveTo>
                  <a:lnTo>
                    <a:pt x="594619" y="0"/>
                  </a:lnTo>
                </a:path>
              </a:pathLst>
            </a:custGeom>
            <a:ln w="82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24623" y="1589758"/>
              <a:ext cx="22860" cy="17780"/>
            </a:xfrm>
            <a:custGeom>
              <a:avLst/>
              <a:gdLst/>
              <a:ahLst/>
              <a:cxnLst/>
              <a:rect l="l" t="t" r="r" b="b"/>
              <a:pathLst>
                <a:path w="22860" h="17780">
                  <a:moveTo>
                    <a:pt x="0" y="0"/>
                  </a:moveTo>
                  <a:lnTo>
                    <a:pt x="7669" y="8664"/>
                  </a:lnTo>
                  <a:lnTo>
                    <a:pt x="0" y="17329"/>
                  </a:lnTo>
                  <a:lnTo>
                    <a:pt x="22762" y="8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24623" y="1589758"/>
              <a:ext cx="22860" cy="17780"/>
            </a:xfrm>
            <a:custGeom>
              <a:avLst/>
              <a:gdLst/>
              <a:ahLst/>
              <a:cxnLst/>
              <a:rect l="l" t="t" r="r" b="b"/>
              <a:pathLst>
                <a:path w="22860" h="17780">
                  <a:moveTo>
                    <a:pt x="22762" y="8664"/>
                  </a:moveTo>
                  <a:lnTo>
                    <a:pt x="0" y="0"/>
                  </a:lnTo>
                  <a:lnTo>
                    <a:pt x="7669" y="8664"/>
                  </a:lnTo>
                  <a:lnTo>
                    <a:pt x="0" y="17329"/>
                  </a:lnTo>
                  <a:lnTo>
                    <a:pt x="22762" y="8664"/>
                  </a:lnTo>
                  <a:close/>
                </a:path>
              </a:pathLst>
            </a:custGeom>
            <a:ln w="7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372077" y="1484568"/>
            <a:ext cx="14795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900" b="0" i="1" spc="-37" baseline="9259" dirty="0">
                <a:latin typeface="Bookman Old Style"/>
                <a:cs typeface="Bookman Old Style"/>
              </a:rPr>
              <a:t>x</a:t>
            </a:r>
            <a:r>
              <a:rPr sz="400" spc="-25" dirty="0">
                <a:latin typeface="Times New Roman"/>
                <a:cs typeface="Times New Roman"/>
              </a:rPr>
              <a:t>1</a:t>
            </a:r>
            <a:endParaRPr sz="400">
              <a:latin typeface="Times New Roman"/>
              <a:cs typeface="Times New Roman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758612" y="1438591"/>
          <a:ext cx="584200" cy="782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115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b="1" spc="-10" dirty="0">
                          <a:latin typeface="Georgia"/>
                          <a:cs typeface="Georgia"/>
                        </a:rPr>
                        <a:t>SEPARATOR</a:t>
                      </a:r>
                      <a:endParaRPr sz="600">
                        <a:latin typeface="Georgia"/>
                        <a:cs typeface="Georgia"/>
                      </a:endParaRPr>
                    </a:p>
                  </a:txBody>
                  <a:tcPr marL="0" marR="0" marT="184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0DF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1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 marL="222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b="0" i="1" spc="-37" baseline="9259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400" spc="-25" dirty="0">
                          <a:latin typeface="Times New Roman"/>
                          <a:cs typeface="Times New Roman"/>
                        </a:rPr>
                        <a:t>2</a:t>
                      </a: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7" name="object 17"/>
          <p:cNvGrpSpPr/>
          <p:nvPr/>
        </p:nvGrpSpPr>
        <p:grpSpPr>
          <a:xfrm>
            <a:off x="1678314" y="1754150"/>
            <a:ext cx="381000" cy="484505"/>
            <a:chOff x="1678314" y="1754150"/>
            <a:chExt cx="381000" cy="484505"/>
          </a:xfrm>
        </p:grpSpPr>
        <p:sp>
          <p:nvSpPr>
            <p:cNvPr id="18" name="object 18"/>
            <p:cNvSpPr/>
            <p:nvPr/>
          </p:nvSpPr>
          <p:spPr>
            <a:xfrm>
              <a:off x="1699319" y="1758255"/>
              <a:ext cx="355600" cy="467359"/>
            </a:xfrm>
            <a:custGeom>
              <a:avLst/>
              <a:gdLst/>
              <a:ahLst/>
              <a:cxnLst/>
              <a:rect l="l" t="t" r="r" b="b"/>
              <a:pathLst>
                <a:path w="355600" h="467360">
                  <a:moveTo>
                    <a:pt x="355481" y="0"/>
                  </a:moveTo>
                  <a:lnTo>
                    <a:pt x="355481" y="467181"/>
                  </a:lnTo>
                  <a:lnTo>
                    <a:pt x="0" y="467181"/>
                  </a:lnTo>
                </a:path>
              </a:pathLst>
            </a:custGeom>
            <a:ln w="82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82256" y="2216772"/>
              <a:ext cx="22860" cy="17780"/>
            </a:xfrm>
            <a:custGeom>
              <a:avLst/>
              <a:gdLst/>
              <a:ahLst/>
              <a:cxnLst/>
              <a:rect l="l" t="t" r="r" b="b"/>
              <a:pathLst>
                <a:path w="22860" h="17780">
                  <a:moveTo>
                    <a:pt x="22762" y="17329"/>
                  </a:moveTo>
                  <a:lnTo>
                    <a:pt x="15092" y="8664"/>
                  </a:lnTo>
                  <a:lnTo>
                    <a:pt x="22762" y="0"/>
                  </a:lnTo>
                  <a:lnTo>
                    <a:pt x="0" y="8664"/>
                  </a:lnTo>
                  <a:lnTo>
                    <a:pt x="22762" y="173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82256" y="2216772"/>
              <a:ext cx="22860" cy="17780"/>
            </a:xfrm>
            <a:custGeom>
              <a:avLst/>
              <a:gdLst/>
              <a:ahLst/>
              <a:cxnLst/>
              <a:rect l="l" t="t" r="r" b="b"/>
              <a:pathLst>
                <a:path w="22860" h="17780">
                  <a:moveTo>
                    <a:pt x="0" y="8664"/>
                  </a:moveTo>
                  <a:lnTo>
                    <a:pt x="22762" y="17329"/>
                  </a:lnTo>
                  <a:lnTo>
                    <a:pt x="15092" y="8664"/>
                  </a:lnTo>
                  <a:lnTo>
                    <a:pt x="22762" y="0"/>
                  </a:lnTo>
                  <a:lnTo>
                    <a:pt x="0" y="8664"/>
                  </a:lnTo>
                  <a:close/>
                </a:path>
              </a:pathLst>
            </a:custGeom>
            <a:ln w="7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2042194" y="1134421"/>
            <a:ext cx="25400" cy="304165"/>
            <a:chOff x="2042194" y="1134421"/>
            <a:chExt cx="25400" cy="304165"/>
          </a:xfrm>
        </p:grpSpPr>
        <p:sp>
          <p:nvSpPr>
            <p:cNvPr id="22" name="object 22"/>
            <p:cNvSpPr/>
            <p:nvPr/>
          </p:nvSpPr>
          <p:spPr>
            <a:xfrm>
              <a:off x="2054801" y="1155426"/>
              <a:ext cx="0" cy="283210"/>
            </a:xfrm>
            <a:custGeom>
              <a:avLst/>
              <a:gdLst/>
              <a:ahLst/>
              <a:cxnLst/>
              <a:rect l="l" t="t" r="r" b="b"/>
              <a:pathLst>
                <a:path h="283209">
                  <a:moveTo>
                    <a:pt x="0" y="283164"/>
                  </a:moveTo>
                  <a:lnTo>
                    <a:pt x="0" y="0"/>
                  </a:lnTo>
                </a:path>
              </a:pathLst>
            </a:custGeom>
            <a:ln w="82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46136" y="1138363"/>
              <a:ext cx="17780" cy="22860"/>
            </a:xfrm>
            <a:custGeom>
              <a:avLst/>
              <a:gdLst/>
              <a:ahLst/>
              <a:cxnLst/>
              <a:rect l="l" t="t" r="r" b="b"/>
              <a:pathLst>
                <a:path w="17780" h="22859">
                  <a:moveTo>
                    <a:pt x="0" y="22762"/>
                  </a:moveTo>
                  <a:lnTo>
                    <a:pt x="8664" y="15092"/>
                  </a:lnTo>
                  <a:lnTo>
                    <a:pt x="17329" y="22762"/>
                  </a:lnTo>
                  <a:lnTo>
                    <a:pt x="8664" y="0"/>
                  </a:lnTo>
                  <a:lnTo>
                    <a:pt x="0" y="22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046136" y="1138363"/>
              <a:ext cx="17780" cy="22860"/>
            </a:xfrm>
            <a:custGeom>
              <a:avLst/>
              <a:gdLst/>
              <a:ahLst/>
              <a:cxnLst/>
              <a:rect l="l" t="t" r="r" b="b"/>
              <a:pathLst>
                <a:path w="17780" h="22859">
                  <a:moveTo>
                    <a:pt x="8664" y="0"/>
                  </a:moveTo>
                  <a:lnTo>
                    <a:pt x="0" y="22762"/>
                  </a:lnTo>
                  <a:lnTo>
                    <a:pt x="8664" y="15092"/>
                  </a:lnTo>
                  <a:lnTo>
                    <a:pt x="17329" y="22762"/>
                  </a:lnTo>
                  <a:lnTo>
                    <a:pt x="8664" y="0"/>
                  </a:lnTo>
                  <a:close/>
                </a:path>
              </a:pathLst>
            </a:custGeom>
            <a:ln w="7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064432" y="1218725"/>
            <a:ext cx="28257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10" dirty="0">
                <a:latin typeface="Garamond"/>
                <a:cs typeface="Garamond"/>
              </a:rPr>
              <a:t>Discard</a:t>
            </a:r>
            <a:endParaRPr sz="600">
              <a:latin typeface="Garamond"/>
              <a:cs typeface="Garamond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85626" y="1754150"/>
            <a:ext cx="381000" cy="484505"/>
            <a:chOff x="885626" y="1754150"/>
            <a:chExt cx="381000" cy="484505"/>
          </a:xfrm>
        </p:grpSpPr>
        <p:sp>
          <p:nvSpPr>
            <p:cNvPr id="27" name="object 27"/>
            <p:cNvSpPr/>
            <p:nvPr/>
          </p:nvSpPr>
          <p:spPr>
            <a:xfrm>
              <a:off x="889731" y="1758255"/>
              <a:ext cx="355600" cy="467359"/>
            </a:xfrm>
            <a:custGeom>
              <a:avLst/>
              <a:gdLst/>
              <a:ahLst/>
              <a:cxnLst/>
              <a:rect l="l" t="t" r="r" b="b"/>
              <a:pathLst>
                <a:path w="355600" h="467360">
                  <a:moveTo>
                    <a:pt x="0" y="0"/>
                  </a:moveTo>
                  <a:lnTo>
                    <a:pt x="0" y="467181"/>
                  </a:lnTo>
                  <a:lnTo>
                    <a:pt x="355481" y="467181"/>
                  </a:lnTo>
                </a:path>
              </a:pathLst>
            </a:custGeom>
            <a:ln w="82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39513" y="2216772"/>
              <a:ext cx="22860" cy="17780"/>
            </a:xfrm>
            <a:custGeom>
              <a:avLst/>
              <a:gdLst/>
              <a:ahLst/>
              <a:cxnLst/>
              <a:rect l="l" t="t" r="r" b="b"/>
              <a:pathLst>
                <a:path w="22859" h="17780">
                  <a:moveTo>
                    <a:pt x="0" y="0"/>
                  </a:moveTo>
                  <a:lnTo>
                    <a:pt x="7669" y="8664"/>
                  </a:lnTo>
                  <a:lnTo>
                    <a:pt x="0" y="17329"/>
                  </a:lnTo>
                  <a:lnTo>
                    <a:pt x="22762" y="8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239513" y="2216772"/>
              <a:ext cx="22860" cy="17780"/>
            </a:xfrm>
            <a:custGeom>
              <a:avLst/>
              <a:gdLst/>
              <a:ahLst/>
              <a:cxnLst/>
              <a:rect l="l" t="t" r="r" b="b"/>
              <a:pathLst>
                <a:path w="22859" h="17780">
                  <a:moveTo>
                    <a:pt x="22762" y="8664"/>
                  </a:moveTo>
                  <a:lnTo>
                    <a:pt x="0" y="0"/>
                  </a:lnTo>
                  <a:lnTo>
                    <a:pt x="7669" y="8664"/>
                  </a:lnTo>
                  <a:lnTo>
                    <a:pt x="0" y="17329"/>
                  </a:lnTo>
                  <a:lnTo>
                    <a:pt x="22762" y="8664"/>
                  </a:lnTo>
                  <a:close/>
                </a:path>
              </a:pathLst>
            </a:custGeom>
            <a:ln w="7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55328" y="1969931"/>
            <a:ext cx="14795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900" b="0" i="1" spc="-37" baseline="9259" dirty="0">
                <a:latin typeface="Bookman Old Style"/>
                <a:cs typeface="Bookman Old Style"/>
              </a:rPr>
              <a:t>x</a:t>
            </a:r>
            <a:r>
              <a:rPr sz="400" spc="-25" dirty="0">
                <a:latin typeface="Times New Roman"/>
                <a:cs typeface="Times New Roman"/>
              </a:rPr>
              <a:t>3</a:t>
            </a:r>
            <a:endParaRPr sz="4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459659" y="2385269"/>
            <a:ext cx="25400" cy="304165"/>
            <a:chOff x="1459659" y="2385269"/>
            <a:chExt cx="25400" cy="304165"/>
          </a:xfrm>
        </p:grpSpPr>
        <p:sp>
          <p:nvSpPr>
            <p:cNvPr id="32" name="object 32"/>
            <p:cNvSpPr/>
            <p:nvPr/>
          </p:nvSpPr>
          <p:spPr>
            <a:xfrm>
              <a:off x="1472266" y="2385269"/>
              <a:ext cx="0" cy="283210"/>
            </a:xfrm>
            <a:custGeom>
              <a:avLst/>
              <a:gdLst/>
              <a:ahLst/>
              <a:cxnLst/>
              <a:rect l="l" t="t" r="r" b="b"/>
              <a:pathLst>
                <a:path h="283210">
                  <a:moveTo>
                    <a:pt x="0" y="0"/>
                  </a:moveTo>
                  <a:lnTo>
                    <a:pt x="0" y="283164"/>
                  </a:lnTo>
                </a:path>
              </a:pathLst>
            </a:custGeom>
            <a:ln w="82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463601" y="2662735"/>
              <a:ext cx="17780" cy="22860"/>
            </a:xfrm>
            <a:custGeom>
              <a:avLst/>
              <a:gdLst/>
              <a:ahLst/>
              <a:cxnLst/>
              <a:rect l="l" t="t" r="r" b="b"/>
              <a:pathLst>
                <a:path w="17780" h="22860">
                  <a:moveTo>
                    <a:pt x="17329" y="0"/>
                  </a:moveTo>
                  <a:lnTo>
                    <a:pt x="8664" y="7669"/>
                  </a:lnTo>
                  <a:lnTo>
                    <a:pt x="0" y="0"/>
                  </a:lnTo>
                  <a:lnTo>
                    <a:pt x="8664" y="22762"/>
                  </a:lnTo>
                  <a:lnTo>
                    <a:pt x="173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463601" y="2662735"/>
              <a:ext cx="17780" cy="22860"/>
            </a:xfrm>
            <a:custGeom>
              <a:avLst/>
              <a:gdLst/>
              <a:ahLst/>
              <a:cxnLst/>
              <a:rect l="l" t="t" r="r" b="b"/>
              <a:pathLst>
                <a:path w="17780" h="22860">
                  <a:moveTo>
                    <a:pt x="8664" y="22762"/>
                  </a:moveTo>
                  <a:lnTo>
                    <a:pt x="17329" y="0"/>
                  </a:lnTo>
                  <a:lnTo>
                    <a:pt x="8664" y="7669"/>
                  </a:lnTo>
                  <a:lnTo>
                    <a:pt x="0" y="0"/>
                  </a:lnTo>
                  <a:lnTo>
                    <a:pt x="8664" y="22762"/>
                  </a:lnTo>
                  <a:close/>
                </a:path>
              </a:pathLst>
            </a:custGeom>
            <a:ln w="7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481908" y="2468737"/>
            <a:ext cx="27432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10" dirty="0">
                <a:latin typeface="Garamond"/>
                <a:cs typeface="Garamond"/>
              </a:rPr>
              <a:t>Output</a:t>
            </a:r>
            <a:endParaRPr sz="600">
              <a:latin typeface="Garamond"/>
              <a:cs typeface="Garamond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428853" y="1136659"/>
            <a:ext cx="1284605" cy="923925"/>
            <a:chOff x="2428853" y="1136659"/>
            <a:chExt cx="1284605" cy="923925"/>
          </a:xfrm>
        </p:grpSpPr>
        <p:sp>
          <p:nvSpPr>
            <p:cNvPr id="37" name="object 37"/>
            <p:cNvSpPr/>
            <p:nvPr/>
          </p:nvSpPr>
          <p:spPr>
            <a:xfrm>
              <a:off x="2429947" y="1137753"/>
              <a:ext cx="1282700" cy="921385"/>
            </a:xfrm>
            <a:custGeom>
              <a:avLst/>
              <a:gdLst/>
              <a:ahLst/>
              <a:cxnLst/>
              <a:rect l="l" t="t" r="r" b="b"/>
              <a:pathLst>
                <a:path w="1282700" h="921385">
                  <a:moveTo>
                    <a:pt x="1282301" y="0"/>
                  </a:moveTo>
                  <a:lnTo>
                    <a:pt x="0" y="0"/>
                  </a:lnTo>
                  <a:lnTo>
                    <a:pt x="0" y="921339"/>
                  </a:lnTo>
                  <a:lnTo>
                    <a:pt x="1282301" y="921339"/>
                  </a:lnTo>
                  <a:lnTo>
                    <a:pt x="12823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429947" y="1137753"/>
              <a:ext cx="1282700" cy="921385"/>
            </a:xfrm>
            <a:custGeom>
              <a:avLst/>
              <a:gdLst/>
              <a:ahLst/>
              <a:cxnLst/>
              <a:rect l="l" t="t" r="r" b="b"/>
              <a:pathLst>
                <a:path w="1282700" h="921385">
                  <a:moveTo>
                    <a:pt x="0" y="921339"/>
                  </a:moveTo>
                  <a:lnTo>
                    <a:pt x="1282301" y="921339"/>
                  </a:lnTo>
                  <a:lnTo>
                    <a:pt x="1282301" y="0"/>
                  </a:lnTo>
                  <a:lnTo>
                    <a:pt x="0" y="0"/>
                  </a:lnTo>
                  <a:lnTo>
                    <a:pt x="0" y="92133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448172" y="1119224"/>
            <a:ext cx="82550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600" b="1" dirty="0">
                <a:latin typeface="Georgia"/>
                <a:cs typeface="Georgia"/>
              </a:rPr>
              <a:t>System</a:t>
            </a:r>
            <a:r>
              <a:rPr sz="600" b="1" spc="-10" dirty="0">
                <a:latin typeface="Georgia"/>
                <a:cs typeface="Georgia"/>
              </a:rPr>
              <a:t> </a:t>
            </a:r>
            <a:r>
              <a:rPr sz="600" b="1" dirty="0">
                <a:latin typeface="Georgia"/>
                <a:cs typeface="Georgia"/>
              </a:rPr>
              <a:t>of</a:t>
            </a:r>
            <a:r>
              <a:rPr sz="600" b="1" spc="-5" dirty="0">
                <a:latin typeface="Georgia"/>
                <a:cs typeface="Georgia"/>
              </a:rPr>
              <a:t> </a:t>
            </a:r>
            <a:r>
              <a:rPr sz="600" b="1" spc="-10" dirty="0">
                <a:latin typeface="Georgia"/>
                <a:cs typeface="Georgia"/>
              </a:rPr>
              <a:t>Equations: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448172" y="1277562"/>
            <a:ext cx="8318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600" spc="5" dirty="0">
                <a:latin typeface="Arial"/>
                <a:cs typeface="Arial"/>
              </a:rPr>
              <a:t></a:t>
            </a:r>
            <a:endParaRPr sz="6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13801" y="1289821"/>
            <a:ext cx="210820" cy="91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170180" algn="l"/>
              </a:tabLst>
            </a:pPr>
            <a:r>
              <a:rPr sz="400" spc="-50" dirty="0">
                <a:latin typeface="Times New Roman"/>
                <a:cs typeface="Times New Roman"/>
              </a:rPr>
              <a:t>1</a:t>
            </a:r>
            <a:r>
              <a:rPr sz="400" dirty="0">
                <a:latin typeface="Times New Roman"/>
                <a:cs typeface="Times New Roman"/>
              </a:rPr>
              <a:t>	</a:t>
            </a:r>
            <a:r>
              <a:rPr sz="400" spc="-50" dirty="0">
                <a:latin typeface="Times New Roman"/>
                <a:cs typeface="Times New Roman"/>
              </a:rPr>
              <a:t>3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448172" y="1253917"/>
            <a:ext cx="72136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latin typeface="Arial"/>
                <a:cs typeface="Arial"/>
              </a:rPr>
              <a:t></a:t>
            </a:r>
            <a:r>
              <a:rPr sz="600" dirty="0">
                <a:latin typeface="Garamond"/>
                <a:cs typeface="Garamond"/>
              </a:rPr>
              <a:t>Feed</a:t>
            </a:r>
            <a:r>
              <a:rPr sz="600" spc="10" dirty="0">
                <a:latin typeface="Garamond"/>
                <a:cs typeface="Garamond"/>
              </a:rPr>
              <a:t> </a:t>
            </a:r>
            <a:r>
              <a:rPr sz="600" i="1" dirty="0">
                <a:latin typeface="Lucida Sans Unicode"/>
                <a:cs typeface="Lucida Sans Unicode"/>
              </a:rPr>
              <a:t>−</a:t>
            </a:r>
            <a:r>
              <a:rPr sz="600" i="1" spc="-30" dirty="0">
                <a:latin typeface="Lucida Sans Unicode"/>
                <a:cs typeface="Lucida Sans Unicode"/>
              </a:rPr>
              <a:t> </a:t>
            </a:r>
            <a:r>
              <a:rPr sz="600" b="0" i="1" dirty="0">
                <a:latin typeface="Bookman Old Style"/>
                <a:cs typeface="Bookman Old Style"/>
              </a:rPr>
              <a:t>x</a:t>
            </a:r>
            <a:r>
              <a:rPr sz="600" b="0" i="1" spc="260" dirty="0">
                <a:latin typeface="Bookman Old Style"/>
                <a:cs typeface="Bookman Old Style"/>
              </a:rPr>
              <a:t> </a:t>
            </a:r>
            <a:r>
              <a:rPr sz="600" i="1" dirty="0">
                <a:latin typeface="Lucida Sans Unicode"/>
                <a:cs typeface="Lucida Sans Unicode"/>
              </a:rPr>
              <a:t>−</a:t>
            </a:r>
            <a:r>
              <a:rPr sz="600" i="1" spc="-30" dirty="0">
                <a:latin typeface="Lucida Sans Unicode"/>
                <a:cs typeface="Lucida Sans Unicode"/>
              </a:rPr>
              <a:t> </a:t>
            </a:r>
            <a:r>
              <a:rPr sz="600" b="0" i="1" dirty="0">
                <a:latin typeface="Bookman Old Style"/>
                <a:cs typeface="Bookman Old Style"/>
              </a:rPr>
              <a:t>x</a:t>
            </a:r>
            <a:r>
              <a:rPr sz="600" b="0" i="1" spc="295" dirty="0">
                <a:latin typeface="Bookman Old Style"/>
                <a:cs typeface="Bookman Old Style"/>
              </a:rPr>
              <a:t> </a:t>
            </a:r>
            <a:r>
              <a:rPr sz="600" spc="70" dirty="0">
                <a:latin typeface="Garamond"/>
                <a:cs typeface="Garamond"/>
              </a:rPr>
              <a:t>=</a:t>
            </a:r>
            <a:r>
              <a:rPr sz="600" spc="55" dirty="0">
                <a:latin typeface="Garamond"/>
                <a:cs typeface="Garamond"/>
              </a:rPr>
              <a:t> </a:t>
            </a:r>
            <a:r>
              <a:rPr sz="600" spc="-60" dirty="0">
                <a:latin typeface="Garamond"/>
                <a:cs typeface="Garamond"/>
              </a:rPr>
              <a:t>0</a:t>
            </a:r>
            <a:endParaRPr sz="600">
              <a:latin typeface="Garamond"/>
              <a:cs typeface="Garamond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492827" y="1383957"/>
            <a:ext cx="80327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900" b="0" i="1" spc="15" baseline="9259" dirty="0">
                <a:latin typeface="Bookman Old Style"/>
                <a:cs typeface="Bookman Old Style"/>
              </a:rPr>
              <a:t>x</a:t>
            </a:r>
            <a:r>
              <a:rPr sz="400" spc="10" dirty="0">
                <a:latin typeface="Times New Roman"/>
                <a:cs typeface="Times New Roman"/>
              </a:rPr>
              <a:t>1</a:t>
            </a:r>
            <a:r>
              <a:rPr sz="400" spc="80" dirty="0">
                <a:latin typeface="Times New Roman"/>
                <a:cs typeface="Times New Roman"/>
              </a:rPr>
              <a:t> </a:t>
            </a:r>
            <a:r>
              <a:rPr sz="900" i="1" baseline="9259" dirty="0">
                <a:latin typeface="Lucida Sans Unicode"/>
                <a:cs typeface="Lucida Sans Unicode"/>
              </a:rPr>
              <a:t>−</a:t>
            </a:r>
            <a:r>
              <a:rPr sz="900" i="1" spc="-52" baseline="9259" dirty="0">
                <a:latin typeface="Lucida Sans Unicode"/>
                <a:cs typeface="Lucida Sans Unicode"/>
              </a:rPr>
              <a:t> </a:t>
            </a:r>
            <a:r>
              <a:rPr sz="900" b="0" i="1" spc="15" baseline="9259" dirty="0">
                <a:latin typeface="Bookman Old Style"/>
                <a:cs typeface="Bookman Old Style"/>
              </a:rPr>
              <a:t>x</a:t>
            </a:r>
            <a:r>
              <a:rPr sz="400" spc="10" dirty="0">
                <a:latin typeface="Times New Roman"/>
                <a:cs typeface="Times New Roman"/>
              </a:rPr>
              <a:t>2</a:t>
            </a:r>
            <a:r>
              <a:rPr sz="400" spc="80" dirty="0">
                <a:latin typeface="Times New Roman"/>
                <a:cs typeface="Times New Roman"/>
              </a:rPr>
              <a:t> </a:t>
            </a:r>
            <a:r>
              <a:rPr sz="900" i="1" baseline="9259" dirty="0">
                <a:latin typeface="Lucida Sans Unicode"/>
                <a:cs typeface="Lucida Sans Unicode"/>
              </a:rPr>
              <a:t>−</a:t>
            </a:r>
            <a:r>
              <a:rPr sz="900" i="1" spc="-52" baseline="9259" dirty="0">
                <a:latin typeface="Lucida Sans Unicode"/>
                <a:cs typeface="Lucida Sans Unicode"/>
              </a:rPr>
              <a:t> </a:t>
            </a:r>
            <a:r>
              <a:rPr sz="900" spc="15" baseline="9259" dirty="0">
                <a:latin typeface="Garamond"/>
                <a:cs typeface="Garamond"/>
              </a:rPr>
              <a:t>Discard</a:t>
            </a:r>
            <a:r>
              <a:rPr sz="900" spc="75" baseline="9259" dirty="0">
                <a:latin typeface="Garamond"/>
                <a:cs typeface="Garamond"/>
              </a:rPr>
              <a:t> </a:t>
            </a:r>
            <a:r>
              <a:rPr sz="900" spc="104" baseline="9259" dirty="0">
                <a:latin typeface="Garamond"/>
                <a:cs typeface="Garamond"/>
              </a:rPr>
              <a:t>=</a:t>
            </a:r>
            <a:r>
              <a:rPr sz="900" spc="75" baseline="9259" dirty="0">
                <a:latin typeface="Garamond"/>
                <a:cs typeface="Garamond"/>
              </a:rPr>
              <a:t> </a:t>
            </a:r>
            <a:r>
              <a:rPr sz="900" spc="-75" baseline="9259" dirty="0">
                <a:latin typeface="Garamond"/>
                <a:cs typeface="Garamond"/>
              </a:rPr>
              <a:t>0</a:t>
            </a:r>
            <a:endParaRPr sz="900" baseline="9259">
              <a:latin typeface="Garamond"/>
              <a:cs typeface="Garamond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422772" y="1502175"/>
            <a:ext cx="86423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900" spc="-89" baseline="60185" dirty="0">
                <a:latin typeface="Arial"/>
                <a:cs typeface="Arial"/>
              </a:rPr>
              <a:t></a:t>
            </a:r>
            <a:r>
              <a:rPr sz="900" spc="-89" baseline="41666" dirty="0">
                <a:latin typeface="Arial"/>
                <a:cs typeface="Arial"/>
              </a:rPr>
              <a:t></a:t>
            </a:r>
            <a:r>
              <a:rPr sz="900" b="0" i="1" spc="-89" baseline="9259" dirty="0">
                <a:latin typeface="Bookman Old Style"/>
                <a:cs typeface="Bookman Old Style"/>
              </a:rPr>
              <a:t>x</a:t>
            </a:r>
            <a:r>
              <a:rPr sz="400" spc="-60" dirty="0">
                <a:latin typeface="Times New Roman"/>
                <a:cs typeface="Times New Roman"/>
              </a:rPr>
              <a:t>2</a:t>
            </a:r>
            <a:r>
              <a:rPr sz="400" spc="95" dirty="0">
                <a:latin typeface="Times New Roman"/>
                <a:cs typeface="Times New Roman"/>
              </a:rPr>
              <a:t> </a:t>
            </a:r>
            <a:r>
              <a:rPr sz="900" spc="104" baseline="9259" dirty="0">
                <a:latin typeface="Garamond"/>
                <a:cs typeface="Garamond"/>
              </a:rPr>
              <a:t>+</a:t>
            </a:r>
            <a:r>
              <a:rPr sz="900" spc="30" baseline="9259" dirty="0">
                <a:latin typeface="Garamond"/>
                <a:cs typeface="Garamond"/>
              </a:rPr>
              <a:t> </a:t>
            </a:r>
            <a:r>
              <a:rPr sz="900" b="0" i="1" baseline="9259" dirty="0">
                <a:latin typeface="Bookman Old Style"/>
                <a:cs typeface="Bookman Old Style"/>
              </a:rPr>
              <a:t>x</a:t>
            </a:r>
            <a:r>
              <a:rPr sz="400" dirty="0">
                <a:latin typeface="Times New Roman"/>
                <a:cs typeface="Times New Roman"/>
              </a:rPr>
              <a:t>3</a:t>
            </a:r>
            <a:r>
              <a:rPr sz="400" spc="100" dirty="0">
                <a:latin typeface="Times New Roman"/>
                <a:cs typeface="Times New Roman"/>
              </a:rPr>
              <a:t> </a:t>
            </a:r>
            <a:r>
              <a:rPr sz="900" i="1" baseline="9259" dirty="0">
                <a:latin typeface="Lucida Sans Unicode"/>
                <a:cs typeface="Lucida Sans Unicode"/>
              </a:rPr>
              <a:t>−</a:t>
            </a:r>
            <a:r>
              <a:rPr sz="900" i="1" spc="-30" baseline="9259" dirty="0">
                <a:latin typeface="Lucida Sans Unicode"/>
                <a:cs typeface="Lucida Sans Unicode"/>
              </a:rPr>
              <a:t> </a:t>
            </a:r>
            <a:r>
              <a:rPr sz="900" baseline="9259" dirty="0">
                <a:latin typeface="Garamond"/>
                <a:cs typeface="Garamond"/>
              </a:rPr>
              <a:t>Output</a:t>
            </a:r>
            <a:r>
              <a:rPr sz="900" spc="97" baseline="9259" dirty="0">
                <a:latin typeface="Garamond"/>
                <a:cs typeface="Garamond"/>
              </a:rPr>
              <a:t> </a:t>
            </a:r>
            <a:r>
              <a:rPr sz="900" spc="104" baseline="9259" dirty="0">
                <a:latin typeface="Garamond"/>
                <a:cs typeface="Garamond"/>
              </a:rPr>
              <a:t>=</a:t>
            </a:r>
            <a:r>
              <a:rPr sz="900" spc="97" baseline="9259" dirty="0">
                <a:latin typeface="Garamond"/>
                <a:cs typeface="Garamond"/>
              </a:rPr>
              <a:t> </a:t>
            </a:r>
            <a:r>
              <a:rPr sz="900" spc="-75" baseline="9259" dirty="0">
                <a:latin typeface="Garamond"/>
                <a:cs typeface="Garamond"/>
              </a:rPr>
              <a:t>0</a:t>
            </a:r>
            <a:endParaRPr sz="900" baseline="9259">
              <a:latin typeface="Garamond"/>
              <a:cs typeface="Garamond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448172" y="1617168"/>
            <a:ext cx="81978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600" b="1" dirty="0">
                <a:latin typeface="Georgia"/>
                <a:cs typeface="Georgia"/>
              </a:rPr>
              <a:t>Matrix</a:t>
            </a:r>
            <a:r>
              <a:rPr sz="600" b="1" spc="60" dirty="0">
                <a:latin typeface="Georgia"/>
                <a:cs typeface="Georgia"/>
              </a:rPr>
              <a:t> </a:t>
            </a:r>
            <a:r>
              <a:rPr sz="600" b="1" spc="-20" dirty="0">
                <a:latin typeface="Georgia"/>
                <a:cs typeface="Georgia"/>
              </a:rPr>
              <a:t>form:</a:t>
            </a:r>
            <a:r>
              <a:rPr sz="600" b="1" spc="165" dirty="0">
                <a:latin typeface="Georgia"/>
                <a:cs typeface="Georgia"/>
              </a:rPr>
              <a:t> </a:t>
            </a:r>
            <a:r>
              <a:rPr sz="600" b="1" dirty="0">
                <a:latin typeface="Georgia"/>
                <a:cs typeface="Georgia"/>
              </a:rPr>
              <a:t>Ax</a:t>
            </a:r>
            <a:r>
              <a:rPr sz="600" b="1" spc="25" dirty="0">
                <a:latin typeface="Georgia"/>
                <a:cs typeface="Georgia"/>
              </a:rPr>
              <a:t> </a:t>
            </a:r>
            <a:r>
              <a:rPr sz="600" spc="70" dirty="0">
                <a:latin typeface="Garamond"/>
                <a:cs typeface="Garamond"/>
              </a:rPr>
              <a:t>=</a:t>
            </a:r>
            <a:r>
              <a:rPr sz="600" spc="30" dirty="0">
                <a:latin typeface="Garamond"/>
                <a:cs typeface="Garamond"/>
              </a:rPr>
              <a:t> </a:t>
            </a:r>
            <a:r>
              <a:rPr sz="600" b="1" spc="-60" dirty="0">
                <a:latin typeface="Georgia"/>
                <a:cs typeface="Georgia"/>
              </a:rPr>
              <a:t>b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071898" y="1857166"/>
            <a:ext cx="40640" cy="91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00" spc="-50" dirty="0">
                <a:latin typeface="Times New Roman"/>
                <a:cs typeface="Times New Roman"/>
              </a:rPr>
              <a:t>2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531362" y="1821262"/>
            <a:ext cx="104902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  <a:tabLst>
                <a:tab pos="496570" algn="l"/>
              </a:tabLst>
            </a:pPr>
            <a:r>
              <a:rPr sz="600" dirty="0">
                <a:latin typeface="Garamond"/>
                <a:cs typeface="Garamond"/>
              </a:rPr>
              <a:t>1</a:t>
            </a:r>
            <a:r>
              <a:rPr sz="600" spc="190" dirty="0">
                <a:latin typeface="Garamond"/>
                <a:cs typeface="Garamond"/>
              </a:rPr>
              <a:t>  </a:t>
            </a:r>
            <a:r>
              <a:rPr sz="600" i="1" dirty="0">
                <a:latin typeface="Lucida Sans Unicode"/>
                <a:cs typeface="Lucida Sans Unicode"/>
              </a:rPr>
              <a:t>−</a:t>
            </a:r>
            <a:r>
              <a:rPr sz="600" dirty="0">
                <a:latin typeface="Garamond"/>
                <a:cs typeface="Garamond"/>
              </a:rPr>
              <a:t>1</a:t>
            </a:r>
            <a:r>
              <a:rPr sz="600" spc="195" dirty="0">
                <a:latin typeface="Garamond"/>
                <a:cs typeface="Garamond"/>
              </a:rPr>
              <a:t>  </a:t>
            </a:r>
            <a:r>
              <a:rPr sz="600" spc="-50" dirty="0">
                <a:latin typeface="Garamond"/>
                <a:cs typeface="Garamond"/>
              </a:rPr>
              <a:t>0</a:t>
            </a:r>
            <a:r>
              <a:rPr sz="600" dirty="0">
                <a:latin typeface="Garamond"/>
                <a:cs typeface="Garamond"/>
              </a:rPr>
              <a:t>	</a:t>
            </a:r>
            <a:r>
              <a:rPr sz="600" b="0" i="1" dirty="0">
                <a:latin typeface="Bookman Old Style"/>
                <a:cs typeface="Bookman Old Style"/>
              </a:rPr>
              <a:t>x</a:t>
            </a:r>
            <a:r>
              <a:rPr sz="600" b="0" i="1" spc="225" dirty="0">
                <a:latin typeface="Bookman Old Style"/>
                <a:cs typeface="Bookman Old Style"/>
              </a:rPr>
              <a:t>  </a:t>
            </a:r>
            <a:r>
              <a:rPr sz="600" spc="70" dirty="0">
                <a:latin typeface="Garamond"/>
                <a:cs typeface="Garamond"/>
              </a:rPr>
              <a:t>=</a:t>
            </a:r>
            <a:r>
              <a:rPr sz="600" spc="450" dirty="0">
                <a:latin typeface="Garamond"/>
                <a:cs typeface="Garamond"/>
              </a:rPr>
              <a:t> </a:t>
            </a:r>
            <a:r>
              <a:rPr sz="600" spc="-10" dirty="0">
                <a:latin typeface="Garamond"/>
                <a:cs typeface="Garamond"/>
              </a:rPr>
              <a:t>Discard</a:t>
            </a:r>
            <a:endParaRPr sz="600">
              <a:latin typeface="Garamond"/>
              <a:cs typeface="Garamond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505962" y="1931602"/>
            <a:ext cx="109601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  <a:tabLst>
                <a:tab pos="521970" algn="l"/>
                <a:tab pos="808355" algn="l"/>
              </a:tabLst>
            </a:pPr>
            <a:r>
              <a:rPr sz="900" baseline="9259" dirty="0">
                <a:latin typeface="Garamond"/>
                <a:cs typeface="Garamond"/>
              </a:rPr>
              <a:t>0</a:t>
            </a:r>
            <a:r>
              <a:rPr sz="900" spc="465" baseline="9259" dirty="0">
                <a:latin typeface="Garamond"/>
                <a:cs typeface="Garamond"/>
              </a:rPr>
              <a:t>  </a:t>
            </a:r>
            <a:r>
              <a:rPr sz="900" baseline="9259" dirty="0">
                <a:latin typeface="Garamond"/>
                <a:cs typeface="Garamond"/>
              </a:rPr>
              <a:t>1</a:t>
            </a:r>
            <a:r>
              <a:rPr sz="900" spc="465" baseline="9259" dirty="0">
                <a:latin typeface="Garamond"/>
                <a:cs typeface="Garamond"/>
              </a:rPr>
              <a:t>  </a:t>
            </a:r>
            <a:r>
              <a:rPr sz="900" spc="-75" baseline="9259" dirty="0">
                <a:latin typeface="Garamond"/>
                <a:cs typeface="Garamond"/>
              </a:rPr>
              <a:t>1</a:t>
            </a:r>
            <a:r>
              <a:rPr sz="900" baseline="9259" dirty="0">
                <a:latin typeface="Garamond"/>
                <a:cs typeface="Garamond"/>
              </a:rPr>
              <a:t>	</a:t>
            </a:r>
            <a:r>
              <a:rPr sz="900" b="0" i="1" spc="-52" baseline="9259" dirty="0">
                <a:latin typeface="Bookman Old Style"/>
                <a:cs typeface="Bookman Old Style"/>
              </a:rPr>
              <a:t>x</a:t>
            </a:r>
            <a:r>
              <a:rPr sz="400" spc="-35" dirty="0">
                <a:latin typeface="Times New Roman"/>
                <a:cs typeface="Times New Roman"/>
              </a:rPr>
              <a:t>3</a:t>
            </a:r>
            <a:r>
              <a:rPr sz="400" dirty="0">
                <a:latin typeface="Times New Roman"/>
                <a:cs typeface="Times New Roman"/>
              </a:rPr>
              <a:t>	</a:t>
            </a:r>
            <a:r>
              <a:rPr sz="900" spc="-15" baseline="9259" dirty="0">
                <a:latin typeface="Garamond"/>
                <a:cs typeface="Garamond"/>
              </a:rPr>
              <a:t>Output</a:t>
            </a:r>
            <a:endParaRPr sz="900" baseline="9259">
              <a:latin typeface="Garamond"/>
              <a:cs typeface="Garamond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422772" y="1734572"/>
            <a:ext cx="123571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900" spc="-22" baseline="50925" dirty="0">
                <a:latin typeface="Arial"/>
                <a:cs typeface="Arial"/>
              </a:rPr>
              <a:t></a:t>
            </a:r>
            <a:r>
              <a:rPr sz="900" i="1" spc="-22" baseline="9259" dirty="0">
                <a:latin typeface="Lucida Sans Unicode"/>
                <a:cs typeface="Lucida Sans Unicode"/>
              </a:rPr>
              <a:t>−</a:t>
            </a:r>
            <a:r>
              <a:rPr sz="900" spc="-22" baseline="9259" dirty="0">
                <a:latin typeface="Garamond"/>
                <a:cs typeface="Garamond"/>
              </a:rPr>
              <a:t>1</a:t>
            </a:r>
            <a:r>
              <a:rPr sz="900" spc="780" baseline="9259" dirty="0">
                <a:latin typeface="Garamond"/>
                <a:cs typeface="Garamond"/>
              </a:rPr>
              <a:t> </a:t>
            </a:r>
            <a:r>
              <a:rPr sz="900" spc="15" baseline="9259" dirty="0">
                <a:latin typeface="Garamond"/>
                <a:cs typeface="Garamond"/>
              </a:rPr>
              <a:t>0</a:t>
            </a:r>
            <a:r>
              <a:rPr sz="900" spc="780" baseline="9259" dirty="0">
                <a:latin typeface="Garamond"/>
                <a:cs typeface="Garamond"/>
              </a:rPr>
              <a:t> </a:t>
            </a:r>
            <a:r>
              <a:rPr sz="900" i="1" spc="-22" baseline="9259" dirty="0">
                <a:latin typeface="Lucida Sans Unicode"/>
                <a:cs typeface="Lucida Sans Unicode"/>
              </a:rPr>
              <a:t>−</a:t>
            </a:r>
            <a:r>
              <a:rPr sz="900" spc="-22" baseline="9259" dirty="0">
                <a:latin typeface="Garamond"/>
                <a:cs typeface="Garamond"/>
              </a:rPr>
              <a:t>1</a:t>
            </a:r>
            <a:r>
              <a:rPr sz="900" spc="-22" baseline="50925" dirty="0">
                <a:latin typeface="Arial"/>
                <a:cs typeface="Arial"/>
              </a:rPr>
              <a:t></a:t>
            </a:r>
            <a:r>
              <a:rPr sz="900" spc="-97" baseline="50925" dirty="0">
                <a:latin typeface="Arial"/>
                <a:cs typeface="Arial"/>
              </a:rPr>
              <a:t> </a:t>
            </a:r>
            <a:r>
              <a:rPr sz="900" spc="-22" baseline="50925" dirty="0">
                <a:latin typeface="Arial"/>
                <a:cs typeface="Arial"/>
              </a:rPr>
              <a:t></a:t>
            </a:r>
            <a:r>
              <a:rPr sz="900" b="0" i="1" spc="-22" baseline="9259" dirty="0">
                <a:latin typeface="Bookman Old Style"/>
                <a:cs typeface="Bookman Old Style"/>
              </a:rPr>
              <a:t>x</a:t>
            </a:r>
            <a:r>
              <a:rPr sz="400" spc="-15" dirty="0">
                <a:latin typeface="Times New Roman"/>
                <a:cs typeface="Times New Roman"/>
              </a:rPr>
              <a:t>1</a:t>
            </a:r>
            <a:r>
              <a:rPr sz="900" spc="-22" baseline="50925" dirty="0">
                <a:latin typeface="Arial"/>
                <a:cs typeface="Arial"/>
              </a:rPr>
              <a:t></a:t>
            </a:r>
            <a:r>
              <a:rPr sz="900" spc="944" baseline="50925" dirty="0">
                <a:latin typeface="Arial"/>
                <a:cs typeface="Arial"/>
              </a:rPr>
              <a:t> </a:t>
            </a:r>
            <a:r>
              <a:rPr sz="900" spc="-82" baseline="50925" dirty="0">
                <a:latin typeface="Arial"/>
                <a:cs typeface="Arial"/>
              </a:rPr>
              <a:t></a:t>
            </a:r>
            <a:r>
              <a:rPr sz="900" spc="-15" baseline="50925" dirty="0">
                <a:latin typeface="Arial"/>
                <a:cs typeface="Arial"/>
              </a:rPr>
              <a:t> </a:t>
            </a:r>
            <a:r>
              <a:rPr sz="900" i="1" spc="22" baseline="9259" dirty="0">
                <a:latin typeface="Lucida Sans Unicode"/>
                <a:cs typeface="Lucida Sans Unicode"/>
              </a:rPr>
              <a:t>−</a:t>
            </a:r>
            <a:r>
              <a:rPr sz="900" spc="22" baseline="9259" dirty="0">
                <a:latin typeface="Garamond"/>
                <a:cs typeface="Garamond"/>
              </a:rPr>
              <a:t>Feed</a:t>
            </a:r>
            <a:r>
              <a:rPr sz="900" spc="7" baseline="9259" dirty="0">
                <a:latin typeface="Garamond"/>
                <a:cs typeface="Garamond"/>
              </a:rPr>
              <a:t> </a:t>
            </a:r>
            <a:r>
              <a:rPr sz="900" spc="-869" baseline="50925" dirty="0">
                <a:latin typeface="Arial"/>
                <a:cs typeface="Arial"/>
              </a:rPr>
              <a:t></a:t>
            </a:r>
            <a:endParaRPr sz="900" baseline="50925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448172" y="1804715"/>
            <a:ext cx="118491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  <a:tabLst>
                <a:tab pos="461009" algn="l"/>
                <a:tab pos="1118870" algn="l"/>
              </a:tabLst>
            </a:pPr>
            <a:r>
              <a:rPr sz="600" spc="-50" dirty="0">
                <a:latin typeface="Arial"/>
                <a:cs typeface="Arial"/>
              </a:rPr>
              <a:t></a:t>
            </a:r>
            <a:r>
              <a:rPr sz="600" dirty="0">
                <a:latin typeface="Arial"/>
                <a:cs typeface="Arial"/>
              </a:rPr>
              <a:t>	</a:t>
            </a:r>
            <a:r>
              <a:rPr sz="600" spc="-60" dirty="0">
                <a:latin typeface="Arial"/>
                <a:cs typeface="Arial"/>
              </a:rPr>
              <a:t></a:t>
            </a:r>
            <a:r>
              <a:rPr sz="600" spc="-6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</a:t>
            </a:r>
            <a:r>
              <a:rPr sz="600" spc="35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</a:t>
            </a:r>
            <a:r>
              <a:rPr sz="600" spc="204" dirty="0">
                <a:latin typeface="Arial"/>
                <a:cs typeface="Arial"/>
              </a:rPr>
              <a:t>  </a:t>
            </a:r>
            <a:r>
              <a:rPr sz="600" spc="-50" dirty="0">
                <a:latin typeface="Arial"/>
                <a:cs typeface="Arial"/>
              </a:rPr>
              <a:t></a:t>
            </a:r>
            <a:r>
              <a:rPr sz="600" dirty="0">
                <a:latin typeface="Arial"/>
                <a:cs typeface="Arial"/>
              </a:rPr>
              <a:t>	</a:t>
            </a:r>
            <a:r>
              <a:rPr sz="600" spc="-130" dirty="0">
                <a:latin typeface="Arial"/>
                <a:cs typeface="Arial"/>
              </a:rPr>
              <a:t></a:t>
            </a:r>
            <a:endParaRPr sz="6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969880" y="1354471"/>
            <a:ext cx="1574165" cy="96075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 marR="30480">
              <a:lnSpc>
                <a:spcPct val="114799"/>
              </a:lnSpc>
              <a:spcBef>
                <a:spcPts val="20"/>
              </a:spcBef>
            </a:pPr>
            <a:r>
              <a:rPr sz="1350" baseline="6172" dirty="0">
                <a:solidFill>
                  <a:srgbClr val="22373A"/>
                </a:solidFill>
                <a:latin typeface="Calibri"/>
                <a:cs typeface="Calibri"/>
              </a:rPr>
              <a:t>Where</a:t>
            </a:r>
            <a:r>
              <a:rPr sz="1350" spc="142" baseline="6172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350" i="1" spc="-30" baseline="6172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600" spc="-2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350" i="1" spc="-30" baseline="6172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1350" i="1" spc="-97" baseline="6172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350" i="1" spc="-15" baseline="6172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600" spc="-10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1350" i="1" spc="-15" baseline="6172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1350" i="1" spc="-104" baseline="6172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350" i="1" baseline="6172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3</a:t>
            </a:r>
            <a:r>
              <a:rPr sz="600" spc="2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350" baseline="6172" dirty="0">
                <a:solidFill>
                  <a:srgbClr val="22373A"/>
                </a:solidFill>
                <a:latin typeface="Calibri"/>
                <a:cs typeface="Calibri"/>
              </a:rPr>
              <a:t>represent</a:t>
            </a:r>
            <a:r>
              <a:rPr sz="1350" spc="150" baseline="6172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350" spc="-30" baseline="6172" dirty="0">
                <a:solidFill>
                  <a:srgbClr val="22373A"/>
                </a:solidFill>
                <a:latin typeface="Calibri"/>
                <a:cs typeface="Calibri"/>
              </a:rPr>
              <a:t>flow</a:t>
            </a:r>
            <a:r>
              <a:rPr sz="1350" spc="750" baseline="6172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rates.</a:t>
            </a:r>
            <a:r>
              <a:rPr sz="900" spc="3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Such</a:t>
            </a:r>
            <a:r>
              <a:rPr sz="9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systems</a:t>
            </a:r>
            <a:r>
              <a:rPr sz="9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appear</a:t>
            </a:r>
            <a:r>
              <a:rPr sz="900" spc="5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everywhere</a:t>
            </a:r>
            <a:r>
              <a:rPr sz="900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900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engineering:</a:t>
            </a:r>
            <a:r>
              <a:rPr sz="900" spc="5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heat</a:t>
            </a:r>
            <a:r>
              <a:rPr sz="9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transfer,</a:t>
            </a:r>
            <a:r>
              <a:rPr sz="900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electrical</a:t>
            </a:r>
            <a:r>
              <a:rPr sz="900" spc="5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</a:rPr>
              <a:t>circuits,</a:t>
            </a:r>
            <a:r>
              <a:rPr sz="9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</a:rPr>
              <a:t>structural</a:t>
            </a:r>
            <a:r>
              <a:rPr sz="9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analysis,</a:t>
            </a:r>
            <a:r>
              <a:rPr sz="900" spc="5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900" spc="2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process</a:t>
            </a:r>
            <a:r>
              <a:rPr sz="900" spc="229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optimization.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47294" y="2862990"/>
            <a:ext cx="28086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0" dirty="0">
                <a:solidFill>
                  <a:srgbClr val="EB801A"/>
                </a:solidFill>
                <a:latin typeface="Calibri"/>
                <a:cs typeface="Calibri"/>
              </a:rPr>
              <a:t>How</a:t>
            </a:r>
            <a:r>
              <a:rPr sz="1000" spc="125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EB801A"/>
                </a:solidFill>
                <a:latin typeface="Calibri"/>
                <a:cs typeface="Calibri"/>
              </a:rPr>
              <a:t>do</a:t>
            </a:r>
            <a:r>
              <a:rPr sz="1000" spc="130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EB801A"/>
                </a:solidFill>
                <a:latin typeface="Calibri"/>
                <a:cs typeface="Calibri"/>
              </a:rPr>
              <a:t>we</a:t>
            </a:r>
            <a:r>
              <a:rPr sz="1000" spc="130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EB801A"/>
                </a:solidFill>
                <a:latin typeface="Calibri"/>
                <a:cs typeface="Calibri"/>
              </a:rPr>
              <a:t>solve</a:t>
            </a:r>
            <a:r>
              <a:rPr sz="1000" spc="130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EB801A"/>
                </a:solidFill>
                <a:latin typeface="Calibri"/>
                <a:cs typeface="Calibri"/>
              </a:rPr>
              <a:t>these</a:t>
            </a:r>
            <a:r>
              <a:rPr sz="1000" spc="130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EB801A"/>
                </a:solidFill>
                <a:latin typeface="Calibri"/>
                <a:cs typeface="Calibri"/>
              </a:rPr>
              <a:t>efficiently</a:t>
            </a:r>
            <a:r>
              <a:rPr sz="1000" spc="130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EB801A"/>
                </a:solidFill>
                <a:latin typeface="Calibri"/>
                <a:cs typeface="Calibri"/>
              </a:rPr>
              <a:t>and</a:t>
            </a:r>
            <a:r>
              <a:rPr sz="1000" spc="130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EB801A"/>
                </a:solidFill>
                <a:latin typeface="Calibri"/>
                <a:cs typeface="Calibri"/>
              </a:rPr>
              <a:t>accurately?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44005" y="3083128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120" dirty="0"/>
              <a:t> </a:t>
            </a:r>
            <a:r>
              <a:rPr dirty="0"/>
              <a:t>system</a:t>
            </a:r>
            <a:r>
              <a:rPr spc="120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Linear</a:t>
            </a:r>
            <a:r>
              <a:rPr spc="-45" dirty="0"/>
              <a:t> </a:t>
            </a:r>
            <a:r>
              <a:rPr spc="-50" dirty="0"/>
              <a:t>System</a:t>
            </a:r>
            <a:r>
              <a:rPr spc="-40" dirty="0"/>
              <a:t> </a:t>
            </a:r>
            <a:r>
              <a:rPr spc="-85" dirty="0"/>
              <a:t>Of</a:t>
            </a:r>
            <a:r>
              <a:rPr spc="-40" dirty="0"/>
              <a:t> </a:t>
            </a:r>
            <a:r>
              <a:rPr spc="-35" dirty="0"/>
              <a:t>Equations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653574"/>
            <a:ext cx="5045710" cy="793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system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linear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equations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consists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several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EB801A"/>
                </a:solidFill>
                <a:latin typeface="Calibri"/>
                <a:cs typeface="Calibri"/>
              </a:rPr>
              <a:t>linear</a:t>
            </a:r>
            <a:r>
              <a:rPr sz="1000" spc="140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EB801A"/>
                </a:solidFill>
                <a:latin typeface="Calibri"/>
                <a:cs typeface="Calibri"/>
              </a:rPr>
              <a:t>equations</a:t>
            </a:r>
            <a:r>
              <a:rPr sz="1000" spc="140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that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must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all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be</a:t>
            </a:r>
            <a:r>
              <a:rPr sz="1000" spc="5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satisfied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simultaneously.</a:t>
            </a:r>
            <a:r>
              <a:rPr sz="1000" spc="2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solution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vector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whose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elements,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when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substituted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for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 unknowns,</a:t>
            </a:r>
            <a:r>
              <a:rPr sz="1000" spc="2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satisfy</a:t>
            </a:r>
            <a:r>
              <a:rPr sz="1000" spc="2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all</a:t>
            </a:r>
            <a:r>
              <a:rPr sz="1000" spc="229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equations.</a:t>
            </a:r>
            <a:endParaRPr sz="1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From</a:t>
            </a:r>
            <a:r>
              <a:rPr sz="10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classical</a:t>
            </a:r>
            <a:r>
              <a:rPr sz="1000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representation</a:t>
            </a:r>
            <a:r>
              <a:rPr sz="1000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000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55" dirty="0">
                <a:solidFill>
                  <a:srgbClr val="EB801A"/>
                </a:solidFill>
                <a:latin typeface="Lucida Sans Unicode"/>
                <a:cs typeface="Lucida Sans Unicode"/>
              </a:rPr>
              <a:t>matrix</a:t>
            </a:r>
            <a:r>
              <a:rPr sz="1000" spc="65" dirty="0">
                <a:solidFill>
                  <a:srgbClr val="EB801A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form: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64891" y="2582917"/>
            <a:ext cx="4305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25" dirty="0">
                <a:solidFill>
                  <a:srgbClr val="3C7F31"/>
                </a:solidFill>
                <a:latin typeface="Lucida Sans Unicode"/>
                <a:cs typeface="Lucida Sans Unicode"/>
              </a:rPr>
              <a:t>A</a:t>
            </a:r>
            <a:r>
              <a:rPr sz="1000" spc="-100" dirty="0">
                <a:solidFill>
                  <a:srgbClr val="3C7F31"/>
                </a:solidFill>
                <a:latin typeface="Lucida Sans Unicode"/>
                <a:cs typeface="Lucida Sans Unicode"/>
              </a:rPr>
              <a:t> </a:t>
            </a:r>
            <a:r>
              <a:rPr sz="1000" spc="-140" dirty="0">
                <a:solidFill>
                  <a:srgbClr val="006EB8"/>
                </a:solidFill>
                <a:latin typeface="Lucida Sans Unicode"/>
                <a:cs typeface="Lucida Sans Unicode"/>
              </a:rPr>
              <a:t>x</a:t>
            </a:r>
            <a:r>
              <a:rPr sz="1000" spc="-40" dirty="0">
                <a:solidFill>
                  <a:srgbClr val="006EB8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000" spc="-6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60" dirty="0">
                <a:solidFill>
                  <a:srgbClr val="EE2868"/>
                </a:solidFill>
                <a:latin typeface="Lucida Sans Unicode"/>
                <a:cs typeface="Lucida Sans Unicode"/>
              </a:rPr>
              <a:t>b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44005" y="3083128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120" dirty="0"/>
              <a:t> </a:t>
            </a:r>
            <a:r>
              <a:rPr dirty="0"/>
              <a:t>system</a:t>
            </a:r>
            <a:r>
              <a:rPr spc="120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63DF4CE6-DFB9-4E58-8E87-134070FB4B43}"/>
                  </a:ext>
                </a:extLst>
              </p:cNvPr>
              <p:cNvSpPr txBox="1"/>
              <p:nvPr/>
            </p:nvSpPr>
            <p:spPr>
              <a:xfrm>
                <a:off x="101755" y="1611882"/>
                <a:ext cx="2472712" cy="9710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it-IT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it-IT" sz="1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1,2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it-IT" sz="1400" dirty="0"/>
              </a:p>
            </p:txBody>
          </p:sp>
        </mc:Choice>
        <mc:Fallback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63DF4CE6-DFB9-4E58-8E87-134070FB4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55" y="1611882"/>
                <a:ext cx="2472712" cy="971035"/>
              </a:xfrm>
              <a:prstGeom prst="rect">
                <a:avLst/>
              </a:prstGeom>
              <a:blipFill>
                <a:blip r:embed="rId2"/>
                <a:stretch>
                  <a:fillRect r="-106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9CE37ACD-8E66-32E7-A468-5910A84B16D3}"/>
                  </a:ext>
                </a:extLst>
              </p:cNvPr>
              <p:cNvSpPr txBox="1"/>
              <p:nvPr/>
            </p:nvSpPr>
            <p:spPr>
              <a:xfrm>
                <a:off x="3106533" y="1755029"/>
                <a:ext cx="2438400" cy="6847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it-IT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it-IT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it-IT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1400" dirty="0"/>
              </a:p>
            </p:txBody>
          </p:sp>
        </mc:Choice>
        <mc:Fallback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9CE37ACD-8E66-32E7-A468-5910A84B1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6533" y="1755029"/>
                <a:ext cx="2438400" cy="6847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631" y="75410"/>
            <a:ext cx="21412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Why</a:t>
            </a:r>
            <a:r>
              <a:rPr spc="-45" dirty="0"/>
              <a:t> </a:t>
            </a:r>
            <a:r>
              <a:rPr spc="-55" dirty="0"/>
              <a:t>Not</a:t>
            </a:r>
            <a:r>
              <a:rPr spc="-45" dirty="0"/>
              <a:t> </a:t>
            </a:r>
            <a:r>
              <a:rPr spc="-40" dirty="0"/>
              <a:t>Just</a:t>
            </a:r>
            <a:r>
              <a:rPr spc="-45" dirty="0"/>
              <a:t> </a:t>
            </a:r>
            <a:r>
              <a:rPr spc="-35" dirty="0"/>
              <a:t>Invert</a:t>
            </a:r>
            <a:r>
              <a:rPr spc="-40" dirty="0"/>
              <a:t> the</a:t>
            </a:r>
            <a:r>
              <a:rPr spc="-45" dirty="0"/>
              <a:t> </a:t>
            </a:r>
            <a:r>
              <a:rPr spc="-35" dirty="0"/>
              <a:t>Matrix?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9194" y="456551"/>
            <a:ext cx="5007610" cy="22326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“obvious”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solution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would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be:</a:t>
            </a:r>
            <a:endParaRPr sz="1100">
              <a:latin typeface="Calibri"/>
              <a:cs typeface="Calibri"/>
            </a:endParaRPr>
          </a:p>
          <a:p>
            <a:pPr marL="133985" algn="ctr">
              <a:lnSpc>
                <a:spcPct val="100000"/>
              </a:lnSpc>
              <a:spcBef>
                <a:spcPts val="1040"/>
              </a:spcBef>
            </a:pPr>
            <a:r>
              <a:rPr sz="1100" spc="-155" dirty="0">
                <a:solidFill>
                  <a:srgbClr val="22373A"/>
                </a:solidFill>
                <a:latin typeface="Lucida Sans Unicode"/>
                <a:cs typeface="Lucida Sans Unicode"/>
              </a:rPr>
              <a:t>x</a:t>
            </a:r>
            <a:r>
              <a:rPr sz="11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-7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Lucida Sans Unicode"/>
                <a:cs typeface="Lucida Sans Unicode"/>
              </a:rPr>
              <a:t>A</a:t>
            </a:r>
            <a:r>
              <a:rPr sz="1200" spc="-30" baseline="31250" dirty="0">
                <a:solidFill>
                  <a:srgbClr val="22373A"/>
                </a:solidFill>
                <a:latin typeface="Cambria"/>
                <a:cs typeface="Cambria"/>
              </a:rPr>
              <a:t>−</a:t>
            </a:r>
            <a:r>
              <a:rPr sz="1200" spc="-30" baseline="312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100" spc="-20" dirty="0">
                <a:solidFill>
                  <a:srgbClr val="22373A"/>
                </a:solidFill>
                <a:latin typeface="Lucida Sans Unicode"/>
                <a:cs typeface="Lucida Sans Unicode"/>
              </a:rPr>
              <a:t>b</a:t>
            </a:r>
            <a:endParaRPr sz="11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spcBef>
                <a:spcPts val="1585"/>
              </a:spcBef>
            </a:pPr>
            <a:r>
              <a:rPr sz="1100" spc="-70" dirty="0">
                <a:solidFill>
                  <a:srgbClr val="EE2868"/>
                </a:solidFill>
                <a:latin typeface="Lucida Sans Unicode"/>
                <a:cs typeface="Lucida Sans Unicode"/>
              </a:rPr>
              <a:t>This</a:t>
            </a:r>
            <a:r>
              <a:rPr sz="1100" spc="-50" dirty="0">
                <a:solidFill>
                  <a:srgbClr val="EE2868"/>
                </a:solidFill>
                <a:latin typeface="Lucida Sans Unicode"/>
                <a:cs typeface="Lucida Sans Unicode"/>
              </a:rPr>
              <a:t> approach </a:t>
            </a:r>
            <a:r>
              <a:rPr sz="1100" spc="-40" dirty="0">
                <a:solidFill>
                  <a:srgbClr val="EE2868"/>
                </a:solidFill>
                <a:latin typeface="Lucida Sans Unicode"/>
                <a:cs typeface="Lucida Sans Unicode"/>
              </a:rPr>
              <a:t>is</a:t>
            </a:r>
            <a:r>
              <a:rPr sz="1100" spc="-45" dirty="0">
                <a:solidFill>
                  <a:srgbClr val="EE2868"/>
                </a:solidFill>
                <a:latin typeface="Lucida Sans Unicode"/>
                <a:cs typeface="Lucida Sans Unicode"/>
              </a:rPr>
              <a:t> </a:t>
            </a:r>
            <a:r>
              <a:rPr sz="1100" spc="-35" dirty="0">
                <a:solidFill>
                  <a:srgbClr val="EE2868"/>
                </a:solidFill>
                <a:latin typeface="Lucida Sans Unicode"/>
                <a:cs typeface="Lucida Sans Unicode"/>
              </a:rPr>
              <a:t>impractical!</a:t>
            </a:r>
            <a:r>
              <a:rPr sz="1100" spc="70" dirty="0">
                <a:solidFill>
                  <a:srgbClr val="EE2868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Here’s</a:t>
            </a:r>
            <a:r>
              <a:rPr sz="1100" spc="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why:</a:t>
            </a:r>
            <a:endParaRPr sz="1100">
              <a:latin typeface="Calibri"/>
              <a:cs typeface="Calibri"/>
            </a:endParaRPr>
          </a:p>
          <a:p>
            <a:pPr marL="325755" marR="108585" indent="-175260">
              <a:lnSpc>
                <a:spcPct val="118000"/>
              </a:lnSpc>
              <a:spcBef>
                <a:spcPts val="1005"/>
              </a:spcBef>
              <a:buFont typeface="Arial"/>
              <a:buChar char="►"/>
              <a:tabLst>
                <a:tab pos="327660" algn="l"/>
              </a:tabLst>
            </a:pPr>
            <a:r>
              <a:rPr sz="1100" spc="-55" dirty="0">
                <a:solidFill>
                  <a:srgbClr val="22373A"/>
                </a:solidFill>
                <a:latin typeface="Lucida Sans Unicode"/>
                <a:cs typeface="Lucida Sans Unicode"/>
              </a:rPr>
              <a:t>Computational</a:t>
            </a:r>
            <a:r>
              <a:rPr sz="1100" spc="5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cost:</a:t>
            </a:r>
            <a:r>
              <a:rPr sz="1100" spc="21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Computing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A</a:t>
            </a:r>
            <a:r>
              <a:rPr sz="1200" baseline="27777" dirty="0">
                <a:solidFill>
                  <a:srgbClr val="22373A"/>
                </a:solidFill>
                <a:latin typeface="Cambria"/>
                <a:cs typeface="Cambria"/>
              </a:rPr>
              <a:t>−</a:t>
            </a:r>
            <a:r>
              <a:rPr sz="1200" baseline="27777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200" spc="450" baseline="27777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requires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∼</a:t>
            </a:r>
            <a:r>
              <a:rPr sz="1100" spc="8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O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(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1200" baseline="27777" dirty="0">
                <a:solidFill>
                  <a:srgbClr val="22373A"/>
                </a:solidFill>
                <a:latin typeface="Calibri"/>
                <a:cs typeface="Calibri"/>
              </a:rPr>
              <a:t>3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)</a:t>
            </a:r>
            <a:r>
              <a:rPr sz="1100" spc="7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operations,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same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35" dirty="0">
                <a:solidFill>
                  <a:srgbClr val="22373A"/>
                </a:solidFill>
                <a:latin typeface="Calibri"/>
                <a:cs typeface="Calibri"/>
              </a:rPr>
              <a:t>as 	</a:t>
            </a:r>
            <a:r>
              <a:rPr sz="1100" spc="45" dirty="0">
                <a:solidFill>
                  <a:srgbClr val="22373A"/>
                </a:solidFill>
                <a:latin typeface="Calibri"/>
                <a:cs typeface="Calibri"/>
              </a:rPr>
              <a:t>solving</a:t>
            </a:r>
            <a:r>
              <a:rPr sz="1100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system</a:t>
            </a:r>
            <a:r>
              <a:rPr sz="1100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directly</a:t>
            </a:r>
            <a:endParaRPr sz="1100">
              <a:latin typeface="Calibri"/>
              <a:cs typeface="Calibri"/>
            </a:endParaRPr>
          </a:p>
          <a:p>
            <a:pPr marL="325755" marR="43180" indent="-175260">
              <a:lnSpc>
                <a:spcPct val="118000"/>
              </a:lnSpc>
              <a:spcBef>
                <a:spcPts val="1005"/>
              </a:spcBef>
              <a:buFont typeface="Arial"/>
              <a:buChar char="►"/>
              <a:tabLst>
                <a:tab pos="327660" algn="l"/>
              </a:tabLst>
            </a:pP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Numerical</a:t>
            </a:r>
            <a:r>
              <a:rPr sz="1100" spc="10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instability:</a:t>
            </a:r>
            <a:r>
              <a:rPr sz="1100" spc="28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Direct</a:t>
            </a:r>
            <a:r>
              <a:rPr sz="1100" spc="229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inversion</a:t>
            </a:r>
            <a:r>
              <a:rPr sz="1100" spc="2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amplifies</a:t>
            </a:r>
            <a:r>
              <a:rPr sz="1100" spc="229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rounding</a:t>
            </a:r>
            <a:r>
              <a:rPr sz="1100" spc="2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errors,</a:t>
            </a:r>
            <a:r>
              <a:rPr sz="1100" spc="229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especially 	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for</a:t>
            </a:r>
            <a:r>
              <a:rPr sz="11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ill-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conditioned</a:t>
            </a:r>
            <a:r>
              <a:rPr sz="11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matrices</a:t>
            </a:r>
            <a:endParaRPr sz="1100">
              <a:latin typeface="Calibri"/>
              <a:cs typeface="Calibri"/>
            </a:endParaRPr>
          </a:p>
          <a:p>
            <a:pPr marL="325755" indent="-175260">
              <a:lnSpc>
                <a:spcPct val="100000"/>
              </a:lnSpc>
              <a:spcBef>
                <a:spcPts val="1240"/>
              </a:spcBef>
              <a:buFont typeface="Arial"/>
              <a:buChar char="►"/>
              <a:tabLst>
                <a:tab pos="325755" algn="l"/>
              </a:tabLst>
            </a:pP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Memory:</a:t>
            </a:r>
            <a:r>
              <a:rPr sz="1100" spc="2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Storing</a:t>
            </a:r>
            <a:r>
              <a:rPr sz="11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full</a:t>
            </a:r>
            <a:r>
              <a:rPr sz="11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inverse</a:t>
            </a:r>
            <a:r>
              <a:rPr sz="11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matrix</a:t>
            </a:r>
            <a:r>
              <a:rPr sz="11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requires</a:t>
            </a:r>
            <a:r>
              <a:rPr sz="11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1200" baseline="27777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1200" spc="487" baseline="27777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memory</a:t>
            </a:r>
            <a:r>
              <a:rPr sz="11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35" dirty="0">
                <a:solidFill>
                  <a:srgbClr val="22373A"/>
                </a:solidFill>
                <a:latin typeface="Calibri"/>
                <a:cs typeface="Calibri"/>
              </a:rPr>
              <a:t>locations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4005" y="3083128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7088" y="2807772"/>
            <a:ext cx="3549015" cy="40576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82575">
              <a:lnSpc>
                <a:spcPct val="100000"/>
              </a:lnSpc>
              <a:spcBef>
                <a:spcPts val="204"/>
              </a:spcBef>
            </a:pPr>
            <a:r>
              <a:rPr sz="1100" spc="-254" dirty="0">
                <a:solidFill>
                  <a:srgbClr val="22373A"/>
                </a:solidFill>
                <a:latin typeface="Arial"/>
                <a:cs typeface="Arial"/>
              </a:rPr>
              <a:t>►</a:t>
            </a:r>
            <a:r>
              <a:rPr sz="1100" spc="3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Singularity:</a:t>
            </a:r>
            <a:r>
              <a:rPr sz="1100" spc="12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If</a:t>
            </a:r>
            <a:r>
              <a:rPr sz="11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22373A"/>
                </a:solidFill>
                <a:latin typeface="Lucida Sans Unicode"/>
                <a:cs typeface="Lucida Sans Unicode"/>
              </a:rPr>
              <a:t>det(A)</a:t>
            </a:r>
            <a:r>
              <a:rPr sz="1100" spc="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0,</a:t>
            </a:r>
            <a:r>
              <a:rPr sz="1100" spc="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inverse</a:t>
            </a:r>
            <a:r>
              <a:rPr sz="11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doesn’t</a:t>
            </a:r>
            <a:r>
              <a:rPr sz="11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exist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Linear</a:t>
            </a:r>
            <a:r>
              <a:rPr sz="6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system</a:t>
            </a:r>
            <a:r>
              <a:rPr sz="6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6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22373A"/>
                </a:solidFill>
                <a:latin typeface="Calibri"/>
                <a:cs typeface="Calibri"/>
              </a:rPr>
              <a:t>equations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631" y="75410"/>
            <a:ext cx="20110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80" dirty="0"/>
              <a:t>The</a:t>
            </a:r>
            <a:r>
              <a:rPr spc="-60" dirty="0"/>
              <a:t> </a:t>
            </a:r>
            <a:r>
              <a:rPr spc="-45" dirty="0"/>
              <a:t>Goal:</a:t>
            </a:r>
            <a:r>
              <a:rPr spc="50" dirty="0"/>
              <a:t> </a:t>
            </a:r>
            <a:r>
              <a:rPr spc="-65" dirty="0"/>
              <a:t>Triangular</a:t>
            </a:r>
            <a:r>
              <a:rPr spc="-60" dirty="0"/>
              <a:t> </a:t>
            </a:r>
            <a:r>
              <a:rPr spc="-30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64323"/>
            <a:ext cx="31667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Consider</a:t>
            </a:r>
            <a:r>
              <a:rPr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this</a:t>
            </a:r>
            <a:r>
              <a:rPr sz="1100" spc="2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simple</a:t>
            </a:r>
            <a:r>
              <a:rPr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3</a:t>
            </a:r>
            <a:r>
              <a:rPr sz="11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×</a:t>
            </a:r>
            <a:r>
              <a:rPr sz="1100" spc="2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3</a:t>
            </a:r>
            <a:r>
              <a:rPr sz="1100" spc="2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B801A"/>
                </a:solidFill>
                <a:latin typeface="Calibri"/>
                <a:cs typeface="Calibri"/>
              </a:rPr>
              <a:t>upper</a:t>
            </a:r>
            <a:r>
              <a:rPr sz="1100" spc="215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B801A"/>
                </a:solidFill>
                <a:latin typeface="Calibri"/>
                <a:cs typeface="Calibri"/>
              </a:rPr>
              <a:t>triangular</a:t>
            </a:r>
            <a:r>
              <a:rPr sz="1100" spc="220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system: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7304" y="1738355"/>
            <a:ext cx="23704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This</a:t>
            </a:r>
            <a:r>
              <a:rPr sz="10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0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easy</a:t>
            </a:r>
            <a:r>
              <a:rPr sz="1000" spc="1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to</a:t>
            </a:r>
            <a:r>
              <a:rPr sz="1000" spc="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solve</a:t>
            </a:r>
            <a:r>
              <a:rPr sz="1000" spc="3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by</a:t>
            </a:r>
            <a:r>
              <a:rPr sz="10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B801A"/>
                </a:solidFill>
                <a:latin typeface="Calibri"/>
                <a:cs typeface="Calibri"/>
              </a:rPr>
              <a:t>back-</a:t>
            </a:r>
            <a:r>
              <a:rPr sz="1000" spc="-10" dirty="0">
                <a:solidFill>
                  <a:srgbClr val="EB801A"/>
                </a:solidFill>
                <a:latin typeface="Calibri"/>
                <a:cs typeface="Calibri"/>
              </a:rPr>
              <a:t>substitution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5921" y="2075603"/>
            <a:ext cx="93471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solidFill>
                  <a:srgbClr val="22373A"/>
                </a:solidFill>
                <a:latin typeface="Arial"/>
                <a:cs typeface="Arial"/>
              </a:rPr>
              <a:t>z</a:t>
            </a:r>
            <a:r>
              <a:rPr sz="10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000" spc="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500" u="sng" spc="30" baseline="36111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Calibri"/>
                <a:cs typeface="Calibri"/>
              </a:rPr>
              <a:t> </a:t>
            </a:r>
            <a:r>
              <a:rPr sz="1500" u="sng" baseline="36111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Calibri"/>
                <a:cs typeface="Calibri"/>
              </a:rPr>
              <a:t>3</a:t>
            </a:r>
            <a:r>
              <a:rPr sz="1500" u="none" spc="569" baseline="36111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u="none" dirty="0">
                <a:solidFill>
                  <a:srgbClr val="22373A"/>
                </a:solidFill>
                <a:latin typeface="Lucida Sans Unicode"/>
                <a:cs typeface="Lucida Sans Unicode"/>
              </a:rPr>
              <a:t>≈</a:t>
            </a:r>
            <a:r>
              <a:rPr sz="1000" u="none" spc="-6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u="none" spc="-1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1000" i="1" u="none" spc="-10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000" u="none" spc="-10" dirty="0">
                <a:solidFill>
                  <a:srgbClr val="22373A"/>
                </a:solidFill>
                <a:latin typeface="Calibri"/>
                <a:cs typeface="Calibri"/>
              </a:rPr>
              <a:t>065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3231" y="2385521"/>
            <a:ext cx="2235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solidFill>
                  <a:srgbClr val="22373A"/>
                </a:solidFill>
                <a:latin typeface="Arial"/>
                <a:cs typeface="Arial"/>
              </a:rPr>
              <a:t>y </a:t>
            </a:r>
            <a:r>
              <a:rPr sz="10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61263" y="2162395"/>
            <a:ext cx="35433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40"/>
              </a:lnSpc>
              <a:spcBef>
                <a:spcPts val="95"/>
              </a:spcBef>
            </a:pP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46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1140"/>
              </a:lnSpc>
            </a:pPr>
            <a:r>
              <a:rPr sz="1000" u="sng" spc="-90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Calibri"/>
                <a:cs typeface="Calibri"/>
              </a:rPr>
              <a:t>7</a:t>
            </a:r>
            <a:r>
              <a:rPr sz="1000" u="sng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Calibri"/>
                <a:cs typeface="Calibri"/>
              </a:rPr>
              <a:t> </a:t>
            </a:r>
            <a:r>
              <a:rPr sz="1000" u="sng" spc="-40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sz="1000" u="sng" spc="-85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sz="1000" u="sng" spc="-25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Calibri"/>
                <a:cs typeface="Calibri"/>
              </a:rPr>
              <a:t>9</a:t>
            </a:r>
            <a:r>
              <a:rPr sz="1000" i="1" u="sng" spc="-25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Arial"/>
                <a:cs typeface="Arial"/>
              </a:rPr>
              <a:t>z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63066" y="2472313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65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43113" y="2385521"/>
            <a:ext cx="46735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Lucida Sans Unicode"/>
                <a:cs typeface="Lucida Sans Unicode"/>
              </a:rPr>
              <a:t>≈</a:t>
            </a:r>
            <a:r>
              <a:rPr sz="1000" spc="-7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1000" i="1" spc="-10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098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1121" y="2609854"/>
            <a:ext cx="16211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00" i="1" baseline="-36111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1500" i="1" spc="-75" baseline="-3611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500" baseline="-36111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500" spc="67" baseline="-36111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u="sng" spc="-20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Calibri"/>
                <a:cs typeface="Calibri"/>
              </a:rPr>
              <a:t>87</a:t>
            </a:r>
            <a:r>
              <a:rPr sz="1000" u="sng" spc="-30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Calibri"/>
                <a:cs typeface="Calibri"/>
              </a:rPr>
              <a:t> </a:t>
            </a:r>
            <a:r>
              <a:rPr sz="1000" u="sng" spc="-40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sz="1000" u="sng" spc="-95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sz="1000" u="sng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Calibri"/>
                <a:cs typeface="Calibri"/>
              </a:rPr>
              <a:t>89</a:t>
            </a:r>
            <a:r>
              <a:rPr sz="1000" i="1" u="sng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Arial"/>
                <a:cs typeface="Arial"/>
              </a:rPr>
              <a:t>y</a:t>
            </a:r>
            <a:r>
              <a:rPr sz="1000" i="1" u="sng" spc="-35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Arial"/>
                <a:cs typeface="Arial"/>
              </a:rPr>
              <a:t> </a:t>
            </a:r>
            <a:r>
              <a:rPr sz="1000" u="sng" spc="-40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sz="1000" u="sng" spc="-95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sz="1000" u="sng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Calibri"/>
                <a:cs typeface="Calibri"/>
              </a:rPr>
              <a:t>66</a:t>
            </a:r>
            <a:r>
              <a:rPr sz="1000" i="1" u="sng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Arial"/>
                <a:cs typeface="Arial"/>
              </a:rPr>
              <a:t>z</a:t>
            </a:r>
            <a:r>
              <a:rPr sz="1000" i="1" u="none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500" u="none" baseline="-36111" dirty="0">
                <a:solidFill>
                  <a:srgbClr val="22373A"/>
                </a:solidFill>
                <a:latin typeface="Lucida Sans Unicode"/>
                <a:cs typeface="Lucida Sans Unicode"/>
              </a:rPr>
              <a:t>≈</a:t>
            </a:r>
            <a:r>
              <a:rPr sz="1500" u="none" spc="-97" baseline="-36111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500" u="none" spc="-30" baseline="-36111" dirty="0">
                <a:solidFill>
                  <a:srgbClr val="22373A"/>
                </a:solidFill>
                <a:latin typeface="Calibri"/>
                <a:cs typeface="Calibri"/>
              </a:rPr>
              <a:t>26</a:t>
            </a:r>
            <a:r>
              <a:rPr sz="1500" i="1" u="none" spc="-30" baseline="-3611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500" u="none" spc="-30" baseline="-36111" dirty="0">
                <a:solidFill>
                  <a:srgbClr val="22373A"/>
                </a:solidFill>
                <a:latin typeface="Calibri"/>
                <a:cs typeface="Calibri"/>
              </a:rPr>
              <a:t>09</a:t>
            </a:r>
            <a:endParaRPr sz="1500" baseline="-36111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61894" y="2016427"/>
            <a:ext cx="2343150" cy="61912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40"/>
              </a:spcBef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Cost:</a:t>
            </a:r>
            <a:r>
              <a:rPr sz="1100" spc="2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Only</a:t>
            </a:r>
            <a:r>
              <a:rPr sz="11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O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(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1200" baseline="27777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)</a:t>
            </a:r>
            <a:r>
              <a:rPr sz="1100" spc="2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operations!</a:t>
            </a:r>
            <a:endParaRPr sz="1100">
              <a:latin typeface="Calibri"/>
              <a:cs typeface="Calibri"/>
            </a:endParaRPr>
          </a:p>
          <a:p>
            <a:pPr marL="38100" marR="30480">
              <a:lnSpc>
                <a:spcPct val="118000"/>
              </a:lnSpc>
            </a:pPr>
            <a:r>
              <a:rPr sz="1100" spc="-75" dirty="0">
                <a:solidFill>
                  <a:srgbClr val="EE2868"/>
                </a:solidFill>
                <a:latin typeface="Lucida Sans Unicode"/>
                <a:cs typeface="Lucida Sans Unicode"/>
              </a:rPr>
              <a:t>Our</a:t>
            </a:r>
            <a:r>
              <a:rPr sz="1100" spc="-50" dirty="0">
                <a:solidFill>
                  <a:srgbClr val="EE2868"/>
                </a:solidFill>
                <a:latin typeface="Lucida Sans Unicode"/>
                <a:cs typeface="Lucida Sans Unicode"/>
              </a:rPr>
              <a:t> goal:</a:t>
            </a:r>
            <a:r>
              <a:rPr sz="1100" spc="50" dirty="0">
                <a:solidFill>
                  <a:srgbClr val="EE2868"/>
                </a:solidFill>
                <a:latin typeface="Lucida Sans Unicode"/>
                <a:cs typeface="Lucida Sans Unicode"/>
              </a:rPr>
              <a:t> </a:t>
            </a:r>
            <a:r>
              <a:rPr sz="1100" spc="-70" dirty="0">
                <a:solidFill>
                  <a:srgbClr val="EE2868"/>
                </a:solidFill>
                <a:latin typeface="Lucida Sans Unicode"/>
                <a:cs typeface="Lucida Sans Unicode"/>
              </a:rPr>
              <a:t>Transform</a:t>
            </a:r>
            <a:r>
              <a:rPr sz="1100" spc="-50" dirty="0">
                <a:solidFill>
                  <a:srgbClr val="EE2868"/>
                </a:solidFill>
                <a:latin typeface="Lucida Sans Unicode"/>
                <a:cs typeface="Lucida Sans Unicode"/>
              </a:rPr>
              <a:t> </a:t>
            </a:r>
            <a:r>
              <a:rPr sz="1100" spc="-55" dirty="0">
                <a:solidFill>
                  <a:srgbClr val="EE2868"/>
                </a:solidFill>
                <a:latin typeface="Lucida Sans Unicode"/>
                <a:cs typeface="Lucida Sans Unicode"/>
              </a:rPr>
              <a:t>any</a:t>
            </a:r>
            <a:r>
              <a:rPr sz="1100" spc="-45" dirty="0">
                <a:solidFill>
                  <a:srgbClr val="EE2868"/>
                </a:solidFill>
                <a:latin typeface="Lucida Sans Unicode"/>
                <a:cs typeface="Lucida Sans Unicode"/>
              </a:rPr>
              <a:t> </a:t>
            </a:r>
            <a:r>
              <a:rPr sz="1100" spc="-60" dirty="0">
                <a:solidFill>
                  <a:srgbClr val="EE2868"/>
                </a:solidFill>
                <a:latin typeface="Lucida Sans Unicode"/>
                <a:cs typeface="Lucida Sans Unicode"/>
              </a:rPr>
              <a:t>system</a:t>
            </a:r>
            <a:r>
              <a:rPr sz="1100" spc="-50" dirty="0">
                <a:solidFill>
                  <a:srgbClr val="EE2868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EE2868"/>
                </a:solidFill>
                <a:latin typeface="Lucida Sans Unicode"/>
                <a:cs typeface="Lucida Sans Unicode"/>
              </a:rPr>
              <a:t>into </a:t>
            </a:r>
            <a:r>
              <a:rPr sz="1100" spc="-50" dirty="0">
                <a:solidFill>
                  <a:srgbClr val="EE2868"/>
                </a:solidFill>
                <a:latin typeface="Lucida Sans Unicode"/>
                <a:cs typeface="Lucida Sans Unicode"/>
              </a:rPr>
              <a:t>triangular</a:t>
            </a:r>
            <a:r>
              <a:rPr sz="1100" spc="10" dirty="0">
                <a:solidFill>
                  <a:srgbClr val="EE2868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EE2868"/>
                </a:solidFill>
                <a:latin typeface="Lucida Sans Unicode"/>
                <a:cs typeface="Lucida Sans Unicode"/>
              </a:rPr>
              <a:t>form.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44005" y="3083128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340040" y="2774387"/>
            <a:ext cx="86995" cy="20447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120" dirty="0"/>
              <a:t> </a:t>
            </a:r>
            <a:r>
              <a:rPr dirty="0"/>
              <a:t>system</a:t>
            </a:r>
            <a:r>
              <a:rPr spc="120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CasellaDiTesto 30">
                <a:extLst>
                  <a:ext uri="{FF2B5EF4-FFF2-40B4-BE49-F238E27FC236}">
                    <a16:creationId xmlns:a16="http://schemas.microsoft.com/office/drawing/2014/main" id="{3BAA0C9E-FB2E-C322-32DC-49B8F44637DC}"/>
                  </a:ext>
                </a:extLst>
              </p:cNvPr>
              <p:cNvSpPr txBox="1"/>
              <p:nvPr/>
            </p:nvSpPr>
            <p:spPr>
              <a:xfrm>
                <a:off x="554053" y="885266"/>
                <a:ext cx="1810752" cy="6878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it-IT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it-IT" sz="1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+89</m:t>
                              </m:r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+66</m:t>
                              </m:r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=87</m:t>
                              </m:r>
                            </m:e>
                            <m:e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65</m:t>
                              </m:r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+9</m:t>
                              </m:r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=7</m:t>
                              </m:r>
                            </m:e>
                            <m:e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46</m:t>
                              </m:r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31" name="CasellaDiTesto 30">
                <a:extLst>
                  <a:ext uri="{FF2B5EF4-FFF2-40B4-BE49-F238E27FC236}">
                    <a16:creationId xmlns:a16="http://schemas.microsoft.com/office/drawing/2014/main" id="{3BAA0C9E-FB2E-C322-32DC-49B8F4463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53" y="885266"/>
                <a:ext cx="1810752" cy="6878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EA8EE395-408A-0CEF-4968-15D2E7AA453D}"/>
                  </a:ext>
                </a:extLst>
              </p:cNvPr>
              <p:cNvSpPr txBox="1"/>
              <p:nvPr/>
            </p:nvSpPr>
            <p:spPr>
              <a:xfrm>
                <a:off x="2994152" y="937983"/>
                <a:ext cx="2438400" cy="5697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it-IT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89</m:t>
                                </m:r>
                              </m:e>
                              <m:e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66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65</m:t>
                                </m:r>
                              </m:e>
                              <m:e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46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it-IT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</m:m>
                        </m:e>
                      </m:d>
                      <m:r>
                        <a:rPr lang="it-IT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87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1400" dirty="0"/>
              </a:p>
            </p:txBody>
          </p:sp>
        </mc:Choice>
        <mc:Fallback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EA8EE395-408A-0CEF-4968-15D2E7AA4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152" y="937983"/>
                <a:ext cx="2438400" cy="569771"/>
              </a:xfrm>
              <a:prstGeom prst="rect">
                <a:avLst/>
              </a:prstGeom>
              <a:blipFill>
                <a:blip r:embed="rId3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631" y="75410"/>
            <a:ext cx="25831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0" dirty="0"/>
              <a:t>Gauss</a:t>
            </a:r>
            <a:r>
              <a:rPr spc="-65" dirty="0"/>
              <a:t> </a:t>
            </a:r>
            <a:r>
              <a:rPr spc="-40" dirty="0"/>
              <a:t>Elimination:</a:t>
            </a:r>
            <a:r>
              <a:rPr spc="35" dirty="0"/>
              <a:t> </a:t>
            </a:r>
            <a:r>
              <a:rPr spc="-45" dirty="0"/>
              <a:t>General</a:t>
            </a:r>
            <a:r>
              <a:rPr spc="-65" dirty="0"/>
              <a:t> </a:t>
            </a:r>
            <a:r>
              <a:rPr spc="-4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894" y="483404"/>
            <a:ext cx="30435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Given</a:t>
            </a:r>
            <a:r>
              <a:rPr sz="10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30" dirty="0">
                <a:solidFill>
                  <a:srgbClr val="22373A"/>
                </a:solidFill>
                <a:latin typeface="Lucida Sans Unicode"/>
                <a:cs typeface="Lucida Sans Unicode"/>
              </a:rPr>
              <a:t>Ax</a:t>
            </a:r>
            <a:r>
              <a:rPr sz="1000" spc="2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000" spc="2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2373A"/>
                </a:solidFill>
                <a:latin typeface="Lucida Sans Unicode"/>
                <a:cs typeface="Lucida Sans Unicode"/>
              </a:rPr>
              <a:t>b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sz="10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form</a:t>
            </a:r>
            <a:r>
              <a:rPr sz="10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B801A"/>
                </a:solidFill>
                <a:latin typeface="Calibri"/>
                <a:cs typeface="Calibri"/>
              </a:rPr>
              <a:t>augmented</a:t>
            </a:r>
            <a:r>
              <a:rPr sz="1000" spc="105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B801A"/>
                </a:solidFill>
                <a:latin typeface="Calibri"/>
                <a:cs typeface="Calibri"/>
              </a:rPr>
              <a:t>matrix</a:t>
            </a:r>
            <a:r>
              <a:rPr sz="1000" spc="110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000" spc="-125" dirty="0">
                <a:solidFill>
                  <a:srgbClr val="22373A"/>
                </a:solidFill>
                <a:latin typeface="Lucida Sans Unicode"/>
                <a:cs typeface="Lucida Sans Unicode"/>
              </a:rPr>
              <a:t>A</a:t>
            </a:r>
            <a:r>
              <a:rPr sz="1050" spc="-187" baseline="27777" dirty="0">
                <a:solidFill>
                  <a:srgbClr val="22373A"/>
                </a:solidFill>
                <a:latin typeface="Lucida Sans Unicode"/>
                <a:cs typeface="Lucida Sans Unicode"/>
              </a:rPr>
              <a:t>∗</a:t>
            </a:r>
            <a:r>
              <a:rPr sz="1050" spc="262" baseline="27777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000" spc="2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85" dirty="0">
                <a:solidFill>
                  <a:srgbClr val="22373A"/>
                </a:solidFill>
                <a:latin typeface="Lucida Sans Unicode"/>
                <a:cs typeface="Lucida Sans Unicode"/>
              </a:rPr>
              <a:t>[A</a:t>
            </a:r>
            <a:r>
              <a:rPr sz="1000" spc="-12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110" dirty="0">
                <a:solidFill>
                  <a:srgbClr val="22373A"/>
                </a:solidFill>
                <a:latin typeface="Lucida Sans Unicode"/>
                <a:cs typeface="Lucida Sans Unicode"/>
              </a:rPr>
              <a:t>|</a:t>
            </a:r>
            <a:r>
              <a:rPr sz="1000" spc="-114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b]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38579" y="1030568"/>
            <a:ext cx="774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10" dirty="0">
                <a:solidFill>
                  <a:srgbClr val="22373A"/>
                </a:solidFill>
                <a:latin typeface="Lucida Sans Unicode"/>
                <a:cs typeface="Lucida Sans Unicode"/>
              </a:rPr>
              <a:t>∗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66074" y="1044846"/>
            <a:ext cx="7556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Lucida Sans Unicode"/>
                <a:cs typeface="Lucida Sans Unicode"/>
              </a:rPr>
              <a:t>A</a:t>
            </a:r>
            <a:r>
              <a:rPr sz="1000" spc="31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000" spc="-5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85" dirty="0">
                <a:solidFill>
                  <a:srgbClr val="22373A"/>
                </a:solidFill>
                <a:latin typeface="Lucida Sans Unicode"/>
                <a:cs typeface="Lucida Sans Unicode"/>
              </a:rPr>
              <a:t>[A</a:t>
            </a:r>
            <a:r>
              <a:rPr sz="1000" spc="-15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110" dirty="0">
                <a:solidFill>
                  <a:srgbClr val="22373A"/>
                </a:solidFill>
                <a:latin typeface="Lucida Sans Unicode"/>
                <a:cs typeface="Lucida Sans Unicode"/>
              </a:rPr>
              <a:t>|</a:t>
            </a:r>
            <a:r>
              <a:rPr sz="1000" spc="-15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b]</a:t>
            </a:r>
            <a:r>
              <a:rPr sz="10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31211" y="714620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85" dirty="0">
                <a:solidFill>
                  <a:srgbClr val="22373A"/>
                </a:solidFill>
                <a:latin typeface="Arial"/>
                <a:cs typeface="Arial"/>
              </a:rPr>
              <a:t>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31211" y="1013223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85" dirty="0">
                <a:solidFill>
                  <a:srgbClr val="22373A"/>
                </a:solidFill>
                <a:latin typeface="Arial"/>
                <a:cs typeface="Arial"/>
              </a:rPr>
              <a:t>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31211" y="1094198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85" dirty="0">
                <a:solidFill>
                  <a:srgbClr val="22373A"/>
                </a:solidFill>
                <a:latin typeface="Arial"/>
                <a:cs typeface="Arial"/>
              </a:rPr>
              <a:t>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15564" y="840363"/>
            <a:ext cx="965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86418" y="812598"/>
            <a:ext cx="1473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solidFill>
                  <a:srgbClr val="22373A"/>
                </a:solidFill>
                <a:latin typeface="Verdana"/>
                <a:cs typeface="Verdana"/>
              </a:rPr>
              <a:t>(</a:t>
            </a:r>
            <a:r>
              <a:rPr sz="700" spc="-25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700" spc="-25" dirty="0">
                <a:solidFill>
                  <a:srgbClr val="22373A"/>
                </a:solidFill>
                <a:latin typeface="Verdana"/>
                <a:cs typeface="Verdana"/>
              </a:rPr>
              <a:t>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86418" y="913881"/>
            <a:ext cx="12890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4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700" i="1" spc="-40" dirty="0">
                <a:solidFill>
                  <a:srgbClr val="22373A"/>
                </a:solidFill>
                <a:latin typeface="Trebuchet MS"/>
                <a:cs typeface="Trebuchet MS"/>
              </a:rPr>
              <a:t>,</a:t>
            </a:r>
            <a:r>
              <a:rPr sz="700" spc="-4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41167" y="840363"/>
            <a:ext cx="3759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2100" algn="l"/>
              </a:tabLst>
            </a:pPr>
            <a:r>
              <a:rPr sz="10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000" i="1" spc="-114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0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000" i="1" spc="-110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000" i="1" spc="-50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000" i="1" dirty="0">
                <a:solidFill>
                  <a:srgbClr val="22373A"/>
                </a:solidFill>
                <a:latin typeface="Century Gothic"/>
                <a:cs typeface="Century Gothic"/>
              </a:rPr>
              <a:t>	</a:t>
            </a:r>
            <a:r>
              <a:rPr sz="1000" i="1" spc="-5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91687" y="812598"/>
            <a:ext cx="1473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solidFill>
                  <a:srgbClr val="22373A"/>
                </a:solidFill>
                <a:latin typeface="Verdana"/>
                <a:cs typeface="Verdana"/>
              </a:rPr>
              <a:t>(</a:t>
            </a:r>
            <a:r>
              <a:rPr sz="700" spc="-25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700" spc="-25" dirty="0">
                <a:solidFill>
                  <a:srgbClr val="22373A"/>
                </a:solidFill>
                <a:latin typeface="Verdana"/>
                <a:cs typeface="Verdana"/>
              </a:rPr>
              <a:t>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91687" y="913881"/>
            <a:ext cx="1435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700" i="1" spc="-25" dirty="0">
                <a:solidFill>
                  <a:srgbClr val="22373A"/>
                </a:solidFill>
                <a:latin typeface="Trebuchet MS"/>
                <a:cs typeface="Trebuchet MS"/>
              </a:rPr>
              <a:t>,</a:t>
            </a:r>
            <a:r>
              <a:rPr sz="700" i="1" spc="-25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564686" y="847445"/>
            <a:ext cx="5080" cy="610235"/>
            <a:chOff x="3564686" y="847445"/>
            <a:chExt cx="5080" cy="610235"/>
          </a:xfrm>
        </p:grpSpPr>
        <p:sp>
          <p:nvSpPr>
            <p:cNvPr id="16" name="object 16"/>
            <p:cNvSpPr/>
            <p:nvPr/>
          </p:nvSpPr>
          <p:spPr>
            <a:xfrm>
              <a:off x="3567213" y="847445"/>
              <a:ext cx="0" cy="185420"/>
            </a:xfrm>
            <a:custGeom>
              <a:avLst/>
              <a:gdLst/>
              <a:ahLst/>
              <a:cxnLst/>
              <a:rect l="l" t="t" r="r" b="b"/>
              <a:pathLst>
                <a:path h="185419">
                  <a:moveTo>
                    <a:pt x="0" y="18492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67213" y="1032370"/>
              <a:ext cx="0" cy="240665"/>
            </a:xfrm>
            <a:custGeom>
              <a:avLst/>
              <a:gdLst/>
              <a:ahLst/>
              <a:cxnLst/>
              <a:rect l="l" t="t" r="r" b="b"/>
              <a:pathLst>
                <a:path h="240665">
                  <a:moveTo>
                    <a:pt x="0" y="24014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67213" y="1272527"/>
              <a:ext cx="0" cy="185420"/>
            </a:xfrm>
            <a:custGeom>
              <a:avLst/>
              <a:gdLst/>
              <a:ahLst/>
              <a:cxnLst/>
              <a:rect l="l" t="t" r="r" b="b"/>
              <a:pathLst>
                <a:path h="185419">
                  <a:moveTo>
                    <a:pt x="0" y="18492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683571" y="840363"/>
            <a:ext cx="977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solidFill>
                  <a:srgbClr val="22373A"/>
                </a:solidFill>
                <a:latin typeface="Arial"/>
                <a:cs typeface="Arial"/>
              </a:rPr>
              <a:t>b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55936" y="812598"/>
            <a:ext cx="1473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solidFill>
                  <a:srgbClr val="22373A"/>
                </a:solidFill>
                <a:latin typeface="Verdana"/>
                <a:cs typeface="Verdana"/>
              </a:rPr>
              <a:t>(</a:t>
            </a:r>
            <a:r>
              <a:rPr sz="700" spc="-25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700" spc="-25" dirty="0">
                <a:solidFill>
                  <a:srgbClr val="22373A"/>
                </a:solidFill>
                <a:latin typeface="Verdana"/>
                <a:cs typeface="Verdana"/>
              </a:rPr>
              <a:t>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55936" y="913881"/>
            <a:ext cx="622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02001" y="1030304"/>
            <a:ext cx="5206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02001" y="1080914"/>
            <a:ext cx="5206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36227" y="992344"/>
            <a:ext cx="1835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45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r>
              <a:rPr sz="1000" spc="-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500" spc="-67" baseline="-16666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r>
              <a:rPr sz="1500" spc="-179" baseline="-16666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500" spc="-75" baseline="-33333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500" baseline="-33333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07283" y="1030304"/>
            <a:ext cx="5206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07283" y="1080914"/>
            <a:ext cx="5206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70769" y="1080914"/>
            <a:ext cx="5206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15564" y="1265445"/>
            <a:ext cx="965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686418" y="1237680"/>
            <a:ext cx="1473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solidFill>
                  <a:srgbClr val="22373A"/>
                </a:solidFill>
                <a:latin typeface="Verdana"/>
                <a:cs typeface="Verdana"/>
              </a:rPr>
              <a:t>(</a:t>
            </a:r>
            <a:r>
              <a:rPr sz="700" spc="-25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700" spc="-25" dirty="0">
                <a:solidFill>
                  <a:srgbClr val="22373A"/>
                </a:solidFill>
                <a:latin typeface="Verdana"/>
                <a:cs typeface="Verdana"/>
              </a:rPr>
              <a:t>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86418" y="1338962"/>
            <a:ext cx="1435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700" i="1" spc="-25" dirty="0">
                <a:solidFill>
                  <a:srgbClr val="22373A"/>
                </a:solidFill>
                <a:latin typeface="Trebuchet MS"/>
                <a:cs typeface="Trebuchet MS"/>
              </a:rPr>
              <a:t>,</a:t>
            </a:r>
            <a:r>
              <a:rPr sz="700" spc="-25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41167" y="1265445"/>
            <a:ext cx="3708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000" i="1" spc="-114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0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000" i="1" spc="-110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0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000" i="1" spc="215" dirty="0">
                <a:solidFill>
                  <a:srgbClr val="22373A"/>
                </a:solidFill>
                <a:latin typeface="Century Gothic"/>
                <a:cs typeface="Century Gothic"/>
              </a:rPr>
              <a:t>  </a:t>
            </a:r>
            <a:r>
              <a:rPr sz="1000" i="1" spc="-5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286162" y="1237680"/>
            <a:ext cx="1473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solidFill>
                  <a:srgbClr val="22373A"/>
                </a:solidFill>
                <a:latin typeface="Verdana"/>
                <a:cs typeface="Verdana"/>
              </a:rPr>
              <a:t>(</a:t>
            </a:r>
            <a:r>
              <a:rPr sz="700" spc="-25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700" spc="-25" dirty="0">
                <a:solidFill>
                  <a:srgbClr val="22373A"/>
                </a:solidFill>
                <a:latin typeface="Verdana"/>
                <a:cs typeface="Verdana"/>
              </a:rPr>
              <a:t>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286162" y="1327355"/>
            <a:ext cx="1587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700" i="1" spc="-25" dirty="0">
                <a:solidFill>
                  <a:srgbClr val="22373A"/>
                </a:solidFill>
                <a:latin typeface="Trebuchet MS"/>
                <a:cs typeface="Trebuchet MS"/>
              </a:rPr>
              <a:t>,</a:t>
            </a:r>
            <a:r>
              <a:rPr sz="700" i="1" spc="-25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83571" y="1265445"/>
            <a:ext cx="977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solidFill>
                  <a:srgbClr val="22373A"/>
                </a:solidFill>
                <a:latin typeface="Arial"/>
                <a:cs typeface="Arial"/>
              </a:rPr>
              <a:t>b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755936" y="1237680"/>
            <a:ext cx="1473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solidFill>
                  <a:srgbClr val="22373A"/>
                </a:solidFill>
                <a:latin typeface="Verdana"/>
                <a:cs typeface="Verdana"/>
              </a:rPr>
              <a:t>(</a:t>
            </a:r>
            <a:r>
              <a:rPr sz="700" spc="-25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700" spc="-25" dirty="0">
                <a:solidFill>
                  <a:srgbClr val="22373A"/>
                </a:solidFill>
                <a:latin typeface="Verdana"/>
                <a:cs typeface="Verdana"/>
              </a:rPr>
              <a:t>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755936" y="1327355"/>
            <a:ext cx="774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0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884167" y="714620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85" dirty="0">
                <a:solidFill>
                  <a:srgbClr val="22373A"/>
                </a:solidFill>
                <a:latin typeface="Arial"/>
                <a:cs typeface="Arial"/>
              </a:rPr>
              <a:t></a:t>
            </a:r>
            <a:endParaRPr sz="10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745369" y="1013223"/>
            <a:ext cx="2743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00" baseline="-8333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r>
              <a:rPr sz="1500" spc="615" baseline="-8333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75" dirty="0">
                <a:solidFill>
                  <a:srgbClr val="22373A"/>
                </a:solidFill>
                <a:latin typeface="Arial"/>
                <a:cs typeface="Arial"/>
              </a:rPr>
              <a:t></a:t>
            </a:r>
            <a:endParaRPr sz="1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884167" y="1094198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85" dirty="0">
                <a:solidFill>
                  <a:srgbClr val="22373A"/>
                </a:solidFill>
                <a:latin typeface="Arial"/>
                <a:cs typeface="Arial"/>
              </a:rPr>
              <a:t></a:t>
            </a:r>
            <a:endParaRPr sz="10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47294" y="1653178"/>
            <a:ext cx="5052695" cy="374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Superscript</a:t>
            </a:r>
            <a:r>
              <a:rPr sz="10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Lucida Sans Unicode"/>
                <a:cs typeface="Lucida Sans Unicode"/>
              </a:rPr>
              <a:t>(</a:t>
            </a:r>
            <a:r>
              <a:rPr sz="1000" i="1" dirty="0">
                <a:solidFill>
                  <a:srgbClr val="22373A"/>
                </a:solidFill>
                <a:latin typeface="Arial"/>
                <a:cs typeface="Arial"/>
              </a:rPr>
              <a:t>k</a:t>
            </a:r>
            <a:r>
              <a:rPr sz="1000" dirty="0">
                <a:solidFill>
                  <a:srgbClr val="22373A"/>
                </a:solidFill>
                <a:latin typeface="Lucida Sans Unicode"/>
                <a:cs typeface="Lucida Sans Unicode"/>
              </a:rPr>
              <a:t>)</a:t>
            </a:r>
            <a:r>
              <a:rPr sz="1000" spc="12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indicates</a:t>
            </a:r>
            <a:r>
              <a:rPr sz="10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state</a:t>
            </a:r>
            <a:r>
              <a:rPr sz="10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after</a:t>
            </a:r>
            <a:r>
              <a:rPr sz="10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22373A"/>
                </a:solidFill>
                <a:latin typeface="Arial"/>
                <a:cs typeface="Arial"/>
              </a:rPr>
              <a:t>k</a:t>
            </a:r>
            <a:r>
              <a:rPr sz="1000" i="1" spc="1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elimination</a:t>
            </a:r>
            <a:r>
              <a:rPr sz="10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steps.</a:t>
            </a:r>
            <a:r>
              <a:rPr sz="1000" spc="3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After</a:t>
            </a:r>
            <a:r>
              <a:rPr sz="1000" spc="2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1000" i="1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1000" spc="3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0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elimination</a:t>
            </a:r>
            <a:r>
              <a:rPr sz="10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steps,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we</a:t>
            </a:r>
            <a:r>
              <a:rPr sz="1000" spc="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obtain: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19290" y="2472869"/>
            <a:ext cx="774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10" dirty="0">
                <a:solidFill>
                  <a:srgbClr val="22373A"/>
                </a:solidFill>
                <a:latin typeface="Lucida Sans Unicode"/>
                <a:cs typeface="Lucida Sans Unicode"/>
              </a:rPr>
              <a:t>∗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46786" y="2487159"/>
            <a:ext cx="2895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Lucida Sans Unicode"/>
                <a:cs typeface="Lucida Sans Unicode"/>
              </a:rPr>
              <a:t>A</a:t>
            </a:r>
            <a:r>
              <a:rPr sz="1000" spc="29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6150" y="2531431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85" dirty="0">
                <a:solidFill>
                  <a:srgbClr val="22373A"/>
                </a:solidFill>
                <a:latin typeface="Arial"/>
                <a:cs typeface="Arial"/>
              </a:rPr>
              <a:t></a:t>
            </a:r>
            <a:endParaRPr sz="10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01357" y="2162151"/>
            <a:ext cx="1473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solidFill>
                  <a:srgbClr val="22373A"/>
                </a:solidFill>
                <a:latin typeface="Verdana"/>
                <a:cs typeface="Verdana"/>
              </a:rPr>
              <a:t>(</a:t>
            </a:r>
            <a:r>
              <a:rPr sz="700" spc="-25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700" spc="-25" dirty="0">
                <a:solidFill>
                  <a:srgbClr val="22373A"/>
                </a:solidFill>
                <a:latin typeface="Verdana"/>
                <a:cs typeface="Verdana"/>
              </a:rPr>
              <a:t>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01357" y="2263433"/>
            <a:ext cx="12890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4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700" i="1" spc="-40" dirty="0">
                <a:solidFill>
                  <a:srgbClr val="22373A"/>
                </a:solidFill>
                <a:latin typeface="Trebuchet MS"/>
                <a:cs typeface="Trebuchet MS"/>
              </a:rPr>
              <a:t>,</a:t>
            </a:r>
            <a:r>
              <a:rPr sz="700" spc="-4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778914" y="2162151"/>
            <a:ext cx="1473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solidFill>
                  <a:srgbClr val="22373A"/>
                </a:solidFill>
                <a:latin typeface="Verdana"/>
                <a:cs typeface="Verdana"/>
              </a:rPr>
              <a:t>(</a:t>
            </a:r>
            <a:r>
              <a:rPr sz="700" spc="-25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700" spc="-25" dirty="0">
                <a:solidFill>
                  <a:srgbClr val="22373A"/>
                </a:solidFill>
                <a:latin typeface="Verdana"/>
                <a:cs typeface="Verdana"/>
              </a:rPr>
              <a:t>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778914" y="2263433"/>
            <a:ext cx="1435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700" i="1" spc="-25" dirty="0">
                <a:solidFill>
                  <a:srgbClr val="22373A"/>
                </a:solidFill>
                <a:latin typeface="Trebuchet MS"/>
                <a:cs typeface="Trebuchet MS"/>
              </a:rPr>
              <a:t>,</a:t>
            </a:r>
            <a:r>
              <a:rPr sz="700" i="1" spc="-25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105571" y="2196998"/>
            <a:ext cx="5080" cy="795655"/>
            <a:chOff x="2105571" y="2196998"/>
            <a:chExt cx="5080" cy="795655"/>
          </a:xfrm>
        </p:grpSpPr>
        <p:sp>
          <p:nvSpPr>
            <p:cNvPr id="49" name="object 49"/>
            <p:cNvSpPr/>
            <p:nvPr/>
          </p:nvSpPr>
          <p:spPr>
            <a:xfrm>
              <a:off x="2108098" y="2196998"/>
              <a:ext cx="0" cy="185420"/>
            </a:xfrm>
            <a:custGeom>
              <a:avLst/>
              <a:gdLst/>
              <a:ahLst/>
              <a:cxnLst/>
              <a:rect l="l" t="t" r="r" b="b"/>
              <a:pathLst>
                <a:path h="185419">
                  <a:moveTo>
                    <a:pt x="0" y="18492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108098" y="2381922"/>
              <a:ext cx="0" cy="186055"/>
            </a:xfrm>
            <a:custGeom>
              <a:avLst/>
              <a:gdLst/>
              <a:ahLst/>
              <a:cxnLst/>
              <a:rect l="l" t="t" r="r" b="b"/>
              <a:pathLst>
                <a:path h="186055">
                  <a:moveTo>
                    <a:pt x="0" y="18590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108098" y="2567825"/>
              <a:ext cx="0" cy="240665"/>
            </a:xfrm>
            <a:custGeom>
              <a:avLst/>
              <a:gdLst/>
              <a:ahLst/>
              <a:cxnLst/>
              <a:rect l="l" t="t" r="r" b="b"/>
              <a:pathLst>
                <a:path h="240664">
                  <a:moveTo>
                    <a:pt x="0" y="24014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108098" y="2807969"/>
              <a:ext cx="0" cy="184785"/>
            </a:xfrm>
            <a:custGeom>
              <a:avLst/>
              <a:gdLst/>
              <a:ahLst/>
              <a:cxnLst/>
              <a:rect l="l" t="t" r="r" b="b"/>
              <a:pathLst>
                <a:path h="184785">
                  <a:moveTo>
                    <a:pt x="0" y="184531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2283663" y="2189916"/>
            <a:ext cx="977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solidFill>
                  <a:srgbClr val="22373A"/>
                </a:solidFill>
                <a:latin typeface="Arial"/>
                <a:cs typeface="Arial"/>
              </a:rPr>
              <a:t>b</a:t>
            </a:r>
            <a:endParaRPr sz="10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356027" y="2162151"/>
            <a:ext cx="1473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solidFill>
                  <a:srgbClr val="22373A"/>
                </a:solidFill>
                <a:latin typeface="Verdana"/>
                <a:cs typeface="Verdana"/>
              </a:rPr>
              <a:t>(</a:t>
            </a:r>
            <a:r>
              <a:rPr sz="700" spc="-25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700" spc="-25" dirty="0">
                <a:solidFill>
                  <a:srgbClr val="22373A"/>
                </a:solidFill>
                <a:latin typeface="Verdana"/>
                <a:cs typeface="Verdana"/>
              </a:rPr>
              <a:t>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356027" y="2263433"/>
            <a:ext cx="622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46150" y="2379603"/>
            <a:ext cx="2444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</a:t>
            </a:r>
            <a:r>
              <a:rPr sz="10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500" spc="-187" baseline="2777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endParaRPr sz="1500" baseline="2777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56119" y="2374841"/>
            <a:ext cx="965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endParaRPr sz="10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126972" y="2449336"/>
            <a:ext cx="1403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700" i="1" spc="-25" dirty="0">
                <a:solidFill>
                  <a:srgbClr val="22373A"/>
                </a:solidFill>
                <a:latin typeface="Trebuchet MS"/>
                <a:cs typeface="Trebuchet MS"/>
              </a:rPr>
              <a:t>,</a:t>
            </a:r>
            <a:r>
              <a:rPr sz="700" spc="-25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707045" y="2374841"/>
            <a:ext cx="965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endParaRPr sz="10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777898" y="2449336"/>
            <a:ext cx="1498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700" i="1" spc="-25" dirty="0">
                <a:solidFill>
                  <a:srgbClr val="22373A"/>
                </a:solidFill>
                <a:latin typeface="Trebuchet MS"/>
                <a:cs typeface="Trebuchet MS"/>
              </a:rPr>
              <a:t>,</a:t>
            </a:r>
            <a:r>
              <a:rPr sz="700" i="1" spc="-25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362098" y="2347076"/>
            <a:ext cx="13525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solidFill>
                  <a:srgbClr val="22373A"/>
                </a:solidFill>
                <a:latin typeface="Verdana"/>
                <a:cs typeface="Verdana"/>
              </a:rPr>
              <a:t>(</a:t>
            </a:r>
            <a:r>
              <a:rPr sz="700" spc="-2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700" spc="-20" dirty="0">
                <a:solidFill>
                  <a:srgbClr val="22373A"/>
                </a:solidFill>
                <a:latin typeface="Verdana"/>
                <a:cs typeface="Verdana"/>
              </a:rPr>
              <a:t>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362098" y="2449336"/>
            <a:ext cx="679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16952" y="2515150"/>
            <a:ext cx="5206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16952" y="2565760"/>
            <a:ext cx="5206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794510" y="2565760"/>
            <a:ext cx="5206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370861" y="2565760"/>
            <a:ext cx="5206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95248" y="2800900"/>
            <a:ext cx="952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08050" y="2189916"/>
            <a:ext cx="1381760" cy="788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4620">
              <a:lnSpc>
                <a:spcPts val="1070"/>
              </a:lnSpc>
              <a:spcBef>
                <a:spcPts val="95"/>
              </a:spcBef>
              <a:tabLst>
                <a:tab pos="482600" algn="l"/>
                <a:tab pos="779145" algn="l"/>
                <a:tab pos="1112520" algn="l"/>
              </a:tabLst>
            </a:pPr>
            <a:r>
              <a:rPr sz="1000" i="1" spc="-5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1000" i="1" dirty="0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sz="10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000" i="1" spc="-114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0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000" i="1" spc="-110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000" i="1" spc="-50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000" i="1" dirty="0">
                <a:solidFill>
                  <a:srgbClr val="22373A"/>
                </a:solidFill>
                <a:latin typeface="Century Gothic"/>
                <a:cs typeface="Century Gothic"/>
              </a:rPr>
              <a:t>	.</a:t>
            </a:r>
            <a:r>
              <a:rPr sz="1000" i="1" spc="-114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0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000" i="1" spc="-110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000" i="1" spc="-50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000" i="1" dirty="0">
                <a:solidFill>
                  <a:srgbClr val="22373A"/>
                </a:solidFill>
                <a:latin typeface="Century Gothic"/>
                <a:cs typeface="Century Gothic"/>
              </a:rPr>
              <a:t>	</a:t>
            </a:r>
            <a:r>
              <a:rPr sz="1000" i="1" spc="-5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endParaRPr sz="1000">
              <a:latin typeface="Arial"/>
              <a:cs typeface="Arial"/>
            </a:endParaRPr>
          </a:p>
          <a:p>
            <a:pPr marL="779145" indent="-247650">
              <a:lnSpc>
                <a:spcPts val="1070"/>
              </a:lnSpc>
              <a:buSzPct val="70000"/>
              <a:buFont typeface="Verdana"/>
              <a:buAutoNum type="arabicParenBoth"/>
              <a:tabLst>
                <a:tab pos="779145" algn="l"/>
                <a:tab pos="1182370" algn="l"/>
              </a:tabLst>
            </a:pPr>
            <a:r>
              <a:rPr sz="1500" i="1" baseline="-27777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500" i="1" spc="-172" baseline="-27777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500" i="1" baseline="-27777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500" i="1" spc="-165" baseline="-27777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500" i="1" spc="-75" baseline="-27777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500" i="1" baseline="-27777" dirty="0">
                <a:solidFill>
                  <a:srgbClr val="22373A"/>
                </a:solidFill>
                <a:latin typeface="Century Gothic"/>
                <a:cs typeface="Century Gothic"/>
              </a:rPr>
              <a:t>	</a:t>
            </a:r>
            <a:r>
              <a:rPr sz="700" spc="-25" dirty="0">
                <a:solidFill>
                  <a:srgbClr val="22373A"/>
                </a:solidFill>
                <a:latin typeface="Verdana"/>
                <a:cs typeface="Verdana"/>
              </a:rPr>
              <a:t>(</a:t>
            </a:r>
            <a:r>
              <a:rPr sz="700" spc="-25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700" spc="-25" dirty="0">
                <a:solidFill>
                  <a:srgbClr val="22373A"/>
                </a:solidFill>
                <a:latin typeface="Verdana"/>
                <a:cs typeface="Verdana"/>
              </a:rPr>
              <a:t>)</a:t>
            </a:r>
            <a:endParaRPr sz="700">
              <a:latin typeface="Verdana"/>
              <a:cs typeface="Verdana"/>
            </a:endParaRPr>
          </a:p>
          <a:p>
            <a:pPr marL="284480" algn="ctr">
              <a:lnSpc>
                <a:spcPts val="950"/>
              </a:lnSpc>
              <a:spcBef>
                <a:spcPts val="520"/>
              </a:spcBef>
            </a:pPr>
            <a:r>
              <a:rPr sz="1000" spc="-45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r>
              <a:rPr sz="1000" spc="-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500" spc="-75" baseline="-16666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500" baseline="-16666">
              <a:latin typeface="Calibri"/>
              <a:cs typeface="Calibri"/>
            </a:endParaRPr>
          </a:p>
          <a:p>
            <a:pPr marL="50800">
              <a:lnSpc>
                <a:spcPts val="950"/>
              </a:lnSpc>
              <a:tabLst>
                <a:tab pos="482600" algn="l"/>
                <a:tab pos="880110" algn="l"/>
                <a:tab pos="1198880" algn="l"/>
              </a:tabLst>
            </a:pPr>
            <a:r>
              <a:rPr sz="1500" baseline="2777" dirty="0">
                <a:solidFill>
                  <a:srgbClr val="22373A"/>
                </a:solidFill>
                <a:latin typeface="Arial"/>
                <a:cs typeface="Arial"/>
              </a:rPr>
              <a:t></a:t>
            </a:r>
            <a:r>
              <a:rPr sz="1500" spc="419" baseline="2777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0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000" i="1" spc="-114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0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000" i="1" spc="-110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000" i="1" spc="-50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000" i="1" dirty="0">
                <a:solidFill>
                  <a:srgbClr val="22373A"/>
                </a:solidFill>
                <a:latin typeface="Century Gothic"/>
                <a:cs typeface="Century Gothic"/>
              </a:rPr>
              <a:t>	</a:t>
            </a:r>
            <a:r>
              <a:rPr sz="1500" spc="-75" baseline="5555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r>
              <a:rPr sz="1500" baseline="5555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  <a:p>
            <a:pPr marL="325120" algn="ctr">
              <a:lnSpc>
                <a:spcPts val="600"/>
              </a:lnSpc>
              <a:spcBef>
                <a:spcPts val="254"/>
              </a:spcBef>
            </a:pP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endParaRPr sz="1000">
              <a:latin typeface="Calibri"/>
              <a:cs typeface="Calibri"/>
            </a:endParaRPr>
          </a:p>
          <a:p>
            <a:pPr marR="259715" algn="ctr">
              <a:lnSpc>
                <a:spcPts val="600"/>
              </a:lnSpc>
            </a:pPr>
            <a:r>
              <a:rPr sz="10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000" i="1" spc="-114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0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000" i="1" spc="-110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000" i="1" spc="-50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648853" y="2800900"/>
            <a:ext cx="965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endParaRPr sz="10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719707" y="2773135"/>
            <a:ext cx="2660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22373A"/>
                </a:solidFill>
                <a:latin typeface="Verdana"/>
                <a:cs typeface="Verdana"/>
              </a:rPr>
              <a:t>(</a:t>
            </a:r>
            <a:r>
              <a:rPr sz="700" i="1" spc="-10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7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700" spc="-1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700" spc="-10" dirty="0">
                <a:solidFill>
                  <a:srgbClr val="22373A"/>
                </a:solidFill>
                <a:latin typeface="Verdana"/>
                <a:cs typeface="Verdana"/>
              </a:rPr>
              <a:t>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719707" y="2862810"/>
            <a:ext cx="1587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700" i="1" spc="-25" dirty="0">
                <a:solidFill>
                  <a:srgbClr val="22373A"/>
                </a:solidFill>
                <a:latin typeface="Trebuchet MS"/>
                <a:cs typeface="Trebuchet MS"/>
              </a:rPr>
              <a:t>,</a:t>
            </a:r>
            <a:r>
              <a:rPr sz="700" i="1" spc="-25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224455" y="2800900"/>
            <a:ext cx="977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solidFill>
                  <a:srgbClr val="22373A"/>
                </a:solidFill>
                <a:latin typeface="Arial"/>
                <a:cs typeface="Arial"/>
              </a:rPr>
              <a:t>b</a:t>
            </a:r>
            <a:endParaRPr sz="10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296833" y="2773135"/>
            <a:ext cx="2660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22373A"/>
                </a:solidFill>
                <a:latin typeface="Verdana"/>
                <a:cs typeface="Verdana"/>
              </a:rPr>
              <a:t>(</a:t>
            </a:r>
            <a:r>
              <a:rPr sz="700" i="1" spc="-10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7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700" spc="-1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700" spc="-10" dirty="0">
                <a:solidFill>
                  <a:srgbClr val="22373A"/>
                </a:solidFill>
                <a:latin typeface="Verdana"/>
                <a:cs typeface="Verdana"/>
              </a:rPr>
              <a:t>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296833" y="2862810"/>
            <a:ext cx="774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0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46150" y="2081001"/>
            <a:ext cx="20072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09445" algn="l"/>
              </a:tabLst>
            </a:pP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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sz="1000" spc="-340" dirty="0">
                <a:solidFill>
                  <a:srgbClr val="22373A"/>
                </a:solidFill>
                <a:latin typeface="Arial"/>
                <a:cs typeface="Arial"/>
              </a:rPr>
              <a:t></a:t>
            </a:r>
            <a:endParaRPr sz="10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289721" y="2379603"/>
            <a:ext cx="363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6065" algn="l"/>
              </a:tabLst>
            </a:pPr>
            <a:r>
              <a:rPr sz="1500" i="1" spc="-75" baseline="2777" dirty="0">
                <a:solidFill>
                  <a:srgbClr val="22373A"/>
                </a:solidFill>
                <a:latin typeface="Arial"/>
                <a:cs typeface="Arial"/>
              </a:rPr>
              <a:t>b</a:t>
            </a:r>
            <a:r>
              <a:rPr sz="1500" i="1" baseline="2777" dirty="0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sz="1000" spc="-340" dirty="0">
                <a:solidFill>
                  <a:srgbClr val="22373A"/>
                </a:solidFill>
                <a:latin typeface="Arial"/>
                <a:cs typeface="Arial"/>
              </a:rPr>
              <a:t></a:t>
            </a:r>
            <a:endParaRPr sz="10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543467" y="2531431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85" dirty="0">
                <a:solidFill>
                  <a:srgbClr val="22373A"/>
                </a:solidFill>
                <a:latin typeface="Arial"/>
                <a:cs typeface="Arial"/>
              </a:rPr>
              <a:t></a:t>
            </a:r>
            <a:endParaRPr sz="10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370861" y="2616369"/>
            <a:ext cx="2825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4785" algn="l"/>
              </a:tabLst>
            </a:pP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500" spc="-509" baseline="2777" dirty="0">
                <a:solidFill>
                  <a:srgbClr val="22373A"/>
                </a:solidFill>
                <a:latin typeface="Arial"/>
                <a:cs typeface="Arial"/>
              </a:rPr>
              <a:t></a:t>
            </a:r>
            <a:endParaRPr sz="1500" baseline="2777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992041" y="2696529"/>
            <a:ext cx="1257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700" i="1" spc="-25" dirty="0">
                <a:solidFill>
                  <a:srgbClr val="22373A"/>
                </a:solidFill>
                <a:latin typeface="Trebuchet MS"/>
                <a:cs typeface="Trebuchet MS"/>
              </a:rPr>
              <a:t>,</a:t>
            </a:r>
            <a:r>
              <a:rPr sz="700" i="1" spc="-25" dirty="0">
                <a:solidFill>
                  <a:srgbClr val="22373A"/>
                </a:solidFill>
                <a:latin typeface="Arial"/>
                <a:cs typeface="Arial"/>
              </a:rPr>
              <a:t>k</a:t>
            </a:r>
            <a:endParaRPr sz="7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884625" y="2635457"/>
            <a:ext cx="3733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1620" algn="l"/>
              </a:tabLst>
            </a:pPr>
            <a:r>
              <a:rPr sz="1000" i="1" spc="-50" dirty="0">
                <a:solidFill>
                  <a:srgbClr val="22373A"/>
                </a:solidFill>
                <a:latin typeface="Arial"/>
                <a:cs typeface="Arial"/>
              </a:rPr>
              <a:t>m</a:t>
            </a:r>
            <a:r>
              <a:rPr sz="1000" i="1" dirty="0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sz="10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282440" y="2525539"/>
            <a:ext cx="965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endParaRPr sz="10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987294" y="2030901"/>
            <a:ext cx="2305685" cy="598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925">
              <a:lnSpc>
                <a:spcPct val="114599"/>
              </a:lnSpc>
              <a:spcBef>
                <a:spcPts val="100"/>
              </a:spcBef>
            </a:pP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At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step</a:t>
            </a:r>
            <a:r>
              <a:rPr sz="10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i="1" spc="10" dirty="0">
                <a:solidFill>
                  <a:srgbClr val="22373A"/>
                </a:solidFill>
                <a:latin typeface="Arial"/>
                <a:cs typeface="Arial"/>
              </a:rPr>
              <a:t>k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sz="1000" spc="2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eliminate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column</a:t>
            </a:r>
            <a:r>
              <a:rPr sz="10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i="1" spc="10" dirty="0">
                <a:solidFill>
                  <a:srgbClr val="22373A"/>
                </a:solidFill>
                <a:latin typeface="Arial"/>
                <a:cs typeface="Arial"/>
              </a:rPr>
              <a:t>k</a:t>
            </a:r>
            <a:r>
              <a:rPr sz="1000" i="1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below</a:t>
            </a:r>
            <a:r>
              <a:rPr sz="10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45" dirty="0">
                <a:solidFill>
                  <a:srgbClr val="22373A"/>
                </a:solidFill>
                <a:latin typeface="Calibri"/>
                <a:cs typeface="Calibri"/>
              </a:rPr>
              <a:t> diagonal</a:t>
            </a:r>
            <a:r>
              <a:rPr sz="10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using</a:t>
            </a:r>
            <a:r>
              <a:rPr sz="10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multipliers</a:t>
            </a:r>
            <a:r>
              <a:rPr sz="10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formula</a:t>
            </a:r>
            <a:endParaRPr sz="1000">
              <a:latin typeface="Calibri"/>
              <a:cs typeface="Calibri"/>
            </a:endParaRPr>
          </a:p>
          <a:p>
            <a:pPr marL="1378585">
              <a:lnSpc>
                <a:spcPct val="100000"/>
              </a:lnSpc>
              <a:spcBef>
                <a:spcPts val="919"/>
              </a:spcBef>
            </a:pPr>
            <a:r>
              <a:rPr sz="700" spc="-10" dirty="0">
                <a:solidFill>
                  <a:srgbClr val="22373A"/>
                </a:solidFill>
                <a:latin typeface="Verdana"/>
                <a:cs typeface="Verdana"/>
              </a:rPr>
              <a:t>(</a:t>
            </a:r>
            <a:r>
              <a:rPr sz="700" i="1" spc="-10" dirty="0">
                <a:solidFill>
                  <a:srgbClr val="22373A"/>
                </a:solidFill>
                <a:latin typeface="Arial"/>
                <a:cs typeface="Arial"/>
              </a:rPr>
              <a:t>k</a:t>
            </a:r>
            <a:r>
              <a:rPr sz="7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700" spc="-1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700" spc="-10" dirty="0">
                <a:solidFill>
                  <a:srgbClr val="22373A"/>
                </a:solidFill>
                <a:latin typeface="Verdana"/>
                <a:cs typeface="Verdana"/>
              </a:rPr>
              <a:t>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4353293" y="2606854"/>
            <a:ext cx="1257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700" i="1" spc="-25" dirty="0">
                <a:solidFill>
                  <a:srgbClr val="22373A"/>
                </a:solidFill>
                <a:latin typeface="Trebuchet MS"/>
                <a:cs typeface="Trebuchet MS"/>
              </a:rPr>
              <a:t>,</a:t>
            </a:r>
            <a:r>
              <a:rPr sz="700" i="1" spc="-25" dirty="0">
                <a:solidFill>
                  <a:srgbClr val="22373A"/>
                </a:solidFill>
                <a:latin typeface="Arial"/>
                <a:cs typeface="Arial"/>
              </a:rPr>
              <a:t>k</a:t>
            </a:r>
            <a:endParaRPr sz="700">
              <a:latin typeface="Arial"/>
              <a:cs typeface="Arial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4295140" y="2743060"/>
            <a:ext cx="312420" cy="0"/>
          </a:xfrm>
          <a:custGeom>
            <a:avLst/>
            <a:gdLst/>
            <a:ahLst/>
            <a:cxnLst/>
            <a:rect l="l" t="t" r="r" b="b"/>
            <a:pathLst>
              <a:path w="312420">
                <a:moveTo>
                  <a:pt x="0" y="0"/>
                </a:moveTo>
                <a:lnTo>
                  <a:pt x="312356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4282440" y="2753694"/>
            <a:ext cx="965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endParaRPr sz="10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353293" y="2725929"/>
            <a:ext cx="2609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22373A"/>
                </a:solidFill>
                <a:latin typeface="Verdana"/>
                <a:cs typeface="Verdana"/>
              </a:rPr>
              <a:t>(</a:t>
            </a:r>
            <a:r>
              <a:rPr sz="700" i="1" spc="-10" dirty="0">
                <a:solidFill>
                  <a:srgbClr val="22373A"/>
                </a:solidFill>
                <a:latin typeface="Arial"/>
                <a:cs typeface="Arial"/>
              </a:rPr>
              <a:t>k</a:t>
            </a:r>
            <a:r>
              <a:rPr sz="7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700" spc="-1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700" spc="-10" dirty="0">
                <a:solidFill>
                  <a:srgbClr val="22373A"/>
                </a:solidFill>
                <a:latin typeface="Verdana"/>
                <a:cs typeface="Verdana"/>
              </a:rPr>
              <a:t>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353293" y="2834210"/>
            <a:ext cx="1485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solidFill>
                  <a:srgbClr val="22373A"/>
                </a:solidFill>
                <a:latin typeface="Arial"/>
                <a:cs typeface="Arial"/>
              </a:rPr>
              <a:t>k</a:t>
            </a:r>
            <a:r>
              <a:rPr sz="700" i="1" spc="-25" dirty="0">
                <a:solidFill>
                  <a:srgbClr val="22373A"/>
                </a:solidFill>
                <a:latin typeface="Trebuchet MS"/>
                <a:cs typeface="Trebuchet MS"/>
              </a:rPr>
              <a:t>,</a:t>
            </a:r>
            <a:r>
              <a:rPr sz="700" i="1" spc="-25" dirty="0">
                <a:solidFill>
                  <a:srgbClr val="22373A"/>
                </a:solidFill>
                <a:latin typeface="Arial"/>
                <a:cs typeface="Arial"/>
              </a:rPr>
              <a:t>k</a:t>
            </a:r>
            <a:endParaRPr sz="700">
              <a:latin typeface="Arial"/>
              <a:cs typeface="Arial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144005" y="3083128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120" dirty="0"/>
              <a:t> </a:t>
            </a:r>
            <a:r>
              <a:rPr dirty="0"/>
              <a:t>system</a:t>
            </a:r>
            <a:r>
              <a:rPr spc="120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90" name="object 90"/>
          <p:cNvSpPr txBox="1"/>
          <p:nvPr/>
        </p:nvSpPr>
        <p:spPr>
          <a:xfrm>
            <a:off x="5286186" y="3080509"/>
            <a:ext cx="65405" cy="132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spc="-50" dirty="0">
                <a:solidFill>
                  <a:srgbClr val="22373A"/>
                </a:solidFill>
                <a:latin typeface="Calibri"/>
                <a:cs typeface="Calibri"/>
              </a:rPr>
              <a:t>6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Why</a:t>
            </a:r>
            <a:r>
              <a:rPr spc="-30" dirty="0"/>
              <a:t> </a:t>
            </a:r>
            <a:r>
              <a:rPr spc="-65" dirty="0"/>
              <a:t>Triangular</a:t>
            </a:r>
            <a:r>
              <a:rPr spc="-25" dirty="0"/>
              <a:t> </a:t>
            </a:r>
            <a:r>
              <a:rPr spc="-30" dirty="0"/>
              <a:t>Matrices?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36218"/>
            <a:ext cx="31623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5" dirty="0">
                <a:solidFill>
                  <a:srgbClr val="EE2868"/>
                </a:solidFill>
                <a:latin typeface="Lucida Sans Unicode"/>
                <a:cs typeface="Lucida Sans Unicode"/>
              </a:rPr>
              <a:t>Key</a:t>
            </a:r>
            <a:r>
              <a:rPr sz="1100" spc="-50" dirty="0">
                <a:solidFill>
                  <a:srgbClr val="EE2868"/>
                </a:solidFill>
                <a:latin typeface="Lucida Sans Unicode"/>
                <a:cs typeface="Lucida Sans Unicode"/>
              </a:rPr>
              <a:t> </a:t>
            </a:r>
            <a:r>
              <a:rPr sz="1100" spc="-45" dirty="0">
                <a:solidFill>
                  <a:srgbClr val="EE2868"/>
                </a:solidFill>
                <a:latin typeface="Lucida Sans Unicode"/>
                <a:cs typeface="Lucida Sans Unicode"/>
              </a:rPr>
              <a:t>insight:</a:t>
            </a:r>
            <a:r>
              <a:rPr sz="1100" spc="50" dirty="0">
                <a:solidFill>
                  <a:srgbClr val="EE2868"/>
                </a:solidFill>
                <a:latin typeface="Lucida Sans Unicode"/>
                <a:cs typeface="Lucida Sans Unicode"/>
              </a:rPr>
              <a:t> </a:t>
            </a:r>
            <a:r>
              <a:rPr sz="1100" spc="-60" dirty="0">
                <a:solidFill>
                  <a:srgbClr val="EE2868"/>
                </a:solidFill>
                <a:latin typeface="Lucida Sans Unicode"/>
                <a:cs typeface="Lucida Sans Unicode"/>
              </a:rPr>
              <a:t>Triangular</a:t>
            </a:r>
            <a:r>
              <a:rPr sz="1100" spc="-50" dirty="0">
                <a:solidFill>
                  <a:srgbClr val="EE2868"/>
                </a:solidFill>
                <a:latin typeface="Lucida Sans Unicode"/>
                <a:cs typeface="Lucida Sans Unicode"/>
              </a:rPr>
              <a:t> </a:t>
            </a:r>
            <a:r>
              <a:rPr sz="1100" spc="-60" dirty="0">
                <a:solidFill>
                  <a:srgbClr val="EE2868"/>
                </a:solidFill>
                <a:latin typeface="Lucida Sans Unicode"/>
                <a:cs typeface="Lucida Sans Unicode"/>
              </a:rPr>
              <a:t>systems</a:t>
            </a:r>
            <a:r>
              <a:rPr sz="1100" spc="-50" dirty="0">
                <a:solidFill>
                  <a:srgbClr val="EE2868"/>
                </a:solidFill>
                <a:latin typeface="Lucida Sans Unicode"/>
                <a:cs typeface="Lucida Sans Unicode"/>
              </a:rPr>
              <a:t> </a:t>
            </a:r>
            <a:r>
              <a:rPr sz="1100" spc="-45" dirty="0">
                <a:solidFill>
                  <a:srgbClr val="EE2868"/>
                </a:solidFill>
                <a:latin typeface="Lucida Sans Unicode"/>
                <a:cs typeface="Lucida Sans Unicode"/>
              </a:rPr>
              <a:t>are </a:t>
            </a:r>
            <a:r>
              <a:rPr sz="1100" spc="-25" dirty="0">
                <a:solidFill>
                  <a:srgbClr val="EE2868"/>
                </a:solidFill>
                <a:latin typeface="Lucida Sans Unicode"/>
                <a:cs typeface="Lucida Sans Unicode"/>
              </a:rPr>
              <a:t>trivial</a:t>
            </a:r>
            <a:r>
              <a:rPr sz="1100" spc="-50" dirty="0">
                <a:solidFill>
                  <a:srgbClr val="EE2868"/>
                </a:solidFill>
                <a:latin typeface="Lucida Sans Unicode"/>
                <a:cs typeface="Lucida Sans Unicode"/>
              </a:rPr>
              <a:t> </a:t>
            </a:r>
            <a:r>
              <a:rPr sz="1100" spc="-45" dirty="0">
                <a:solidFill>
                  <a:srgbClr val="EE2868"/>
                </a:solidFill>
                <a:latin typeface="Lucida Sans Unicode"/>
                <a:cs typeface="Lucida Sans Unicode"/>
              </a:rPr>
              <a:t>to</a:t>
            </a:r>
            <a:r>
              <a:rPr sz="1100" spc="-50" dirty="0">
                <a:solidFill>
                  <a:srgbClr val="EE2868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EE2868"/>
                </a:solidFill>
                <a:latin typeface="Lucida Sans Unicode"/>
                <a:cs typeface="Lucida Sans Unicode"/>
              </a:rPr>
              <a:t>solve!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1558" y="1537714"/>
            <a:ext cx="118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20" dirty="0">
                <a:solidFill>
                  <a:srgbClr val="22373A"/>
                </a:solidFill>
                <a:latin typeface="Arial"/>
                <a:cs typeface="Arial"/>
              </a:rPr>
              <a:t>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1558" y="1626386"/>
            <a:ext cx="118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20" dirty="0">
                <a:solidFill>
                  <a:srgbClr val="22373A"/>
                </a:solidFill>
                <a:latin typeface="Arial"/>
                <a:cs typeface="Arial"/>
              </a:rPr>
              <a:t>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6158" y="950377"/>
            <a:ext cx="3600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spc="-104" baseline="60606" dirty="0">
                <a:solidFill>
                  <a:srgbClr val="22373A"/>
                </a:solidFill>
                <a:latin typeface="Arial"/>
                <a:cs typeface="Arial"/>
              </a:rPr>
              <a:t></a:t>
            </a:r>
            <a:r>
              <a:rPr sz="1650" i="1" spc="-104" baseline="7575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-7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800" i="1" spc="-70" dirty="0">
                <a:solidFill>
                  <a:srgbClr val="22373A"/>
                </a:solidFill>
                <a:latin typeface="Verdana"/>
                <a:cs typeface="Verdana"/>
              </a:rPr>
              <a:t>,</a:t>
            </a:r>
            <a:r>
              <a:rPr sz="800" spc="-7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29269" y="1147114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120" y="0"/>
                </a:moveTo>
                <a:lnTo>
                  <a:pt x="0" y="0"/>
                </a:lnTo>
                <a:lnTo>
                  <a:pt x="0" y="171094"/>
                </a:lnTo>
                <a:lnTo>
                  <a:pt x="152120" y="171094"/>
                </a:lnTo>
                <a:lnTo>
                  <a:pt x="152120" y="0"/>
                </a:lnTo>
                <a:close/>
              </a:path>
            </a:pathLst>
          </a:custGeom>
          <a:solidFill>
            <a:srgbClr val="FEEB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701558" y="1127479"/>
            <a:ext cx="254635" cy="2698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5100">
              <a:lnSpc>
                <a:spcPts val="965"/>
              </a:lnSpc>
              <a:spcBef>
                <a:spcPts val="90"/>
              </a:spcBef>
            </a:pPr>
            <a:r>
              <a:rPr sz="1100" spc="-5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965"/>
              </a:lnSpc>
            </a:pPr>
            <a:r>
              <a:rPr sz="1100" spc="-50" dirty="0">
                <a:solidFill>
                  <a:srgbClr val="22373A"/>
                </a:solidFill>
                <a:latin typeface="Arial"/>
                <a:cs typeface="Arial"/>
              </a:rPr>
              <a:t>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92451" y="918753"/>
            <a:ext cx="2806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3175">
              <a:lnSpc>
                <a:spcPct val="118000"/>
              </a:lnSpc>
              <a:spcBef>
                <a:spcPts val="100"/>
              </a:spcBef>
            </a:pPr>
            <a:r>
              <a:rPr sz="1650" i="1" spc="-67" baseline="7575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-45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800" i="1" spc="-45" dirty="0">
                <a:solidFill>
                  <a:srgbClr val="22373A"/>
                </a:solidFill>
                <a:latin typeface="Verdana"/>
                <a:cs typeface="Verdana"/>
              </a:rPr>
              <a:t>,</a:t>
            </a:r>
            <a:r>
              <a:rPr sz="800" spc="-45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800" spc="5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650" i="1" spc="-60" baseline="7575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-40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800" i="1" spc="-40" dirty="0">
                <a:solidFill>
                  <a:srgbClr val="22373A"/>
                </a:solidFill>
                <a:latin typeface="Verdana"/>
                <a:cs typeface="Verdana"/>
              </a:rPr>
              <a:t>,</a:t>
            </a:r>
            <a:r>
              <a:rPr sz="800" spc="-40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29269" y="1344993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120" y="0"/>
                </a:moveTo>
                <a:lnTo>
                  <a:pt x="0" y="0"/>
                </a:lnTo>
                <a:lnTo>
                  <a:pt x="0" y="171094"/>
                </a:lnTo>
                <a:lnTo>
                  <a:pt x="152120" y="171094"/>
                </a:lnTo>
                <a:lnTo>
                  <a:pt x="152120" y="0"/>
                </a:lnTo>
                <a:close/>
              </a:path>
            </a:pathLst>
          </a:custGeom>
          <a:solidFill>
            <a:srgbClr val="FEEB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701558" y="1325358"/>
            <a:ext cx="25463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5100">
              <a:lnSpc>
                <a:spcPts val="840"/>
              </a:lnSpc>
              <a:spcBef>
                <a:spcPts val="90"/>
              </a:spcBef>
            </a:pPr>
            <a:r>
              <a:rPr sz="1100" spc="-5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840"/>
              </a:lnSpc>
            </a:pPr>
            <a:r>
              <a:rPr sz="1100" spc="-50" dirty="0">
                <a:solidFill>
                  <a:srgbClr val="22373A"/>
                </a:solidFill>
                <a:latin typeface="Arial"/>
                <a:cs typeface="Arial"/>
              </a:rPr>
              <a:t>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53031" y="1535976"/>
            <a:ext cx="128905" cy="266700"/>
          </a:xfrm>
          <a:prstGeom prst="rect">
            <a:avLst/>
          </a:prstGeom>
          <a:solidFill>
            <a:srgbClr val="FEEBEA"/>
          </a:solidFill>
        </p:spPr>
        <p:txBody>
          <a:bodyPr vert="horz" wrap="square" lIns="0" tIns="8699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685"/>
              </a:spcBef>
            </a:pPr>
            <a:r>
              <a:rPr sz="1100" spc="-5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183625" y="1344993"/>
          <a:ext cx="205104" cy="456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13970">
                        <a:lnSpc>
                          <a:spcPts val="1255"/>
                        </a:lnSpc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EE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marL="37465">
                        <a:lnSpc>
                          <a:spcPts val="1310"/>
                        </a:lnSpc>
                        <a:spcBef>
                          <a:spcPts val="685"/>
                        </a:spcBef>
                      </a:pPr>
                      <a:r>
                        <a:rPr sz="1100" spc="-5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6995" marB="0">
                    <a:solidFill>
                      <a:srgbClr val="FEE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2482532" y="1535976"/>
            <a:ext cx="208279" cy="264795"/>
          </a:xfrm>
          <a:custGeom>
            <a:avLst/>
            <a:gdLst/>
            <a:ahLst/>
            <a:cxnLst/>
            <a:rect l="l" t="t" r="r" b="b"/>
            <a:pathLst>
              <a:path w="208280" h="264794">
                <a:moveTo>
                  <a:pt x="208127" y="0"/>
                </a:moveTo>
                <a:lnTo>
                  <a:pt x="0" y="0"/>
                </a:lnTo>
                <a:lnTo>
                  <a:pt x="0" y="264693"/>
                </a:lnTo>
                <a:lnTo>
                  <a:pt x="208127" y="264693"/>
                </a:lnTo>
                <a:lnTo>
                  <a:pt x="208127" y="0"/>
                </a:lnTo>
                <a:close/>
              </a:path>
            </a:pathLst>
          </a:custGeom>
          <a:solidFill>
            <a:srgbClr val="FEEB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978480" y="1560854"/>
            <a:ext cx="54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94328" y="1611463"/>
            <a:ext cx="54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29269" y="1828977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120" y="0"/>
                </a:moveTo>
                <a:lnTo>
                  <a:pt x="0" y="0"/>
                </a:lnTo>
                <a:lnTo>
                  <a:pt x="0" y="171094"/>
                </a:lnTo>
                <a:lnTo>
                  <a:pt x="152120" y="171094"/>
                </a:lnTo>
                <a:lnTo>
                  <a:pt x="152120" y="0"/>
                </a:lnTo>
                <a:close/>
              </a:path>
            </a:pathLst>
          </a:custGeom>
          <a:solidFill>
            <a:srgbClr val="FEEB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159863" y="1828977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120" y="0"/>
                </a:moveTo>
                <a:lnTo>
                  <a:pt x="0" y="0"/>
                </a:lnTo>
                <a:lnTo>
                  <a:pt x="0" y="171094"/>
                </a:lnTo>
                <a:lnTo>
                  <a:pt x="152120" y="171094"/>
                </a:lnTo>
                <a:lnTo>
                  <a:pt x="152120" y="0"/>
                </a:lnTo>
                <a:close/>
              </a:path>
            </a:pathLst>
          </a:custGeom>
          <a:solidFill>
            <a:srgbClr val="FEEB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467825" y="1908009"/>
            <a:ext cx="238125" cy="90805"/>
          </a:xfrm>
          <a:custGeom>
            <a:avLst/>
            <a:gdLst/>
            <a:ahLst/>
            <a:cxnLst/>
            <a:rect l="l" t="t" r="r" b="b"/>
            <a:pathLst>
              <a:path w="238125" h="90805">
                <a:moveTo>
                  <a:pt x="237553" y="0"/>
                </a:moveTo>
                <a:lnTo>
                  <a:pt x="0" y="0"/>
                </a:lnTo>
                <a:lnTo>
                  <a:pt x="0" y="90538"/>
                </a:lnTo>
                <a:lnTo>
                  <a:pt x="237553" y="90538"/>
                </a:lnTo>
                <a:lnTo>
                  <a:pt x="237553" y="0"/>
                </a:lnTo>
                <a:close/>
              </a:path>
            </a:pathLst>
          </a:custGeom>
          <a:solidFill>
            <a:srgbClr val="FEEB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829117" y="897951"/>
            <a:ext cx="901700" cy="11036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R="55880" algn="r">
              <a:lnSpc>
                <a:spcPct val="100000"/>
              </a:lnSpc>
              <a:spcBef>
                <a:spcPts val="340"/>
              </a:spcBef>
            </a:pPr>
            <a:r>
              <a:rPr sz="11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100" i="1" spc="-125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100" i="1" spc="-125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100" i="1" spc="-50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endParaRPr sz="1100">
              <a:latin typeface="Century Gothic"/>
              <a:cs typeface="Century Gothic"/>
            </a:endParaRPr>
          </a:p>
          <a:p>
            <a:pPr marR="55880" algn="r">
              <a:lnSpc>
                <a:spcPct val="100000"/>
              </a:lnSpc>
              <a:spcBef>
                <a:spcPts val="235"/>
              </a:spcBef>
            </a:pPr>
            <a:r>
              <a:rPr sz="11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100" i="1" spc="-125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100" i="1" spc="-125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100" i="1" spc="-50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endParaRPr sz="1100">
              <a:latin typeface="Century Gothic"/>
              <a:cs typeface="Century Gothic"/>
            </a:endParaRPr>
          </a:p>
          <a:p>
            <a:pPr marR="55880" algn="r">
              <a:lnSpc>
                <a:spcPct val="100000"/>
              </a:lnSpc>
              <a:spcBef>
                <a:spcPts val="240"/>
              </a:spcBef>
            </a:pPr>
            <a:r>
              <a:rPr sz="11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100" i="1" spc="-125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100" i="1" spc="-125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100" i="1" spc="-50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endParaRPr sz="1100">
              <a:latin typeface="Century Gothic"/>
              <a:cs typeface="Century Gothic"/>
            </a:endParaRPr>
          </a:p>
          <a:p>
            <a:pPr marR="78105" algn="r">
              <a:lnSpc>
                <a:spcPct val="100000"/>
              </a:lnSpc>
              <a:spcBef>
                <a:spcPts val="235"/>
              </a:spcBef>
            </a:pPr>
            <a:r>
              <a:rPr sz="1100" spc="-55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r>
              <a:rPr sz="1100" spc="-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650" spc="-82" baseline="-15151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r>
              <a:rPr sz="1650" spc="-187" baseline="-15151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650" spc="-75" baseline="-30303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650" baseline="-30303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935"/>
              </a:spcBef>
              <a:tabLst>
                <a:tab pos="368300" algn="l"/>
                <a:tab pos="676275" algn="l"/>
              </a:tabLst>
            </a:pPr>
            <a:r>
              <a:rPr sz="1100" spc="-5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100" spc="-5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1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100" i="1" spc="-125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100" i="1" spc="-125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100" i="1" spc="-50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929470" y="1828977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120" y="0"/>
                </a:moveTo>
                <a:lnTo>
                  <a:pt x="0" y="0"/>
                </a:lnTo>
                <a:lnTo>
                  <a:pt x="0" y="171094"/>
                </a:lnTo>
                <a:lnTo>
                  <a:pt x="152120" y="171094"/>
                </a:lnTo>
                <a:lnTo>
                  <a:pt x="152120" y="0"/>
                </a:lnTo>
                <a:close/>
              </a:path>
            </a:pathLst>
          </a:custGeom>
          <a:solidFill>
            <a:srgbClr val="FEEB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954718" y="1579839"/>
            <a:ext cx="1016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3495">
              <a:lnSpc>
                <a:spcPct val="118000"/>
              </a:lnSpc>
              <a:spcBef>
                <a:spcPts val="100"/>
              </a:spcBef>
            </a:pPr>
            <a:r>
              <a:rPr sz="1100" spc="-5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r>
              <a:rPr sz="1100" spc="5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67570" y="1830132"/>
            <a:ext cx="3016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30" baseline="7575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i="1" spc="-20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800" i="1" spc="-20" dirty="0">
                <a:solidFill>
                  <a:srgbClr val="22373A"/>
                </a:solidFill>
                <a:latin typeface="Verdana"/>
                <a:cs typeface="Verdana"/>
              </a:rPr>
              <a:t>,</a:t>
            </a:r>
            <a:r>
              <a:rPr sz="800" i="1" spc="-20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81109" y="918753"/>
            <a:ext cx="899160" cy="619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43180" indent="3175">
              <a:lnSpc>
                <a:spcPct val="118000"/>
              </a:lnSpc>
              <a:spcBef>
                <a:spcPts val="100"/>
              </a:spcBef>
              <a:tabLst>
                <a:tab pos="528955" algn="l"/>
                <a:tab pos="755650" algn="l"/>
              </a:tabLst>
            </a:pPr>
            <a:r>
              <a:rPr sz="1650" i="1" spc="-15" baseline="7575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-1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800" i="1" spc="-10" dirty="0">
                <a:solidFill>
                  <a:srgbClr val="22373A"/>
                </a:solidFill>
                <a:latin typeface="Verdana"/>
                <a:cs typeface="Verdana"/>
              </a:rPr>
              <a:t>,</a:t>
            </a:r>
            <a:r>
              <a:rPr sz="800" i="1" spc="-10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800" spc="-10" dirty="0">
                <a:solidFill>
                  <a:srgbClr val="22373A"/>
                </a:solidFill>
                <a:latin typeface="Cambria"/>
                <a:cs typeface="Cambria"/>
              </a:rPr>
              <a:t>−</a:t>
            </a:r>
            <a:r>
              <a:rPr sz="800" spc="-1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800" spc="-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650" i="1" spc="-60" baseline="7575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-4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800" i="1" spc="-40" dirty="0">
                <a:solidFill>
                  <a:srgbClr val="22373A"/>
                </a:solidFill>
                <a:latin typeface="Verdana"/>
                <a:cs typeface="Verdana"/>
              </a:rPr>
              <a:t>,</a:t>
            </a:r>
            <a:r>
              <a:rPr sz="800" i="1" spc="-40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800" i="1" spc="-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650" spc="-652" baseline="60606" dirty="0">
                <a:solidFill>
                  <a:srgbClr val="22373A"/>
                </a:solidFill>
                <a:latin typeface="Arial"/>
                <a:cs typeface="Arial"/>
              </a:rPr>
              <a:t></a:t>
            </a:r>
            <a:r>
              <a:rPr sz="1650" spc="-15" baseline="60606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650" i="1" spc="-15" baseline="7575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-10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800" i="1" spc="-10" dirty="0">
                <a:solidFill>
                  <a:srgbClr val="22373A"/>
                </a:solidFill>
                <a:latin typeface="Verdana"/>
                <a:cs typeface="Verdana"/>
              </a:rPr>
              <a:t>,</a:t>
            </a:r>
            <a:r>
              <a:rPr sz="800" i="1" spc="-10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800" spc="-10" dirty="0">
                <a:solidFill>
                  <a:srgbClr val="22373A"/>
                </a:solidFill>
                <a:latin typeface="Cambria"/>
                <a:cs typeface="Cambria"/>
              </a:rPr>
              <a:t>−</a:t>
            </a:r>
            <a:r>
              <a:rPr sz="800" spc="-1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650" i="1" spc="-30" baseline="7575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-20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800" i="1" spc="-20" dirty="0">
                <a:solidFill>
                  <a:srgbClr val="22373A"/>
                </a:solidFill>
                <a:latin typeface="Verdana"/>
                <a:cs typeface="Verdana"/>
              </a:rPr>
              <a:t>,</a:t>
            </a:r>
            <a:r>
              <a:rPr sz="800" i="1" spc="-20" dirty="0">
                <a:solidFill>
                  <a:srgbClr val="22373A"/>
                </a:solidFill>
                <a:latin typeface="Arial"/>
                <a:cs typeface="Arial"/>
              </a:rPr>
              <a:t>n </a:t>
            </a:r>
            <a:r>
              <a:rPr sz="1650" i="1" spc="-15" baseline="7575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-10" dirty="0">
                <a:solidFill>
                  <a:srgbClr val="22373A"/>
                </a:solidFill>
                <a:latin typeface="Calibri"/>
                <a:cs typeface="Calibri"/>
              </a:rPr>
              <a:t>3</a:t>
            </a:r>
            <a:r>
              <a:rPr sz="800" i="1" spc="-10" dirty="0">
                <a:solidFill>
                  <a:srgbClr val="22373A"/>
                </a:solidFill>
                <a:latin typeface="Verdana"/>
                <a:cs typeface="Verdana"/>
              </a:rPr>
              <a:t>,</a:t>
            </a:r>
            <a:r>
              <a:rPr sz="800" i="1" spc="-10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800" spc="-10" dirty="0">
                <a:solidFill>
                  <a:srgbClr val="22373A"/>
                </a:solidFill>
                <a:latin typeface="Cambria"/>
                <a:cs typeface="Cambria"/>
              </a:rPr>
              <a:t>−</a:t>
            </a:r>
            <a:r>
              <a:rPr sz="800" spc="-1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		</a:t>
            </a:r>
            <a:r>
              <a:rPr sz="1650" spc="-697" baseline="55555" dirty="0">
                <a:solidFill>
                  <a:srgbClr val="22373A"/>
                </a:solidFill>
                <a:latin typeface="Arial"/>
                <a:cs typeface="Arial"/>
              </a:rPr>
              <a:t></a:t>
            </a:r>
            <a:endParaRPr sz="1650" baseline="55555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68928" y="1537714"/>
            <a:ext cx="299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aseline="-10101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r>
              <a:rPr sz="1650" spc="187" baseline="-10101" dirty="0">
                <a:solidFill>
                  <a:srgbClr val="22373A"/>
                </a:solidFill>
                <a:latin typeface="Calibri"/>
                <a:cs typeface="Calibri"/>
              </a:rPr>
              <a:t>  </a:t>
            </a:r>
            <a:r>
              <a:rPr sz="1100" spc="-130" dirty="0">
                <a:solidFill>
                  <a:srgbClr val="22373A"/>
                </a:solidFill>
                <a:latin typeface="Arial"/>
                <a:cs typeface="Arial"/>
              </a:rPr>
              <a:t>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24377" y="1626386"/>
            <a:ext cx="118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20" dirty="0">
                <a:solidFill>
                  <a:srgbClr val="22373A"/>
                </a:solidFill>
                <a:latin typeface="Arial"/>
                <a:cs typeface="Arial"/>
              </a:rPr>
              <a:t></a:t>
            </a:r>
            <a:endParaRPr sz="11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72383" y="1346148"/>
            <a:ext cx="805180" cy="2171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760"/>
              </a:lnSpc>
              <a:spcBef>
                <a:spcPts val="90"/>
              </a:spcBef>
            </a:pPr>
            <a:r>
              <a:rPr sz="1650" i="1" baseline="7575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3</a:t>
            </a:r>
            <a:r>
              <a:rPr sz="800" i="1" dirty="0">
                <a:solidFill>
                  <a:srgbClr val="22373A"/>
                </a:solidFill>
                <a:latin typeface="Verdana"/>
                <a:cs typeface="Verdana"/>
              </a:rPr>
              <a:t>,</a:t>
            </a:r>
            <a:r>
              <a:rPr sz="800" i="1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800" i="1" spc="235" dirty="0">
                <a:solidFill>
                  <a:srgbClr val="22373A"/>
                </a:solidFill>
                <a:latin typeface="Arial"/>
                <a:cs typeface="Arial"/>
              </a:rPr>
              <a:t>  </a:t>
            </a:r>
            <a:r>
              <a:rPr sz="1650" spc="-232" baseline="-7575" dirty="0">
                <a:solidFill>
                  <a:srgbClr val="22373A"/>
                </a:solidFill>
                <a:latin typeface="Lucida Sans Unicode"/>
                <a:cs typeface="Lucida Sans Unicode"/>
              </a:rPr>
              <a:t>x</a:t>
            </a:r>
            <a:r>
              <a:rPr sz="1650" spc="-60" baseline="-757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650" baseline="-7575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650" spc="-97" baseline="-757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650" spc="-37" baseline="-7575" dirty="0">
                <a:solidFill>
                  <a:srgbClr val="22373A"/>
                </a:solidFill>
                <a:latin typeface="Lucida Sans Unicode"/>
                <a:cs typeface="Lucida Sans Unicode"/>
              </a:rPr>
              <a:t>b</a:t>
            </a:r>
            <a:r>
              <a:rPr sz="1200" spc="-37" baseline="20833" dirty="0">
                <a:solidFill>
                  <a:srgbClr val="22373A"/>
                </a:solidFill>
                <a:latin typeface="Cambria"/>
                <a:cs typeface="Cambria"/>
              </a:rPr>
              <a:t>∗</a:t>
            </a:r>
            <a:endParaRPr sz="1200" baseline="20833">
              <a:latin typeface="Cambria"/>
              <a:cs typeface="Cambria"/>
            </a:endParaRPr>
          </a:p>
          <a:p>
            <a:pPr marL="264160">
              <a:lnSpc>
                <a:spcPts val="760"/>
              </a:lnSpc>
            </a:pPr>
            <a:r>
              <a:rPr sz="1100" spc="-50" dirty="0">
                <a:solidFill>
                  <a:srgbClr val="22373A"/>
                </a:solidFill>
                <a:latin typeface="Arial"/>
                <a:cs typeface="Arial"/>
              </a:rPr>
              <a:t>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47294" y="2307398"/>
            <a:ext cx="18065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5" dirty="0">
                <a:solidFill>
                  <a:srgbClr val="22373A"/>
                </a:solidFill>
                <a:latin typeface="Lucida Sans Unicode"/>
                <a:cs typeface="Lucida Sans Unicode"/>
              </a:rPr>
              <a:t>Back-</a:t>
            </a:r>
            <a:r>
              <a:rPr sz="1100" spc="-60" dirty="0">
                <a:solidFill>
                  <a:srgbClr val="22373A"/>
                </a:solidFill>
                <a:latin typeface="Lucida Sans Unicode"/>
                <a:cs typeface="Lucida Sans Unicode"/>
              </a:rPr>
              <a:t>substitution</a:t>
            </a:r>
            <a:r>
              <a:rPr sz="1100" spc="6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algorithm: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6707" y="2750542"/>
            <a:ext cx="774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0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8883" y="2693610"/>
            <a:ext cx="274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1000" i="1" spc="4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68375" y="2608013"/>
            <a:ext cx="1377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u="sng" spc="35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Arial"/>
                <a:cs typeface="Arial"/>
              </a:rPr>
              <a:t> </a:t>
            </a:r>
            <a:r>
              <a:rPr sz="1000" i="1" u="sng" spc="-50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Arial"/>
                <a:cs typeface="Arial"/>
              </a:rPr>
              <a:t>b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80541" y="2600060"/>
            <a:ext cx="774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10" dirty="0">
                <a:solidFill>
                  <a:srgbClr val="22373A"/>
                </a:solidFill>
                <a:latin typeface="Lucida Sans Unicode"/>
                <a:cs typeface="Lucida Sans Unicode"/>
              </a:rPr>
              <a:t>∗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80541" y="2677250"/>
            <a:ext cx="774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u="sng" spc="-50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42975" y="2799376"/>
            <a:ext cx="28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00" i="1" spc="-30" baseline="8333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700" i="1" spc="-20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700" i="1" spc="-20" dirty="0">
                <a:solidFill>
                  <a:srgbClr val="22373A"/>
                </a:solidFill>
                <a:latin typeface="Trebuchet MS"/>
                <a:cs typeface="Trebuchet MS"/>
              </a:rPr>
              <a:t>,</a:t>
            </a:r>
            <a:r>
              <a:rPr sz="700" i="1" spc="-20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065464" y="2694675"/>
            <a:ext cx="495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007641" y="2633603"/>
            <a:ext cx="2470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1000" i="1" spc="1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279497" y="2720395"/>
            <a:ext cx="965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endParaRPr sz="10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350350" y="2781467"/>
            <a:ext cx="10350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700" i="1" spc="-25" dirty="0">
                <a:solidFill>
                  <a:srgbClr val="22373A"/>
                </a:solidFill>
                <a:latin typeface="Trebuchet MS"/>
                <a:cs typeface="Trebuchet MS"/>
              </a:rPr>
              <a:t>,</a:t>
            </a:r>
            <a:r>
              <a:rPr sz="700" i="1" spc="-25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470657" y="2607035"/>
            <a:ext cx="136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75" dirty="0">
                <a:solidFill>
                  <a:srgbClr val="22373A"/>
                </a:solidFill>
                <a:latin typeface="Arial"/>
                <a:cs typeface="Arial"/>
              </a:rPr>
              <a:t></a:t>
            </a:r>
            <a:endParaRPr sz="10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254097" y="2548018"/>
            <a:ext cx="450850" cy="262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935"/>
              </a:lnSpc>
              <a:spcBef>
                <a:spcPts val="95"/>
              </a:spcBef>
            </a:pPr>
            <a:r>
              <a:rPr sz="1000" u="sng" spc="130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Calibri"/>
                <a:cs typeface="Calibri"/>
              </a:rPr>
              <a:t> </a:t>
            </a:r>
            <a:r>
              <a:rPr sz="1000" u="sng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Calibri"/>
                <a:cs typeface="Calibri"/>
              </a:rPr>
              <a:t>1</a:t>
            </a:r>
            <a:r>
              <a:rPr sz="1000" u="sng" spc="140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Calibri"/>
                <a:cs typeface="Calibri"/>
              </a:rPr>
              <a:t> </a:t>
            </a:r>
            <a:r>
              <a:rPr sz="1000" u="none" spc="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500" u="none" spc="165" baseline="75000" dirty="0">
                <a:solidFill>
                  <a:srgbClr val="22373A"/>
                </a:solidFill>
                <a:latin typeface="Arial"/>
                <a:cs typeface="Arial"/>
              </a:rPr>
              <a:t></a:t>
            </a:r>
            <a:endParaRPr sz="1500" baseline="75000">
              <a:latin typeface="Arial"/>
              <a:cs typeface="Arial"/>
            </a:endParaRPr>
          </a:p>
          <a:p>
            <a:pPr marR="30480" algn="r">
              <a:lnSpc>
                <a:spcPts val="935"/>
              </a:lnSpc>
            </a:pPr>
            <a:r>
              <a:rPr sz="1000" i="1" spc="-50" dirty="0">
                <a:solidFill>
                  <a:srgbClr val="22373A"/>
                </a:solidFill>
                <a:latin typeface="Arial"/>
                <a:cs typeface="Arial"/>
              </a:rPr>
              <a:t>b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653741" y="2619326"/>
            <a:ext cx="77470" cy="219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60"/>
              </a:lnSpc>
              <a:spcBef>
                <a:spcPts val="95"/>
              </a:spcBef>
            </a:pPr>
            <a:r>
              <a:rPr sz="700" spc="-110" dirty="0">
                <a:solidFill>
                  <a:srgbClr val="22373A"/>
                </a:solidFill>
                <a:latin typeface="Lucida Sans Unicode"/>
                <a:cs typeface="Lucida Sans Unicode"/>
              </a:rPr>
              <a:t>∗</a:t>
            </a:r>
            <a:endParaRPr sz="700">
              <a:latin typeface="Lucida Sans Unicode"/>
              <a:cs typeface="Lucida Sans Unicode"/>
            </a:endParaRPr>
          </a:p>
          <a:p>
            <a:pPr marL="12700">
              <a:lnSpc>
                <a:spcPts val="760"/>
              </a:lnSpc>
            </a:pPr>
            <a:r>
              <a:rPr sz="700" i="1" spc="-5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740012" y="2633603"/>
            <a:ext cx="123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890469" y="2513408"/>
            <a:ext cx="1955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ts val="420"/>
              </a:lnSpc>
              <a:spcBef>
                <a:spcPts val="95"/>
              </a:spcBef>
            </a:pPr>
            <a:r>
              <a:rPr sz="700" i="1" spc="-50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780"/>
              </a:lnSpc>
            </a:pP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�</a:t>
            </a:r>
            <a:endParaRPr sz="10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866542" y="2828939"/>
            <a:ext cx="2565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10" dirty="0">
                <a:solidFill>
                  <a:srgbClr val="22373A"/>
                </a:solidFill>
                <a:latin typeface="Arial"/>
                <a:cs typeface="Arial"/>
              </a:rPr>
              <a:t>j</a:t>
            </a:r>
            <a:r>
              <a:rPr sz="700" spc="-10" dirty="0">
                <a:solidFill>
                  <a:srgbClr val="22373A"/>
                </a:solidFill>
                <a:latin typeface="Verdana"/>
                <a:cs typeface="Verdana"/>
              </a:rPr>
              <a:t>=</a:t>
            </a:r>
            <a:r>
              <a:rPr sz="700" i="1" spc="-1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700" spc="-10" dirty="0">
                <a:solidFill>
                  <a:srgbClr val="22373A"/>
                </a:solidFill>
                <a:latin typeface="Verdana"/>
                <a:cs typeface="Verdana"/>
              </a:rPr>
              <a:t>+</a:t>
            </a:r>
            <a:r>
              <a:rPr sz="700" spc="-1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163697" y="2656717"/>
            <a:ext cx="3594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700" i="1" dirty="0">
                <a:solidFill>
                  <a:srgbClr val="22373A"/>
                </a:solidFill>
                <a:latin typeface="Trebuchet MS"/>
                <a:cs typeface="Trebuchet MS"/>
              </a:rPr>
              <a:t>,</a:t>
            </a:r>
            <a:r>
              <a:rPr sz="700" i="1" dirty="0">
                <a:solidFill>
                  <a:srgbClr val="22373A"/>
                </a:solidFill>
                <a:latin typeface="Arial"/>
                <a:cs typeface="Arial"/>
              </a:rPr>
              <a:t>j</a:t>
            </a:r>
            <a:r>
              <a:rPr sz="700" i="1" spc="3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700" i="1" spc="65" dirty="0">
                <a:solidFill>
                  <a:srgbClr val="22373A"/>
                </a:solidFill>
                <a:latin typeface="Arial"/>
                <a:cs typeface="Arial"/>
              </a:rPr>
              <a:t>j</a:t>
            </a:r>
            <a:r>
              <a:rPr sz="1500" spc="97" baseline="22222" dirty="0">
                <a:solidFill>
                  <a:srgbClr val="22373A"/>
                </a:solidFill>
                <a:latin typeface="Arial"/>
                <a:cs typeface="Arial"/>
              </a:rPr>
              <a:t></a:t>
            </a:r>
            <a:endParaRPr sz="1500" baseline="22222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118243" y="2379285"/>
            <a:ext cx="1882139" cy="431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5270">
              <a:lnSpc>
                <a:spcPct val="100000"/>
              </a:lnSpc>
              <a:spcBef>
                <a:spcPts val="95"/>
              </a:spcBef>
            </a:pPr>
            <a:r>
              <a:rPr sz="1000" spc="110" dirty="0">
                <a:solidFill>
                  <a:srgbClr val="22373A"/>
                </a:solidFill>
                <a:latin typeface="Arial"/>
                <a:cs typeface="Arial"/>
              </a:rPr>
              <a:t>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  <a:tabLst>
                <a:tab pos="513715" algn="l"/>
              </a:tabLst>
            </a:pPr>
            <a:r>
              <a:rPr sz="10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1000" i="1" spc="3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1000" i="1" dirty="0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for</a:t>
            </a:r>
            <a:r>
              <a:rPr sz="1000" spc="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10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000" spc="-2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i="1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1000" i="1" spc="-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1000" spc="-8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6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000" i="1" spc="-60" dirty="0">
                <a:solidFill>
                  <a:srgbClr val="22373A"/>
                </a:solidFill>
                <a:latin typeface="Century Gothic"/>
                <a:cs typeface="Century Gothic"/>
              </a:rPr>
              <a:t>,</a:t>
            </a:r>
            <a:r>
              <a:rPr sz="1000" i="1" spc="-100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000" i="1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1000" i="1" spc="-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1000" spc="-8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1000" i="1" spc="-25" dirty="0">
                <a:solidFill>
                  <a:srgbClr val="22373A"/>
                </a:solidFill>
                <a:latin typeface="Century Gothic"/>
                <a:cs typeface="Century Gothic"/>
              </a:rPr>
              <a:t>,</a:t>
            </a:r>
            <a:r>
              <a:rPr sz="1000" i="1" spc="-105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0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000" i="1" spc="-100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0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000" i="1" spc="-100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0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000" i="1" spc="-100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000" i="1" dirty="0">
                <a:solidFill>
                  <a:srgbClr val="22373A"/>
                </a:solidFill>
                <a:latin typeface="Century Gothic"/>
                <a:cs typeface="Century Gothic"/>
              </a:rPr>
              <a:t>,</a:t>
            </a:r>
            <a:r>
              <a:rPr sz="1000" i="1" spc="-100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44005" y="3083128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120" dirty="0"/>
              <a:t> </a:t>
            </a:r>
            <a:r>
              <a:rPr dirty="0"/>
              <a:t>system</a:t>
            </a:r>
            <a:r>
              <a:rPr spc="120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0" dirty="0"/>
              <a:t>LU</a:t>
            </a:r>
            <a:r>
              <a:rPr spc="-60" dirty="0"/>
              <a:t> </a:t>
            </a:r>
            <a:r>
              <a:rPr spc="-50" dirty="0"/>
              <a:t>Factorization:</a:t>
            </a:r>
            <a:r>
              <a:rPr spc="45" dirty="0"/>
              <a:t> </a:t>
            </a:r>
            <a:r>
              <a:rPr spc="-80" dirty="0"/>
              <a:t>The</a:t>
            </a:r>
            <a:r>
              <a:rPr spc="-60" dirty="0"/>
              <a:t> </a:t>
            </a:r>
            <a:r>
              <a:rPr spc="-20" dirty="0"/>
              <a:t>Idea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5269" y="1876512"/>
            <a:ext cx="1054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915" dirty="0">
                <a:solidFill>
                  <a:srgbClr val="22373A"/>
                </a:solidFill>
                <a:latin typeface="Arial"/>
                <a:cs typeface="Arial"/>
              </a:rPr>
              <a:t>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5269" y="1965184"/>
            <a:ext cx="118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20" dirty="0">
                <a:solidFill>
                  <a:srgbClr val="22373A"/>
                </a:solidFill>
                <a:latin typeface="Arial"/>
                <a:cs typeface="Arial"/>
              </a:rPr>
              <a:t>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1147" y="1957652"/>
            <a:ext cx="4603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8935" algn="l"/>
              </a:tabLst>
            </a:pPr>
            <a:r>
              <a:rPr sz="1650" spc="-225" baseline="2525" dirty="0">
                <a:solidFill>
                  <a:srgbClr val="22373A"/>
                </a:solidFill>
                <a:latin typeface="Lucida Sans Unicode"/>
                <a:cs typeface="Lucida Sans Unicode"/>
              </a:rPr>
              <a:t>A</a:t>
            </a:r>
            <a:r>
              <a:rPr sz="1650" spc="-60" baseline="252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650" spc="-75" baseline="2525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650" baseline="2525" dirty="0">
                <a:solidFill>
                  <a:srgbClr val="22373A"/>
                </a:solidFill>
                <a:latin typeface="Lucida Sans Unicode"/>
                <a:cs typeface="Lucida Sans Unicode"/>
              </a:rPr>
              <a:t>	</a:t>
            </a:r>
            <a:r>
              <a:rPr sz="1100" i="1" spc="-5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0176" y="1978430"/>
            <a:ext cx="7962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61620" algn="l"/>
                <a:tab pos="647065" algn="l"/>
              </a:tabLst>
            </a:pPr>
            <a:r>
              <a:rPr sz="800" spc="-25" dirty="0">
                <a:solidFill>
                  <a:srgbClr val="22373A"/>
                </a:solidFill>
                <a:latin typeface="Calibri"/>
                <a:cs typeface="Calibri"/>
              </a:rPr>
              <a:t>21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650" i="1" spc="-37" baseline="7575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-25" dirty="0">
                <a:solidFill>
                  <a:srgbClr val="22373A"/>
                </a:solidFill>
                <a:latin typeface="Calibri"/>
                <a:cs typeface="Calibri"/>
              </a:rPr>
              <a:t>22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800" spc="-25" dirty="0">
                <a:solidFill>
                  <a:srgbClr val="22373A"/>
                </a:solidFill>
                <a:latin typeface="Calibri"/>
                <a:cs typeface="Calibri"/>
              </a:rPr>
              <a:t>23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7169" y="1780551"/>
            <a:ext cx="10782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47675" algn="l"/>
                <a:tab pos="756285" algn="l"/>
              </a:tabLst>
            </a:pPr>
            <a:r>
              <a:rPr sz="1650" spc="-30" baseline="58080" dirty="0">
                <a:solidFill>
                  <a:srgbClr val="22373A"/>
                </a:solidFill>
                <a:latin typeface="Arial"/>
                <a:cs typeface="Arial"/>
              </a:rPr>
              <a:t></a:t>
            </a:r>
            <a:r>
              <a:rPr sz="1650" i="1" spc="-30" baseline="7575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-20" dirty="0">
                <a:solidFill>
                  <a:srgbClr val="22373A"/>
                </a:solidFill>
                <a:latin typeface="Calibri"/>
                <a:cs typeface="Calibri"/>
              </a:rPr>
              <a:t>11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650" i="1" spc="-37" baseline="7575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-25" dirty="0">
                <a:solidFill>
                  <a:srgbClr val="22373A"/>
                </a:solidFill>
                <a:latin typeface="Calibri"/>
                <a:cs typeface="Calibri"/>
              </a:rPr>
              <a:t>12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650" i="1" spc="-60" baseline="7575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-40" dirty="0">
                <a:solidFill>
                  <a:srgbClr val="22373A"/>
                </a:solidFill>
                <a:latin typeface="Calibri"/>
                <a:cs typeface="Calibri"/>
              </a:rPr>
              <a:t>13</a:t>
            </a:r>
            <a:r>
              <a:rPr sz="800" spc="-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650" spc="-75" baseline="58080" dirty="0">
                <a:solidFill>
                  <a:srgbClr val="22373A"/>
                </a:solidFill>
                <a:latin typeface="Arial"/>
                <a:cs typeface="Arial"/>
              </a:rPr>
              <a:t></a:t>
            </a:r>
            <a:endParaRPr sz="1650" baseline="5808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9481" y="1876512"/>
            <a:ext cx="1054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915" dirty="0">
                <a:solidFill>
                  <a:srgbClr val="22373A"/>
                </a:solidFill>
                <a:latin typeface="Arial"/>
                <a:cs typeface="Arial"/>
              </a:rPr>
              <a:t>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7528" y="1965184"/>
            <a:ext cx="2997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i="1" baseline="2525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1650" i="1" spc="735" baseline="25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370" dirty="0">
                <a:solidFill>
                  <a:srgbClr val="22373A"/>
                </a:solidFill>
                <a:latin typeface="Arial"/>
                <a:cs typeface="Arial"/>
              </a:rPr>
              <a:t>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95488" y="1690178"/>
            <a:ext cx="1016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29229" y="1946171"/>
            <a:ext cx="1162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22373A"/>
                </a:solidFill>
                <a:latin typeface="Calibri"/>
                <a:cs typeface="Calibri"/>
              </a:rPr>
              <a:t>21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33040" y="2106725"/>
            <a:ext cx="5391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332105" algn="l"/>
              </a:tabLst>
            </a:pPr>
            <a:r>
              <a:rPr sz="1650" i="1" spc="-37" baseline="7575" dirty="0">
                <a:solidFill>
                  <a:srgbClr val="22373A"/>
                </a:solidFill>
                <a:latin typeface="Century Gothic"/>
                <a:cs typeface="Century Gothic"/>
              </a:rPr>
              <a:t>f</a:t>
            </a:r>
            <a:r>
              <a:rPr sz="800" spc="-25" dirty="0">
                <a:solidFill>
                  <a:srgbClr val="22373A"/>
                </a:solidFill>
                <a:latin typeface="Calibri"/>
                <a:cs typeface="Calibri"/>
              </a:rPr>
              <a:t>31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650" i="1" spc="-37" baseline="7575" dirty="0">
                <a:solidFill>
                  <a:srgbClr val="22373A"/>
                </a:solidFill>
                <a:latin typeface="Century Gothic"/>
                <a:cs typeface="Century Gothic"/>
              </a:rPr>
              <a:t>f</a:t>
            </a:r>
            <a:r>
              <a:rPr sz="800" spc="-25" dirty="0">
                <a:solidFill>
                  <a:srgbClr val="22373A"/>
                </a:solidFill>
                <a:latin typeface="Calibri"/>
                <a:cs typeface="Calibri"/>
              </a:rPr>
              <a:t>32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50463" y="2085948"/>
            <a:ext cx="831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5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4594" y="504963"/>
            <a:ext cx="4660900" cy="12503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Instead</a:t>
            </a:r>
            <a:r>
              <a:rPr sz="1100" spc="2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2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modifying</a:t>
            </a:r>
            <a:r>
              <a:rPr sz="1100" spc="2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50" dirty="0">
                <a:solidFill>
                  <a:srgbClr val="22373A"/>
                </a:solidFill>
                <a:latin typeface="Lucida Sans Unicode"/>
                <a:cs typeface="Lucida Sans Unicode"/>
              </a:rPr>
              <a:t>A</a:t>
            </a:r>
            <a:r>
              <a:rPr sz="1100" spc="1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repeatedly,</a:t>
            </a:r>
            <a:r>
              <a:rPr sz="1100" spc="2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B801A"/>
                </a:solidFill>
                <a:latin typeface="Calibri"/>
                <a:cs typeface="Calibri"/>
              </a:rPr>
              <a:t>decompose</a:t>
            </a:r>
            <a:r>
              <a:rPr sz="1100" spc="245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B801A"/>
                </a:solidFill>
                <a:latin typeface="Calibri"/>
                <a:cs typeface="Calibri"/>
              </a:rPr>
              <a:t>it</a:t>
            </a:r>
            <a:r>
              <a:rPr sz="1100" spc="250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B801A"/>
                </a:solidFill>
                <a:latin typeface="Calibri"/>
                <a:cs typeface="Calibri"/>
              </a:rPr>
              <a:t>once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endParaRPr sz="1100">
              <a:latin typeface="Calibri"/>
              <a:cs typeface="Calibri"/>
            </a:endParaRPr>
          </a:p>
          <a:p>
            <a:pPr marL="2332990">
              <a:lnSpc>
                <a:spcPct val="100000"/>
              </a:lnSpc>
              <a:spcBef>
                <a:spcPts val="1335"/>
              </a:spcBef>
            </a:pPr>
            <a:r>
              <a:rPr sz="1100" spc="-150" dirty="0">
                <a:solidFill>
                  <a:srgbClr val="22373A"/>
                </a:solidFill>
                <a:latin typeface="Lucida Sans Unicode"/>
                <a:cs typeface="Lucida Sans Unicode"/>
              </a:rPr>
              <a:t>A</a:t>
            </a:r>
            <a:r>
              <a:rPr sz="11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-7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LU</a:t>
            </a:r>
            <a:endParaRPr sz="11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100">
              <a:latin typeface="Lucida Sans Unicode"/>
              <a:cs typeface="Lucida Sans Unicode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where</a:t>
            </a:r>
            <a:r>
              <a:rPr sz="11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L</a:t>
            </a:r>
            <a:r>
              <a:rPr sz="1100" spc="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1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B801A"/>
                </a:solidFill>
                <a:latin typeface="Calibri"/>
                <a:cs typeface="Calibri"/>
              </a:rPr>
              <a:t>lower</a:t>
            </a:r>
            <a:r>
              <a:rPr sz="1100" spc="145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B801A"/>
                </a:solidFill>
                <a:latin typeface="Calibri"/>
                <a:cs typeface="Calibri"/>
              </a:rPr>
              <a:t>triangular</a:t>
            </a:r>
            <a:r>
              <a:rPr sz="1100" spc="145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(with</a:t>
            </a:r>
            <a:r>
              <a:rPr sz="11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1’s</a:t>
            </a:r>
            <a:r>
              <a:rPr sz="11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on</a:t>
            </a:r>
            <a:r>
              <a:rPr sz="11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diagonal)</a:t>
            </a:r>
            <a:r>
              <a:rPr sz="11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11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U</a:t>
            </a:r>
            <a:r>
              <a:rPr sz="1100" spc="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1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B801A"/>
                </a:solidFill>
                <a:latin typeface="Calibri"/>
                <a:cs typeface="Calibri"/>
              </a:rPr>
              <a:t>upper</a:t>
            </a:r>
            <a:r>
              <a:rPr sz="1100" spc="145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B801A"/>
                </a:solidFill>
                <a:latin typeface="Calibri"/>
                <a:cs typeface="Calibri"/>
              </a:rPr>
              <a:t>triangular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2256790">
              <a:lnSpc>
                <a:spcPct val="100000"/>
              </a:lnSpc>
              <a:spcBef>
                <a:spcPts val="1155"/>
              </a:spcBef>
              <a:tabLst>
                <a:tab pos="2918460" algn="l"/>
              </a:tabLst>
            </a:pPr>
            <a:r>
              <a:rPr sz="1100" dirty="0">
                <a:solidFill>
                  <a:srgbClr val="22373A"/>
                </a:solidFill>
                <a:latin typeface="Arial"/>
                <a:cs typeface="Arial"/>
              </a:rPr>
              <a:t></a:t>
            </a:r>
            <a:r>
              <a:rPr sz="11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650" spc="-75" baseline="-50505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650" baseline="-50505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650" spc="-37" baseline="-50505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1100" spc="-25" dirty="0">
                <a:solidFill>
                  <a:srgbClr val="22373A"/>
                </a:solidFill>
                <a:latin typeface="Arial"/>
                <a:cs typeface="Arial"/>
              </a:rPr>
              <a:t>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17176" y="1806929"/>
            <a:ext cx="1054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915" dirty="0">
                <a:solidFill>
                  <a:srgbClr val="22373A"/>
                </a:solidFill>
                <a:latin typeface="Arial"/>
                <a:cs typeface="Arial"/>
              </a:rPr>
              <a:t>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86952" y="1895588"/>
            <a:ext cx="11734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730250" algn="l"/>
                <a:tab pos="966469" algn="l"/>
              </a:tabLst>
            </a:pPr>
            <a:r>
              <a:rPr sz="1650" spc="-75" baseline="5050" dirty="0">
                <a:solidFill>
                  <a:srgbClr val="22373A"/>
                </a:solidFill>
                <a:latin typeface="Lucida Sans Unicode"/>
                <a:cs typeface="Lucida Sans Unicode"/>
              </a:rPr>
              <a:t>L</a:t>
            </a:r>
            <a:r>
              <a:rPr sz="1650" spc="-67" baseline="505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650" baseline="505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650" spc="-120" baseline="505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650" spc="-487" baseline="35353" dirty="0">
                <a:solidFill>
                  <a:srgbClr val="22373A"/>
                </a:solidFill>
                <a:latin typeface="Arial"/>
                <a:cs typeface="Arial"/>
              </a:rPr>
              <a:t></a:t>
            </a:r>
            <a:r>
              <a:rPr sz="1100" spc="-325" dirty="0">
                <a:solidFill>
                  <a:srgbClr val="22373A"/>
                </a:solidFill>
                <a:latin typeface="Arial"/>
                <a:cs typeface="Arial"/>
              </a:rPr>
              <a:t></a:t>
            </a:r>
            <a:r>
              <a:rPr sz="1650" i="1" spc="-487" baseline="2525" dirty="0">
                <a:solidFill>
                  <a:srgbClr val="22373A"/>
                </a:solidFill>
                <a:latin typeface="Century Gothic"/>
                <a:cs typeface="Century Gothic"/>
              </a:rPr>
              <a:t>f</a:t>
            </a:r>
            <a:r>
              <a:rPr sz="1650" i="1" baseline="2525" dirty="0">
                <a:solidFill>
                  <a:srgbClr val="22373A"/>
                </a:solidFill>
                <a:latin typeface="Century Gothic"/>
                <a:cs typeface="Century Gothic"/>
              </a:rPr>
              <a:t>	</a:t>
            </a:r>
            <a:r>
              <a:rPr sz="1650" spc="-75" baseline="2525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650" baseline="2525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650" spc="-75" baseline="2525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1100" spc="-50" dirty="0">
                <a:solidFill>
                  <a:srgbClr val="22373A"/>
                </a:solidFill>
                <a:latin typeface="Arial"/>
                <a:cs typeface="Arial"/>
              </a:rPr>
              <a:t>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73549" y="1876512"/>
            <a:ext cx="1054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915" dirty="0">
                <a:solidFill>
                  <a:srgbClr val="22373A"/>
                </a:solidFill>
                <a:latin typeface="Arial"/>
                <a:cs typeface="Arial"/>
              </a:rPr>
              <a:t>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97108" y="1965184"/>
            <a:ext cx="5175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spc="-75" baseline="5050" dirty="0">
                <a:solidFill>
                  <a:srgbClr val="22373A"/>
                </a:solidFill>
                <a:latin typeface="Lucida Sans Unicode"/>
                <a:cs typeface="Lucida Sans Unicode"/>
              </a:rPr>
              <a:t>U</a:t>
            </a:r>
            <a:r>
              <a:rPr sz="1650" spc="-67" baseline="505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650" baseline="505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650" spc="-135" baseline="505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"/>
                <a:cs typeface="Arial"/>
              </a:rPr>
              <a:t></a:t>
            </a:r>
            <a:r>
              <a:rPr sz="1100" spc="-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650" spc="-209" baseline="2525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endParaRPr sz="1650" baseline="2525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72430" y="1957652"/>
            <a:ext cx="1054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solidFill>
                  <a:srgbClr val="22373A"/>
                </a:solidFill>
                <a:latin typeface="Arial"/>
                <a:cs typeface="Arial"/>
              </a:rPr>
              <a:t>u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6836" y="2176321"/>
            <a:ext cx="4617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  <a:tabLst>
                <a:tab pos="364490" algn="l"/>
                <a:tab pos="672465" algn="l"/>
                <a:tab pos="4387850" algn="l"/>
              </a:tabLst>
            </a:pPr>
            <a:r>
              <a:rPr sz="1650" i="1" spc="-37" baseline="7575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-25" dirty="0">
                <a:solidFill>
                  <a:srgbClr val="22373A"/>
                </a:solidFill>
                <a:latin typeface="Calibri"/>
                <a:cs typeface="Calibri"/>
              </a:rPr>
              <a:t>31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650" i="1" spc="-37" baseline="7575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-25" dirty="0">
                <a:solidFill>
                  <a:srgbClr val="22373A"/>
                </a:solidFill>
                <a:latin typeface="Calibri"/>
                <a:cs typeface="Calibri"/>
              </a:rPr>
              <a:t>32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650" i="1" spc="-37" baseline="7575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-25" dirty="0">
                <a:solidFill>
                  <a:srgbClr val="22373A"/>
                </a:solidFill>
                <a:latin typeface="Calibri"/>
                <a:cs typeface="Calibri"/>
              </a:rPr>
              <a:t>33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650" i="1" spc="-37" baseline="7575" dirty="0">
                <a:solidFill>
                  <a:srgbClr val="22373A"/>
                </a:solidFill>
                <a:latin typeface="Arial"/>
                <a:cs typeface="Arial"/>
              </a:rPr>
              <a:t>u</a:t>
            </a:r>
            <a:r>
              <a:rPr sz="800" spc="-25" dirty="0">
                <a:solidFill>
                  <a:srgbClr val="22373A"/>
                </a:solidFill>
                <a:latin typeface="Calibri"/>
                <a:cs typeface="Calibri"/>
              </a:rPr>
              <a:t>33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10049" y="1748927"/>
            <a:ext cx="1141095" cy="59880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340"/>
              </a:spcBef>
              <a:tabLst>
                <a:tab pos="467995" algn="l"/>
                <a:tab pos="777875" algn="l"/>
              </a:tabLst>
            </a:pPr>
            <a:r>
              <a:rPr sz="1650" spc="-30" baseline="58080" dirty="0">
                <a:solidFill>
                  <a:srgbClr val="22373A"/>
                </a:solidFill>
                <a:latin typeface="Arial"/>
                <a:cs typeface="Arial"/>
              </a:rPr>
              <a:t></a:t>
            </a:r>
            <a:r>
              <a:rPr sz="1650" i="1" spc="-30" baseline="7575" dirty="0">
                <a:solidFill>
                  <a:srgbClr val="22373A"/>
                </a:solidFill>
                <a:latin typeface="Arial"/>
                <a:cs typeface="Arial"/>
              </a:rPr>
              <a:t>u</a:t>
            </a:r>
            <a:r>
              <a:rPr sz="800" spc="-20" dirty="0">
                <a:solidFill>
                  <a:srgbClr val="22373A"/>
                </a:solidFill>
                <a:latin typeface="Calibri"/>
                <a:cs typeface="Calibri"/>
              </a:rPr>
              <a:t>11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650" i="1" spc="-37" baseline="7575" dirty="0">
                <a:solidFill>
                  <a:srgbClr val="22373A"/>
                </a:solidFill>
                <a:latin typeface="Arial"/>
                <a:cs typeface="Arial"/>
              </a:rPr>
              <a:t>u</a:t>
            </a:r>
            <a:r>
              <a:rPr sz="800" spc="-25" dirty="0">
                <a:solidFill>
                  <a:srgbClr val="22373A"/>
                </a:solidFill>
                <a:latin typeface="Calibri"/>
                <a:cs typeface="Calibri"/>
              </a:rPr>
              <a:t>12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650" i="1" spc="-52" baseline="7575" dirty="0">
                <a:solidFill>
                  <a:srgbClr val="22373A"/>
                </a:solidFill>
                <a:latin typeface="Arial"/>
                <a:cs typeface="Arial"/>
              </a:rPr>
              <a:t>u</a:t>
            </a:r>
            <a:r>
              <a:rPr sz="800" spc="-35" dirty="0">
                <a:solidFill>
                  <a:srgbClr val="22373A"/>
                </a:solidFill>
                <a:latin typeface="Calibri"/>
                <a:cs typeface="Calibri"/>
              </a:rPr>
              <a:t>13</a:t>
            </a:r>
            <a:r>
              <a:rPr sz="800" spc="-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650" spc="-75" baseline="58080" dirty="0">
                <a:solidFill>
                  <a:srgbClr val="22373A"/>
                </a:solidFill>
                <a:latin typeface="Arial"/>
                <a:cs typeface="Arial"/>
              </a:rPr>
              <a:t></a:t>
            </a:r>
            <a:endParaRPr sz="1650" baseline="58080">
              <a:latin typeface="Arial"/>
              <a:cs typeface="Arial"/>
            </a:endParaRPr>
          </a:p>
          <a:p>
            <a:pPr marL="464820">
              <a:lnSpc>
                <a:spcPct val="100000"/>
              </a:lnSpc>
              <a:spcBef>
                <a:spcPts val="235"/>
              </a:spcBef>
              <a:tabLst>
                <a:tab pos="854710" algn="l"/>
              </a:tabLst>
            </a:pPr>
            <a:r>
              <a:rPr sz="1650" i="1" spc="-37" baseline="7575" dirty="0">
                <a:solidFill>
                  <a:srgbClr val="22373A"/>
                </a:solidFill>
                <a:latin typeface="Arial"/>
                <a:cs typeface="Arial"/>
              </a:rPr>
              <a:t>u</a:t>
            </a:r>
            <a:r>
              <a:rPr sz="800" spc="-25" dirty="0">
                <a:solidFill>
                  <a:srgbClr val="22373A"/>
                </a:solidFill>
                <a:latin typeface="Calibri"/>
                <a:cs typeface="Calibri"/>
              </a:rPr>
              <a:t>22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800" spc="-25" dirty="0">
                <a:solidFill>
                  <a:srgbClr val="22373A"/>
                </a:solidFill>
                <a:latin typeface="Calibri"/>
                <a:cs typeface="Calibri"/>
              </a:rPr>
              <a:t>23</a:t>
            </a:r>
            <a:endParaRPr sz="800">
              <a:latin typeface="Calibri"/>
              <a:cs typeface="Calibri"/>
            </a:endParaRPr>
          </a:p>
          <a:p>
            <a:pPr marL="215265">
              <a:lnSpc>
                <a:spcPct val="100000"/>
              </a:lnSpc>
              <a:spcBef>
                <a:spcPts val="75"/>
              </a:spcBef>
              <a:tabLst>
                <a:tab pos="518159" algn="l"/>
              </a:tabLst>
            </a:pPr>
            <a:r>
              <a:rPr sz="1100" spc="-5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100" spc="-5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56733" y="1876512"/>
            <a:ext cx="1054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915" dirty="0">
                <a:solidFill>
                  <a:srgbClr val="22373A"/>
                </a:solidFill>
                <a:latin typeface="Arial"/>
                <a:cs typeface="Arial"/>
              </a:rPr>
              <a:t>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56733" y="1965184"/>
            <a:ext cx="118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20" dirty="0">
                <a:solidFill>
                  <a:srgbClr val="22373A"/>
                </a:solidFill>
                <a:latin typeface="Arial"/>
                <a:cs typeface="Arial"/>
              </a:rPr>
              <a:t>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1894" y="2553256"/>
            <a:ext cx="486727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18000"/>
              </a:lnSpc>
              <a:spcBef>
                <a:spcPts val="100"/>
              </a:spcBef>
            </a:pPr>
            <a:r>
              <a:rPr sz="1100" spc="-60" dirty="0">
                <a:solidFill>
                  <a:srgbClr val="22373A"/>
                </a:solidFill>
                <a:latin typeface="Lucida Sans Unicode"/>
                <a:cs typeface="Lucida Sans Unicode"/>
              </a:rPr>
              <a:t>Connection</a:t>
            </a:r>
            <a:r>
              <a:rPr sz="1100" spc="3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to</a:t>
            </a:r>
            <a:r>
              <a:rPr sz="1100" spc="3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70" dirty="0">
                <a:solidFill>
                  <a:srgbClr val="22373A"/>
                </a:solidFill>
                <a:latin typeface="Lucida Sans Unicode"/>
                <a:cs typeface="Lucida Sans Unicode"/>
              </a:rPr>
              <a:t>Gauss</a:t>
            </a:r>
            <a:r>
              <a:rPr sz="1100" spc="3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elimination:</a:t>
            </a:r>
            <a:r>
              <a:rPr sz="1100" spc="18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multipliers</a:t>
            </a:r>
            <a:r>
              <a:rPr sz="1100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m</a:t>
            </a:r>
            <a:r>
              <a:rPr sz="1200" i="1" baseline="-13888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1200" i="1" baseline="-13888" dirty="0">
                <a:solidFill>
                  <a:srgbClr val="22373A"/>
                </a:solidFill>
                <a:latin typeface="Verdana"/>
                <a:cs typeface="Verdana"/>
              </a:rPr>
              <a:t>,</a:t>
            </a:r>
            <a:r>
              <a:rPr sz="1200" i="1" baseline="-13888" dirty="0">
                <a:solidFill>
                  <a:srgbClr val="22373A"/>
                </a:solidFill>
                <a:latin typeface="Arial"/>
                <a:cs typeface="Arial"/>
              </a:rPr>
              <a:t>k</a:t>
            </a:r>
            <a:r>
              <a:rPr sz="1200" i="1" spc="375" baseline="-13888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from</a:t>
            </a:r>
            <a:r>
              <a:rPr sz="1100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Gauss</a:t>
            </a:r>
            <a:r>
              <a:rPr sz="1100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elimination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become</a:t>
            </a:r>
            <a:r>
              <a:rPr sz="11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entries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entury Gothic"/>
                <a:cs typeface="Century Gothic"/>
              </a:rPr>
              <a:t>f</a:t>
            </a:r>
            <a:r>
              <a:rPr sz="1200" i="1" baseline="-13888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1200" i="1" baseline="-13888" dirty="0">
                <a:solidFill>
                  <a:srgbClr val="22373A"/>
                </a:solidFill>
                <a:latin typeface="Verdana"/>
                <a:cs typeface="Verdana"/>
              </a:rPr>
              <a:t>,</a:t>
            </a:r>
            <a:r>
              <a:rPr sz="1200" i="1" baseline="-13888" dirty="0">
                <a:solidFill>
                  <a:srgbClr val="22373A"/>
                </a:solidFill>
                <a:latin typeface="Arial"/>
                <a:cs typeface="Arial"/>
              </a:rPr>
              <a:t>k</a:t>
            </a:r>
            <a:r>
              <a:rPr sz="1200" i="1" spc="390" baseline="-13888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L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r>
              <a:rPr sz="1100" spc="3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Matrix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U</a:t>
            </a:r>
            <a:r>
              <a:rPr sz="1100" spc="6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final</a:t>
            </a:r>
            <a:r>
              <a:rPr sz="11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upper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triangular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form.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44005" y="3083128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120" dirty="0"/>
              <a:t> </a:t>
            </a:r>
            <a:r>
              <a:rPr dirty="0"/>
              <a:t>system</a:t>
            </a:r>
            <a:r>
              <a:rPr spc="120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Solving </a:t>
            </a:r>
            <a:r>
              <a:rPr spc="-45" dirty="0"/>
              <a:t>with </a:t>
            </a:r>
            <a:r>
              <a:rPr spc="-70" dirty="0"/>
              <a:t>LU</a:t>
            </a:r>
            <a:r>
              <a:rPr spc="-45" dirty="0"/>
              <a:t> </a:t>
            </a:r>
            <a:r>
              <a:rPr spc="-50" dirty="0"/>
              <a:t>Decomposition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4594" y="456551"/>
            <a:ext cx="4266565" cy="11671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Original</a:t>
            </a:r>
            <a:r>
              <a:rPr sz="11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problem:</a:t>
            </a:r>
            <a:r>
              <a:rPr sz="1100" spc="2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50" dirty="0">
                <a:solidFill>
                  <a:srgbClr val="22373A"/>
                </a:solidFill>
                <a:latin typeface="Lucida Sans Unicode"/>
                <a:cs typeface="Lucida Sans Unicode"/>
              </a:rPr>
              <a:t>Ax</a:t>
            </a:r>
            <a:r>
              <a:rPr sz="1100" spc="2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2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b</a:t>
            </a:r>
            <a:r>
              <a:rPr sz="1100" spc="39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→</a:t>
            </a:r>
            <a:r>
              <a:rPr sz="1100" spc="2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Substitute</a:t>
            </a:r>
            <a:r>
              <a:rPr sz="11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50" dirty="0">
                <a:solidFill>
                  <a:srgbClr val="22373A"/>
                </a:solidFill>
                <a:latin typeface="Lucida Sans Unicode"/>
                <a:cs typeface="Lucida Sans Unicode"/>
              </a:rPr>
              <a:t>A</a:t>
            </a:r>
            <a:r>
              <a:rPr sz="1100" spc="2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2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LU</a:t>
            </a:r>
            <a:r>
              <a:rPr sz="1100" spc="39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→</a:t>
            </a:r>
            <a:r>
              <a:rPr sz="1100" spc="2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Equation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90" dirty="0">
                <a:solidFill>
                  <a:srgbClr val="22373A"/>
                </a:solidFill>
                <a:latin typeface="Lucida Sans Unicode"/>
                <a:cs typeface="Lucida Sans Unicode"/>
              </a:rPr>
              <a:t>LUx</a:t>
            </a:r>
            <a:r>
              <a:rPr sz="1100" spc="2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2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b</a:t>
            </a:r>
            <a:endParaRPr sz="1100">
              <a:latin typeface="Lucida Sans Unicode"/>
              <a:cs typeface="Lucida Sans Unicode"/>
            </a:endParaRPr>
          </a:p>
          <a:p>
            <a:pPr marL="25400">
              <a:lnSpc>
                <a:spcPct val="100000"/>
              </a:lnSpc>
              <a:spcBef>
                <a:spcPts val="1350"/>
              </a:spcBef>
            </a:pPr>
            <a:r>
              <a:rPr sz="1100" spc="-114" dirty="0">
                <a:solidFill>
                  <a:srgbClr val="22373A"/>
                </a:solidFill>
                <a:latin typeface="Lucida Sans Unicode"/>
                <a:cs typeface="Lucida Sans Unicode"/>
              </a:rPr>
              <a:t>Two-</a:t>
            </a:r>
            <a:r>
              <a:rPr sz="1100" spc="-55" dirty="0">
                <a:solidFill>
                  <a:srgbClr val="22373A"/>
                </a:solidFill>
                <a:latin typeface="Lucida Sans Unicode"/>
                <a:cs typeface="Lucida Sans Unicode"/>
              </a:rPr>
              <a:t>step</a:t>
            </a:r>
            <a:r>
              <a:rPr sz="11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 solution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process:</a:t>
            </a:r>
            <a:endParaRPr sz="1100">
              <a:latin typeface="Lucida Sans Unicode"/>
              <a:cs typeface="Lucida Sans Unicode"/>
            </a:endParaRPr>
          </a:p>
          <a:p>
            <a:pPr marL="25400">
              <a:lnSpc>
                <a:spcPct val="100000"/>
              </a:lnSpc>
              <a:spcBef>
                <a:spcPts val="785"/>
              </a:spcBef>
            </a:pPr>
            <a:r>
              <a:rPr sz="11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Step</a:t>
            </a:r>
            <a:r>
              <a:rPr sz="1100" spc="2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165" dirty="0">
                <a:solidFill>
                  <a:srgbClr val="22373A"/>
                </a:solidFill>
                <a:latin typeface="Lucida Sans Unicode"/>
                <a:cs typeface="Lucida Sans Unicode"/>
              </a:rPr>
              <a:t>1:</a:t>
            </a:r>
            <a:r>
              <a:rPr sz="1100" spc="17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EB801A"/>
                </a:solidFill>
                <a:latin typeface="Calibri"/>
                <a:cs typeface="Calibri"/>
              </a:rPr>
              <a:t>Forward</a:t>
            </a:r>
            <a:r>
              <a:rPr sz="1100" spc="145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EB801A"/>
                </a:solidFill>
                <a:latin typeface="Calibri"/>
                <a:cs typeface="Calibri"/>
              </a:rPr>
              <a:t>substitution</a:t>
            </a:r>
            <a:r>
              <a:rPr sz="1100" spc="145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95" dirty="0">
                <a:solidFill>
                  <a:srgbClr val="22373A"/>
                </a:solidFill>
                <a:latin typeface="Calibri"/>
                <a:cs typeface="Calibri"/>
              </a:rPr>
              <a:t>-</a:t>
            </a:r>
            <a:r>
              <a:rPr sz="11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Solve</a:t>
            </a:r>
            <a:r>
              <a:rPr sz="11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22373A"/>
                </a:solidFill>
                <a:latin typeface="Lucida Sans Unicode"/>
                <a:cs typeface="Lucida Sans Unicode"/>
              </a:rPr>
              <a:t>Ly</a:t>
            </a:r>
            <a:r>
              <a:rPr sz="1100" spc="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60" dirty="0">
                <a:solidFill>
                  <a:srgbClr val="22373A"/>
                </a:solidFill>
                <a:latin typeface="Lucida Sans Unicode"/>
                <a:cs typeface="Lucida Sans Unicode"/>
              </a:rPr>
              <a:t>b</a:t>
            </a:r>
            <a:r>
              <a:rPr sz="1100" spc="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for</a:t>
            </a:r>
            <a:r>
              <a:rPr sz="11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y</a:t>
            </a:r>
            <a:endParaRPr sz="1100">
              <a:latin typeface="Lucida Sans Unicode"/>
              <a:cs typeface="Lucida Sans Unicode"/>
            </a:endParaRPr>
          </a:p>
          <a:p>
            <a:pPr marR="18415" algn="ctr">
              <a:lnSpc>
                <a:spcPct val="100000"/>
              </a:lnSpc>
              <a:spcBef>
                <a:spcPts val="520"/>
              </a:spcBef>
            </a:pPr>
            <a:r>
              <a:rPr sz="800" i="1" spc="35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800" spc="35" dirty="0">
                <a:solidFill>
                  <a:srgbClr val="22373A"/>
                </a:solidFill>
                <a:latin typeface="Cambria"/>
                <a:cs typeface="Cambria"/>
              </a:rPr>
              <a:t>−</a:t>
            </a:r>
            <a:r>
              <a:rPr sz="800" spc="35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  <a:p>
            <a:pPr marL="1454785">
              <a:lnSpc>
                <a:spcPct val="100000"/>
              </a:lnSpc>
              <a:spcBef>
                <a:spcPts val="100"/>
              </a:spcBef>
              <a:tabLst>
                <a:tab pos="2627630" algn="l"/>
              </a:tabLst>
            </a:pP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y</a:t>
            </a:r>
            <a:r>
              <a:rPr sz="1200" i="1" baseline="-13888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1200" i="1" spc="195" baseline="-13888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b</a:t>
            </a:r>
            <a:r>
              <a:rPr sz="1200" i="1" baseline="-13888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1200" i="1" spc="97" baseline="-13888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1100" spc="-10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650" spc="1485" baseline="53030" dirty="0">
                <a:solidFill>
                  <a:srgbClr val="22373A"/>
                </a:solidFill>
                <a:latin typeface="Arial"/>
                <a:cs typeface="Arial"/>
              </a:rPr>
              <a:t>�</a:t>
            </a:r>
            <a:r>
              <a:rPr sz="1650" spc="-187" baseline="530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22373A"/>
                </a:solidFill>
                <a:latin typeface="Century Gothic"/>
                <a:cs typeface="Century Gothic"/>
              </a:rPr>
              <a:t>f</a:t>
            </a:r>
            <a:r>
              <a:rPr sz="1200" i="1" spc="-15" baseline="-13888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1200" i="1" spc="-15" baseline="-13888" dirty="0">
                <a:solidFill>
                  <a:srgbClr val="22373A"/>
                </a:solidFill>
                <a:latin typeface="Verdana"/>
                <a:cs typeface="Verdana"/>
              </a:rPr>
              <a:t>,</a:t>
            </a:r>
            <a:r>
              <a:rPr sz="1200" i="1" spc="-15" baseline="-13888" dirty="0">
                <a:solidFill>
                  <a:srgbClr val="22373A"/>
                </a:solidFill>
                <a:latin typeface="Arial"/>
                <a:cs typeface="Arial"/>
              </a:rPr>
              <a:t>j</a:t>
            </a:r>
            <a:r>
              <a:rPr sz="1100" i="1" spc="-10" dirty="0">
                <a:solidFill>
                  <a:srgbClr val="22373A"/>
                </a:solidFill>
                <a:latin typeface="Arial"/>
                <a:cs typeface="Arial"/>
              </a:rPr>
              <a:t>y</a:t>
            </a:r>
            <a:r>
              <a:rPr sz="1200" i="1" spc="-15" baseline="-13888" dirty="0">
                <a:solidFill>
                  <a:srgbClr val="22373A"/>
                </a:solidFill>
                <a:latin typeface="Arial"/>
                <a:cs typeface="Arial"/>
              </a:rPr>
              <a:t>j</a:t>
            </a:r>
            <a:r>
              <a:rPr sz="1200" i="1" baseline="-13888" dirty="0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for</a:t>
            </a:r>
            <a:r>
              <a:rPr sz="1100" spc="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11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65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100" i="1" spc="-65" dirty="0">
                <a:solidFill>
                  <a:srgbClr val="22373A"/>
                </a:solidFill>
                <a:latin typeface="Century Gothic"/>
                <a:cs typeface="Century Gothic"/>
              </a:rPr>
              <a:t>,</a:t>
            </a:r>
            <a:r>
              <a:rPr sz="1100" i="1" spc="-114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1100" i="1" spc="-30" dirty="0">
                <a:solidFill>
                  <a:srgbClr val="22373A"/>
                </a:solidFill>
                <a:latin typeface="Century Gothic"/>
                <a:cs typeface="Century Gothic"/>
              </a:rPr>
              <a:t>,</a:t>
            </a:r>
            <a:r>
              <a:rPr sz="1100" i="1" spc="-120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100" i="1" spc="-114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100" i="1" spc="-114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100" i="1" spc="-120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entury Gothic"/>
                <a:cs typeface="Century Gothic"/>
              </a:rPr>
              <a:t>,</a:t>
            </a:r>
            <a:r>
              <a:rPr sz="1100" i="1" spc="-114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100" i="1" spc="-50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1644381"/>
            <a:ext cx="2811145" cy="4387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19125" algn="r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solidFill>
                  <a:srgbClr val="22373A"/>
                </a:solidFill>
                <a:latin typeface="Arial"/>
                <a:cs typeface="Arial"/>
              </a:rPr>
              <a:t>j</a:t>
            </a:r>
            <a:r>
              <a:rPr sz="800" spc="-25" dirty="0">
                <a:solidFill>
                  <a:srgbClr val="22373A"/>
                </a:solidFill>
                <a:latin typeface="Verdana"/>
                <a:cs typeface="Verdana"/>
              </a:rPr>
              <a:t>=</a:t>
            </a:r>
            <a:r>
              <a:rPr sz="800" spc="-25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Step</a:t>
            </a:r>
            <a:r>
              <a:rPr sz="1100" spc="3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110" dirty="0">
                <a:solidFill>
                  <a:srgbClr val="22373A"/>
                </a:solidFill>
                <a:latin typeface="Lucida Sans Unicode"/>
                <a:cs typeface="Lucida Sans Unicode"/>
              </a:rPr>
              <a:t>2:</a:t>
            </a:r>
            <a:r>
              <a:rPr sz="1100" spc="18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EB801A"/>
                </a:solidFill>
                <a:latin typeface="Calibri"/>
                <a:cs typeface="Calibri"/>
              </a:rPr>
              <a:t>Back-substitution</a:t>
            </a:r>
            <a:r>
              <a:rPr sz="1100" spc="160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95" dirty="0">
                <a:solidFill>
                  <a:srgbClr val="22373A"/>
                </a:solidFill>
                <a:latin typeface="Calibri"/>
                <a:cs typeface="Calibri"/>
              </a:rPr>
              <a:t>-</a:t>
            </a:r>
            <a:r>
              <a:rPr sz="1100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Solve</a:t>
            </a:r>
            <a:r>
              <a:rPr sz="1100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0" dirty="0">
                <a:solidFill>
                  <a:srgbClr val="22373A"/>
                </a:solidFill>
                <a:latin typeface="Lucida Sans Unicode"/>
                <a:cs typeface="Lucida Sans Unicode"/>
              </a:rPr>
              <a:t>Ux</a:t>
            </a:r>
            <a:r>
              <a:rPr sz="1100" spc="5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5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y</a:t>
            </a:r>
            <a:r>
              <a:rPr sz="1100" spc="5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for</a:t>
            </a:r>
            <a:r>
              <a:rPr sz="1100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x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0726" y="2346336"/>
            <a:ext cx="527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7416" y="2280512"/>
            <a:ext cx="2686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1100" i="1" spc="2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74190" y="2375546"/>
            <a:ext cx="1054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solidFill>
                  <a:srgbClr val="22373A"/>
                </a:solidFill>
                <a:latin typeface="Arial"/>
                <a:cs typeface="Arial"/>
              </a:rPr>
              <a:t>u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54136" y="2441370"/>
            <a:ext cx="1098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800" i="1" spc="-25" dirty="0">
                <a:solidFill>
                  <a:srgbClr val="22373A"/>
                </a:solidFill>
                <a:latin typeface="Verdana"/>
                <a:cs typeface="Verdana"/>
              </a:rPr>
              <a:t>,</a:t>
            </a:r>
            <a:r>
              <a:rPr sz="800" i="1" spc="-25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3067" y="2251416"/>
            <a:ext cx="1466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95" dirty="0">
                <a:solidFill>
                  <a:srgbClr val="22373A"/>
                </a:solidFill>
                <a:latin typeface="Arial"/>
                <a:cs typeface="Arial"/>
              </a:rPr>
              <a:t>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48790" y="2186786"/>
            <a:ext cx="471170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1030"/>
              </a:lnSpc>
              <a:spcBef>
                <a:spcPts val="90"/>
              </a:spcBef>
            </a:pPr>
            <a:r>
              <a:rPr sz="1100" u="sng" spc="150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Calibri"/>
                <a:cs typeface="Calibri"/>
              </a:rPr>
              <a:t> </a:t>
            </a:r>
            <a:r>
              <a:rPr sz="1100" u="sng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Calibri"/>
                <a:cs typeface="Calibri"/>
              </a:rPr>
              <a:t>1</a:t>
            </a:r>
            <a:r>
              <a:rPr sz="1100" u="sng" spc="155" dirty="0">
                <a:solidFill>
                  <a:srgbClr val="22373A"/>
                </a:solidFill>
                <a:uFill>
                  <a:solidFill>
                    <a:srgbClr val="22373A"/>
                  </a:solidFill>
                </a:uFill>
                <a:latin typeface="Calibri"/>
                <a:cs typeface="Calibri"/>
              </a:rPr>
              <a:t> </a:t>
            </a:r>
            <a:r>
              <a:rPr sz="1100" u="none" spc="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650" u="none" spc="157" baseline="73232" dirty="0">
                <a:solidFill>
                  <a:srgbClr val="22373A"/>
                </a:solidFill>
                <a:latin typeface="Arial"/>
                <a:cs typeface="Arial"/>
              </a:rPr>
              <a:t></a:t>
            </a:r>
            <a:endParaRPr sz="1650" baseline="73232">
              <a:latin typeface="Arial"/>
              <a:cs typeface="Arial"/>
            </a:endParaRPr>
          </a:p>
          <a:p>
            <a:pPr marR="30480" algn="r">
              <a:lnSpc>
                <a:spcPts val="1030"/>
              </a:lnSpc>
            </a:pPr>
            <a:r>
              <a:rPr sz="1100" i="1" spc="-50" dirty="0">
                <a:solidFill>
                  <a:srgbClr val="22373A"/>
                </a:solidFill>
                <a:latin typeface="Arial"/>
                <a:cs typeface="Arial"/>
              </a:rPr>
              <a:t>y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68715" y="2346336"/>
            <a:ext cx="527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33053" y="2280512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03322" y="2144660"/>
            <a:ext cx="213360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185">
              <a:lnSpc>
                <a:spcPts val="495"/>
              </a:lnSpc>
              <a:spcBef>
                <a:spcPts val="95"/>
              </a:spcBef>
            </a:pPr>
            <a:r>
              <a:rPr sz="800" i="1" spc="-50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855"/>
              </a:lnSpc>
            </a:pPr>
            <a:r>
              <a:rPr sz="1100" spc="-50" dirty="0">
                <a:solidFill>
                  <a:srgbClr val="22373A"/>
                </a:solidFill>
                <a:latin typeface="Arial"/>
                <a:cs typeface="Arial"/>
              </a:rPr>
              <a:t>�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71610" y="2493351"/>
            <a:ext cx="2895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solidFill>
                  <a:srgbClr val="22373A"/>
                </a:solidFill>
                <a:latin typeface="Arial"/>
                <a:cs typeface="Arial"/>
              </a:rPr>
              <a:t>j</a:t>
            </a:r>
            <a:r>
              <a:rPr sz="800" spc="-10" dirty="0">
                <a:solidFill>
                  <a:srgbClr val="22373A"/>
                </a:solidFill>
                <a:latin typeface="Verdana"/>
                <a:cs typeface="Verdana"/>
              </a:rPr>
              <a:t>=</a:t>
            </a:r>
            <a:r>
              <a:rPr sz="800" i="1" spc="-1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800" spc="-10" dirty="0">
                <a:solidFill>
                  <a:srgbClr val="22373A"/>
                </a:solidFill>
                <a:latin typeface="Verdana"/>
                <a:cs typeface="Verdana"/>
              </a:rPr>
              <a:t>+</a:t>
            </a:r>
            <a:r>
              <a:rPr sz="800" spc="-1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12796" y="2309011"/>
            <a:ext cx="3854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800" i="1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800" i="1" dirty="0">
                <a:solidFill>
                  <a:srgbClr val="22373A"/>
                </a:solidFill>
                <a:latin typeface="Verdana"/>
                <a:cs typeface="Verdana"/>
              </a:rPr>
              <a:t>,</a:t>
            </a:r>
            <a:r>
              <a:rPr sz="800" i="1" dirty="0">
                <a:solidFill>
                  <a:srgbClr val="22373A"/>
                </a:solidFill>
                <a:latin typeface="Arial"/>
                <a:cs typeface="Arial"/>
              </a:rPr>
              <a:t>j</a:t>
            </a:r>
            <a:r>
              <a:rPr sz="800" i="1" spc="3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i="1" spc="60" dirty="0">
                <a:solidFill>
                  <a:srgbClr val="22373A"/>
                </a:solidFill>
                <a:latin typeface="Arial"/>
                <a:cs typeface="Arial"/>
              </a:rPr>
              <a:t>j</a:t>
            </a:r>
            <a:r>
              <a:rPr sz="1650" spc="89" baseline="22727" dirty="0">
                <a:solidFill>
                  <a:srgbClr val="22373A"/>
                </a:solidFill>
                <a:latin typeface="Arial"/>
                <a:cs typeface="Arial"/>
              </a:rPr>
              <a:t></a:t>
            </a:r>
            <a:endParaRPr sz="1650" baseline="22727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58249" y="2002039"/>
            <a:ext cx="1824355" cy="47053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0035">
              <a:lnSpc>
                <a:spcPct val="100000"/>
              </a:lnSpc>
              <a:spcBef>
                <a:spcPts val="90"/>
              </a:spcBef>
            </a:pPr>
            <a:r>
              <a:rPr sz="1100" spc="114" dirty="0">
                <a:solidFill>
                  <a:srgbClr val="22373A"/>
                </a:solidFill>
                <a:latin typeface="Arial"/>
                <a:cs typeface="Arial"/>
              </a:rPr>
              <a:t>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  <a:tabLst>
                <a:tab pos="562610" algn="l"/>
              </a:tabLst>
            </a:pP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u</a:t>
            </a:r>
            <a:r>
              <a:rPr sz="1100" i="1" spc="409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for</a:t>
            </a:r>
            <a:r>
              <a:rPr sz="1100" spc="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11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1100" i="1" dirty="0">
                <a:solidFill>
                  <a:srgbClr val="22373A"/>
                </a:solidFill>
                <a:latin typeface="Century Gothic"/>
                <a:cs typeface="Century Gothic"/>
              </a:rPr>
              <a:t>,</a:t>
            </a:r>
            <a:r>
              <a:rPr sz="1100" i="1" spc="-114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1100" i="1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1100" spc="-9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65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100" i="1" spc="-65" dirty="0">
                <a:solidFill>
                  <a:srgbClr val="22373A"/>
                </a:solidFill>
                <a:latin typeface="Century Gothic"/>
                <a:cs typeface="Century Gothic"/>
              </a:rPr>
              <a:t>,</a:t>
            </a:r>
            <a:r>
              <a:rPr sz="1100" i="1" spc="-114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100" i="1" spc="-120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100" i="1" spc="-114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100" i="1" spc="-114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entury Gothic"/>
                <a:cs typeface="Century Gothic"/>
              </a:rPr>
              <a:t>,</a:t>
            </a:r>
            <a:r>
              <a:rPr sz="1100" i="1" spc="-120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1894" y="2866254"/>
            <a:ext cx="50285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Each</a:t>
            </a:r>
            <a:r>
              <a:rPr sz="10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step</a:t>
            </a:r>
            <a:r>
              <a:rPr sz="10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costs</a:t>
            </a:r>
            <a:r>
              <a:rPr sz="10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i="1" spc="20" dirty="0">
                <a:solidFill>
                  <a:srgbClr val="22373A"/>
                </a:solidFill>
                <a:latin typeface="Arial"/>
                <a:cs typeface="Arial"/>
              </a:rPr>
              <a:t>O</a:t>
            </a:r>
            <a:r>
              <a:rPr sz="1000" spc="20" dirty="0">
                <a:solidFill>
                  <a:srgbClr val="22373A"/>
                </a:solidFill>
                <a:latin typeface="Lucida Sans Unicode"/>
                <a:cs typeface="Lucida Sans Unicode"/>
              </a:rPr>
              <a:t>(</a:t>
            </a:r>
            <a:r>
              <a:rPr sz="1000" i="1" spc="20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1050" spc="30" baseline="27777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1000" spc="20" dirty="0">
                <a:solidFill>
                  <a:srgbClr val="22373A"/>
                </a:solidFill>
                <a:latin typeface="Lucida Sans Unicode"/>
                <a:cs typeface="Lucida Sans Unicode"/>
              </a:rPr>
              <a:t>)</a:t>
            </a:r>
            <a:r>
              <a:rPr sz="1000" spc="3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operations.</a:t>
            </a:r>
            <a:r>
              <a:rPr sz="1000" spc="2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decomposition</a:t>
            </a:r>
            <a:r>
              <a:rPr sz="10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costs</a:t>
            </a:r>
            <a:r>
              <a:rPr sz="10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i="1" spc="20" dirty="0">
                <a:solidFill>
                  <a:srgbClr val="22373A"/>
                </a:solidFill>
                <a:latin typeface="Arial"/>
                <a:cs typeface="Arial"/>
              </a:rPr>
              <a:t>O</a:t>
            </a:r>
            <a:r>
              <a:rPr sz="1000" spc="20" dirty="0">
                <a:solidFill>
                  <a:srgbClr val="22373A"/>
                </a:solidFill>
                <a:latin typeface="Lucida Sans Unicode"/>
                <a:cs typeface="Lucida Sans Unicode"/>
              </a:rPr>
              <a:t>(</a:t>
            </a:r>
            <a:r>
              <a:rPr sz="1000" i="1" spc="20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1050" spc="30" baseline="27777" dirty="0">
                <a:solidFill>
                  <a:srgbClr val="22373A"/>
                </a:solidFill>
                <a:latin typeface="Calibri"/>
                <a:cs typeface="Calibri"/>
              </a:rPr>
              <a:t>3</a:t>
            </a:r>
            <a:r>
              <a:rPr sz="1000" spc="20" dirty="0">
                <a:solidFill>
                  <a:srgbClr val="22373A"/>
                </a:solidFill>
                <a:latin typeface="Lucida Sans Unicode"/>
                <a:cs typeface="Lucida Sans Unicode"/>
              </a:rPr>
              <a:t>)</a:t>
            </a:r>
            <a:r>
              <a:rPr sz="1000" spc="2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but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0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done</a:t>
            </a:r>
            <a:r>
              <a:rPr sz="10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only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once!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44005" y="3083128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120" dirty="0"/>
              <a:t> </a:t>
            </a:r>
            <a:r>
              <a:rPr dirty="0"/>
              <a:t>system</a:t>
            </a:r>
            <a:r>
              <a:rPr spc="120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Computational</a:t>
            </a:r>
            <a:r>
              <a:rPr spc="-20" dirty="0"/>
              <a:t> </a:t>
            </a:r>
            <a:r>
              <a:rPr spc="-70" dirty="0"/>
              <a:t>Complexity</a:t>
            </a:r>
            <a:r>
              <a:rPr spc="-15" dirty="0"/>
              <a:t> </a:t>
            </a:r>
            <a:r>
              <a:rPr spc="-50" dirty="0"/>
              <a:t>Comparison</a:t>
            </a:r>
          </a:p>
        </p:txBody>
      </p:sp>
      <p:sp>
        <p:nvSpPr>
          <p:cNvPr id="3" name="object 3"/>
          <p:cNvSpPr/>
          <p:nvPr/>
        </p:nvSpPr>
        <p:spPr>
          <a:xfrm>
            <a:off x="765683" y="983881"/>
            <a:ext cx="4229100" cy="0"/>
          </a:xfrm>
          <a:custGeom>
            <a:avLst/>
            <a:gdLst/>
            <a:ahLst/>
            <a:cxnLst/>
            <a:rect l="l" t="t" r="r" b="b"/>
            <a:pathLst>
              <a:path w="4229100">
                <a:moveTo>
                  <a:pt x="0" y="0"/>
                </a:moveTo>
                <a:lnTo>
                  <a:pt x="4228642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28890" y="1001393"/>
            <a:ext cx="5016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Method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10862" y="1001393"/>
            <a:ext cx="7175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Operations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81462" y="1001393"/>
            <a:ext cx="622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0" dirty="0">
                <a:solidFill>
                  <a:srgbClr val="22373A"/>
                </a:solidFill>
                <a:latin typeface="Lucida Sans Unicode"/>
                <a:cs typeface="Lucida Sans Unicode"/>
              </a:rPr>
              <a:t>Comment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5683" y="1226400"/>
            <a:ext cx="4229100" cy="0"/>
          </a:xfrm>
          <a:custGeom>
            <a:avLst/>
            <a:gdLst/>
            <a:ahLst/>
            <a:cxnLst/>
            <a:rect l="l" t="t" r="r" b="b"/>
            <a:pathLst>
              <a:path w="4229100">
                <a:moveTo>
                  <a:pt x="0" y="0"/>
                </a:moveTo>
                <a:lnTo>
                  <a:pt x="4228642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67774" y="1189366"/>
            <a:ext cx="3822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aseline="-22727" dirty="0">
                <a:solidFill>
                  <a:srgbClr val="22373A"/>
                </a:solidFill>
                <a:latin typeface="Lucida Sans Unicode"/>
                <a:cs typeface="Lucida Sans Unicode"/>
              </a:rPr>
              <a:t>∼</a:t>
            </a:r>
            <a:r>
              <a:rPr sz="1650" spc="60" baseline="-22727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800" i="1" spc="-25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900" spc="-37" baseline="27777" dirty="0">
                <a:solidFill>
                  <a:srgbClr val="22373A"/>
                </a:solidFill>
                <a:latin typeface="Calibri"/>
                <a:cs typeface="Calibri"/>
              </a:rPr>
              <a:t>3</a:t>
            </a:r>
            <a:endParaRPr sz="900" baseline="27777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67291" y="1360525"/>
            <a:ext cx="151130" cy="0"/>
          </a:xfrm>
          <a:custGeom>
            <a:avLst/>
            <a:gdLst/>
            <a:ahLst/>
            <a:cxnLst/>
            <a:rect l="l" t="t" r="r" b="b"/>
            <a:pathLst>
              <a:path w="151130">
                <a:moveTo>
                  <a:pt x="0" y="0"/>
                </a:moveTo>
                <a:lnTo>
                  <a:pt x="150520" y="0"/>
                </a:lnTo>
              </a:path>
            </a:pathLst>
          </a:custGeom>
          <a:ln w="5537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005251" y="1329015"/>
            <a:ext cx="749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22373A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92006" y="1463102"/>
            <a:ext cx="3333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aseline="-35353" dirty="0">
                <a:solidFill>
                  <a:srgbClr val="22373A"/>
                </a:solidFill>
                <a:latin typeface="Lucida Sans Unicode"/>
                <a:cs typeface="Lucida Sans Unicode"/>
              </a:rPr>
              <a:t>∼</a:t>
            </a:r>
            <a:r>
              <a:rPr sz="1650" spc="60" baseline="-35353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200" i="1" spc="-37" baseline="-20833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600" spc="-25" dirty="0">
                <a:solidFill>
                  <a:srgbClr val="22373A"/>
                </a:solidFill>
                <a:latin typeface="Calibri"/>
                <a:cs typeface="Calibri"/>
              </a:rPr>
              <a:t>3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991535" y="1669973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5">
                <a:moveTo>
                  <a:pt x="0" y="0"/>
                </a:moveTo>
                <a:lnTo>
                  <a:pt x="102031" y="0"/>
                </a:lnTo>
              </a:path>
            </a:pathLst>
          </a:custGeom>
          <a:ln w="5537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005251" y="1638476"/>
            <a:ext cx="749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22373A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92006" y="1772563"/>
            <a:ext cx="3333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aseline="-35353" dirty="0">
                <a:solidFill>
                  <a:srgbClr val="22373A"/>
                </a:solidFill>
                <a:latin typeface="Lucida Sans Unicode"/>
                <a:cs typeface="Lucida Sans Unicode"/>
              </a:rPr>
              <a:t>∼</a:t>
            </a:r>
            <a:r>
              <a:rPr sz="1650" spc="60" baseline="-35353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200" i="1" spc="-37" baseline="-20833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600" spc="-25" dirty="0">
                <a:solidFill>
                  <a:srgbClr val="22373A"/>
                </a:solidFill>
                <a:latin typeface="Calibri"/>
                <a:cs typeface="Calibri"/>
              </a:rPr>
              <a:t>3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91535" y="1979434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5">
                <a:moveTo>
                  <a:pt x="0" y="0"/>
                </a:moveTo>
                <a:lnTo>
                  <a:pt x="102031" y="0"/>
                </a:lnTo>
              </a:path>
            </a:pathLst>
          </a:custGeom>
          <a:ln w="5537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03490" y="1243913"/>
            <a:ext cx="1706880" cy="11201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Direct</a:t>
            </a:r>
            <a:r>
              <a:rPr sz="11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inversion</a:t>
            </a:r>
            <a:r>
              <a:rPr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(</a:t>
            </a:r>
            <a:r>
              <a:rPr sz="1100" spc="-20" dirty="0">
                <a:solidFill>
                  <a:srgbClr val="22373A"/>
                </a:solidFill>
                <a:latin typeface="Lucida Sans Unicode"/>
                <a:cs typeface="Lucida Sans Unicode"/>
              </a:rPr>
              <a:t>A</a:t>
            </a:r>
            <a:r>
              <a:rPr sz="1200" spc="-30" baseline="27777" dirty="0">
                <a:solidFill>
                  <a:srgbClr val="22373A"/>
                </a:solidFill>
                <a:latin typeface="Cambria"/>
                <a:cs typeface="Cambria"/>
              </a:rPr>
              <a:t>−</a:t>
            </a:r>
            <a:r>
              <a:rPr sz="1200" spc="-30" baseline="27777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  <a:p>
            <a:pPr marL="38100" marR="551180">
              <a:lnSpc>
                <a:spcPct val="184600"/>
              </a:lnSpc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Gauss</a:t>
            </a:r>
            <a:r>
              <a:rPr sz="1100" spc="2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elimination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LU</a:t>
            </a:r>
            <a:r>
              <a:rPr sz="1100" spc="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decomposition</a:t>
            </a:r>
            <a:endParaRPr sz="11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115"/>
              </a:spcBef>
            </a:pP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Forward/back</a:t>
            </a:r>
            <a:r>
              <a:rPr sz="1100" spc="2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substitution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90558" y="1947937"/>
            <a:ext cx="351790" cy="4165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7329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22373A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800"/>
              </a:spcBef>
            </a:pP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∼</a:t>
            </a:r>
            <a:r>
              <a:rPr sz="1100" spc="-8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i="1" spc="-25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1200" spc="-37" baseline="27777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endParaRPr sz="1200" baseline="27777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54298" y="1243913"/>
            <a:ext cx="1477010" cy="11201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Numerically</a:t>
            </a:r>
            <a:r>
              <a:rPr sz="1100" spc="25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35" dirty="0">
                <a:solidFill>
                  <a:srgbClr val="22373A"/>
                </a:solidFill>
                <a:latin typeface="Calibri"/>
                <a:cs typeface="Calibri"/>
              </a:rPr>
              <a:t>unstable</a:t>
            </a:r>
            <a:endParaRPr sz="1100">
              <a:latin typeface="Calibri"/>
              <a:cs typeface="Calibri"/>
            </a:endParaRPr>
          </a:p>
          <a:p>
            <a:pPr marL="12065" marR="5080" algn="ctr">
              <a:lnSpc>
                <a:spcPct val="184600"/>
              </a:lnSpc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Good</a:t>
            </a:r>
            <a:r>
              <a:rPr sz="11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for</a:t>
            </a:r>
            <a:r>
              <a:rPr sz="11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single</a:t>
            </a:r>
            <a:r>
              <a:rPr sz="11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b </a:t>
            </a:r>
            <a:r>
              <a:rPr sz="1100" spc="45" dirty="0">
                <a:solidFill>
                  <a:srgbClr val="EB801A"/>
                </a:solidFill>
                <a:latin typeface="Calibri"/>
                <a:cs typeface="Calibri"/>
              </a:rPr>
              <a:t>Reusable</a:t>
            </a:r>
            <a:r>
              <a:rPr sz="1100" spc="150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EB801A"/>
                </a:solidFill>
                <a:latin typeface="Calibri"/>
                <a:cs typeface="Calibri"/>
              </a:rPr>
              <a:t>for</a:t>
            </a:r>
            <a:r>
              <a:rPr sz="1100" spc="155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EB801A"/>
                </a:solidFill>
                <a:latin typeface="Calibri"/>
                <a:cs typeface="Calibri"/>
              </a:rPr>
              <a:t>multiple</a:t>
            </a:r>
            <a:r>
              <a:rPr sz="1100" spc="150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EB801A"/>
                </a:solidFill>
                <a:latin typeface="Lucida Sans Unicode"/>
                <a:cs typeface="Lucida Sans Unicode"/>
              </a:rPr>
              <a:t>b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Using</a:t>
            </a:r>
            <a:r>
              <a:rPr sz="11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existing</a:t>
            </a:r>
            <a:r>
              <a:rPr sz="11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L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sz="1100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U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65683" y="2469299"/>
            <a:ext cx="4229100" cy="0"/>
          </a:xfrm>
          <a:custGeom>
            <a:avLst/>
            <a:gdLst/>
            <a:ahLst/>
            <a:cxnLst/>
            <a:rect l="l" t="t" r="r" b="b"/>
            <a:pathLst>
              <a:path w="4229100">
                <a:moveTo>
                  <a:pt x="0" y="0"/>
                </a:moveTo>
                <a:lnTo>
                  <a:pt x="4228642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44005" y="3083128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120" dirty="0"/>
              <a:t> </a:t>
            </a:r>
            <a:r>
              <a:rPr dirty="0"/>
              <a:t>system</a:t>
            </a:r>
            <a:r>
              <a:rPr spc="120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Why</a:t>
            </a:r>
            <a:r>
              <a:rPr spc="-45" dirty="0"/>
              <a:t> </a:t>
            </a:r>
            <a:r>
              <a:rPr spc="-55" dirty="0"/>
              <a:t>Use</a:t>
            </a:r>
            <a:r>
              <a:rPr spc="-40" dirty="0"/>
              <a:t> </a:t>
            </a:r>
            <a:r>
              <a:rPr spc="-70" dirty="0"/>
              <a:t>LU</a:t>
            </a:r>
            <a:r>
              <a:rPr spc="-45" dirty="0"/>
              <a:t> Decomposition?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657" y="431251"/>
            <a:ext cx="49911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0025" marR="17780" indent="-175260">
              <a:lnSpc>
                <a:spcPct val="118000"/>
              </a:lnSpc>
              <a:spcBef>
                <a:spcPts val="100"/>
              </a:spcBef>
              <a:buFont typeface="Arial"/>
              <a:buChar char="►"/>
              <a:tabLst>
                <a:tab pos="201930" algn="l"/>
              </a:tabLst>
            </a:pPr>
            <a:r>
              <a:rPr sz="11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Multiple</a:t>
            </a:r>
            <a:r>
              <a:rPr sz="11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70" dirty="0">
                <a:solidFill>
                  <a:srgbClr val="22373A"/>
                </a:solidFill>
                <a:latin typeface="Lucida Sans Unicode"/>
                <a:cs typeface="Lucida Sans Unicode"/>
              </a:rPr>
              <a:t>right-</a:t>
            </a:r>
            <a:r>
              <a:rPr sz="1100" spc="-90" dirty="0">
                <a:solidFill>
                  <a:srgbClr val="22373A"/>
                </a:solidFill>
                <a:latin typeface="Lucida Sans Unicode"/>
                <a:cs typeface="Lucida Sans Unicode"/>
              </a:rPr>
              <a:t>hand</a:t>
            </a:r>
            <a:r>
              <a:rPr sz="11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sides:</a:t>
            </a:r>
            <a:r>
              <a:rPr sz="1100" spc="12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Once</a:t>
            </a:r>
            <a:r>
              <a:rPr sz="11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50" dirty="0">
                <a:solidFill>
                  <a:srgbClr val="22373A"/>
                </a:solidFill>
                <a:latin typeface="Lucida Sans Unicode"/>
                <a:cs typeface="Lucida Sans Unicode"/>
              </a:rPr>
              <a:t>A</a:t>
            </a:r>
            <a:r>
              <a:rPr sz="1100" spc="1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55" dirty="0">
                <a:solidFill>
                  <a:srgbClr val="22373A"/>
                </a:solidFill>
                <a:latin typeface="Lucida Sans Unicode"/>
                <a:cs typeface="Lucida Sans Unicode"/>
              </a:rPr>
              <a:t>LU</a:t>
            </a:r>
            <a:r>
              <a:rPr sz="1100" spc="1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1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computed,</a:t>
            </a:r>
            <a:r>
              <a:rPr sz="11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2373A"/>
                </a:solidFill>
                <a:latin typeface="Calibri"/>
                <a:cs typeface="Calibri"/>
              </a:rPr>
              <a:t>solving</a:t>
            </a:r>
            <a:r>
              <a:rPr sz="11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for</a:t>
            </a:r>
            <a:r>
              <a:rPr sz="11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different</a:t>
            </a:r>
            <a:r>
              <a:rPr sz="11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b 	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vectors</a:t>
            </a:r>
            <a:r>
              <a:rPr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costs</a:t>
            </a:r>
            <a:r>
              <a:rPr sz="1100" spc="2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only</a:t>
            </a:r>
            <a:r>
              <a:rPr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Arial"/>
                <a:cs typeface="Arial"/>
              </a:rPr>
              <a:t>O</a:t>
            </a:r>
            <a:r>
              <a:rPr sz="1100" spc="10" dirty="0">
                <a:solidFill>
                  <a:srgbClr val="22373A"/>
                </a:solidFill>
                <a:latin typeface="Lucida Sans Unicode"/>
                <a:cs typeface="Lucida Sans Unicode"/>
              </a:rPr>
              <a:t>(</a:t>
            </a:r>
            <a:r>
              <a:rPr sz="1100" i="1" spc="10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1200" spc="15" baseline="27777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1100" spc="10" dirty="0">
                <a:solidFill>
                  <a:srgbClr val="22373A"/>
                </a:solidFill>
                <a:latin typeface="Lucida Sans Unicode"/>
                <a:cs typeface="Lucida Sans Unicode"/>
              </a:rPr>
              <a:t>)</a:t>
            </a:r>
            <a:r>
              <a:rPr sz="1100" spc="12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each</a:t>
            </a:r>
            <a:r>
              <a:rPr sz="1100" spc="2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(useful</a:t>
            </a:r>
            <a:r>
              <a:rPr sz="11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100" spc="2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optimization,</a:t>
            </a:r>
            <a:r>
              <a:rPr sz="1100" spc="2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time-stepping</a:t>
            </a:r>
            <a:r>
              <a:rPr sz="1100" spc="2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schemes, 	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Newton</a:t>
            </a:r>
            <a:r>
              <a:rPr sz="11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methods)</a:t>
            </a:r>
            <a:endParaRPr sz="1100">
              <a:latin typeface="Calibri"/>
              <a:cs typeface="Calibri"/>
            </a:endParaRPr>
          </a:p>
          <a:p>
            <a:pPr marL="200025" marR="610235" indent="-175260">
              <a:lnSpc>
                <a:spcPct val="118000"/>
              </a:lnSpc>
              <a:spcBef>
                <a:spcPts val="850"/>
              </a:spcBef>
              <a:buFont typeface="Arial"/>
              <a:buChar char="►"/>
              <a:tabLst>
                <a:tab pos="201930" algn="l"/>
              </a:tabLst>
            </a:pPr>
            <a:r>
              <a:rPr sz="1100" spc="-65" dirty="0">
                <a:solidFill>
                  <a:srgbClr val="22373A"/>
                </a:solidFill>
                <a:latin typeface="Lucida Sans Unicode"/>
                <a:cs typeface="Lucida Sans Unicode"/>
              </a:rPr>
              <a:t>Transpose</a:t>
            </a:r>
            <a:r>
              <a:rPr sz="11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60" dirty="0">
                <a:solidFill>
                  <a:srgbClr val="22373A"/>
                </a:solidFill>
                <a:latin typeface="Lucida Sans Unicode"/>
                <a:cs typeface="Lucida Sans Unicode"/>
              </a:rPr>
              <a:t>systems:</a:t>
            </a:r>
            <a:r>
              <a:rPr sz="1100" spc="7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Can</a:t>
            </a:r>
            <a:r>
              <a:rPr sz="1100" spc="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solve</a:t>
            </a:r>
            <a:r>
              <a:rPr sz="11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30" dirty="0">
                <a:solidFill>
                  <a:srgbClr val="22373A"/>
                </a:solidFill>
                <a:latin typeface="Lucida Sans Unicode"/>
                <a:cs typeface="Lucida Sans Unicode"/>
              </a:rPr>
              <a:t>A</a:t>
            </a:r>
            <a:r>
              <a:rPr sz="1200" i="1" spc="-195" baseline="27777" dirty="0">
                <a:solidFill>
                  <a:srgbClr val="22373A"/>
                </a:solidFill>
                <a:latin typeface="Arial"/>
                <a:cs typeface="Arial"/>
              </a:rPr>
              <a:t>T</a:t>
            </a:r>
            <a:r>
              <a:rPr sz="1200" i="1" spc="-172" baseline="27777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155" dirty="0">
                <a:solidFill>
                  <a:srgbClr val="22373A"/>
                </a:solidFill>
                <a:latin typeface="Lucida Sans Unicode"/>
                <a:cs typeface="Lucida Sans Unicode"/>
              </a:rPr>
              <a:t>x</a:t>
            </a:r>
            <a:r>
              <a:rPr sz="11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c</a:t>
            </a:r>
            <a:r>
              <a:rPr sz="11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using</a:t>
            </a:r>
            <a:r>
              <a:rPr sz="11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22373A"/>
                </a:solidFill>
                <a:latin typeface="Lucida Sans Unicode"/>
                <a:cs typeface="Lucida Sans Unicode"/>
              </a:rPr>
              <a:t>A</a:t>
            </a:r>
            <a:r>
              <a:rPr sz="1200" i="1" spc="-82" baseline="27777" dirty="0">
                <a:solidFill>
                  <a:srgbClr val="22373A"/>
                </a:solidFill>
                <a:latin typeface="Arial"/>
                <a:cs typeface="Arial"/>
              </a:rPr>
              <a:t>T</a:t>
            </a:r>
            <a:r>
              <a:rPr sz="1200" i="1" spc="307" baseline="27777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80" dirty="0">
                <a:solidFill>
                  <a:srgbClr val="22373A"/>
                </a:solidFill>
                <a:latin typeface="Lucida Sans Unicode"/>
                <a:cs typeface="Lucida Sans Unicode"/>
              </a:rPr>
              <a:t>U</a:t>
            </a:r>
            <a:r>
              <a:rPr sz="1200" i="1" spc="-120" baseline="27777" dirty="0">
                <a:solidFill>
                  <a:srgbClr val="22373A"/>
                </a:solidFill>
                <a:latin typeface="Arial"/>
                <a:cs typeface="Arial"/>
              </a:rPr>
              <a:t>T</a:t>
            </a:r>
            <a:r>
              <a:rPr sz="1200" i="1" spc="-165" baseline="27777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L</a:t>
            </a:r>
            <a:r>
              <a:rPr sz="1200" i="1" baseline="27777" dirty="0">
                <a:solidFill>
                  <a:srgbClr val="22373A"/>
                </a:solidFill>
                <a:latin typeface="Arial"/>
                <a:cs typeface="Arial"/>
              </a:rPr>
              <a:t>T</a:t>
            </a:r>
            <a:r>
              <a:rPr sz="1200" i="1" spc="315" baseline="27777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without</a:t>
            </a:r>
            <a:r>
              <a:rPr sz="1100" spc="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new 	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factorization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7357" y="1668296"/>
            <a:ext cx="29330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90"/>
              </a:spcBef>
              <a:buFont typeface="Arial"/>
              <a:buChar char="►"/>
              <a:tabLst>
                <a:tab pos="187960" algn="l"/>
              </a:tabLst>
            </a:pPr>
            <a:r>
              <a:rPr sz="1100" spc="-60" dirty="0">
                <a:solidFill>
                  <a:srgbClr val="22373A"/>
                </a:solidFill>
                <a:latin typeface="Lucida Sans Unicode"/>
                <a:cs typeface="Lucida Sans Unicode"/>
              </a:rPr>
              <a:t>Matrix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properties:</a:t>
            </a:r>
            <a:r>
              <a:rPr sz="1100" spc="14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Easy</a:t>
            </a:r>
            <a:r>
              <a:rPr sz="11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1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compute</a:t>
            </a:r>
            <a:r>
              <a:rPr sz="11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22373A"/>
                </a:solidFill>
                <a:latin typeface="Lucida Sans Unicode"/>
                <a:cs typeface="Lucida Sans Unicode"/>
              </a:rPr>
              <a:t>det(A)</a:t>
            </a:r>
            <a:r>
              <a:rPr sz="1100" spc="2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93401" y="1564384"/>
            <a:ext cx="1562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5" dirty="0">
                <a:solidFill>
                  <a:srgbClr val="22373A"/>
                </a:solidFill>
                <a:latin typeface="Arial"/>
                <a:cs typeface="Arial"/>
              </a:rPr>
              <a:t>[1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24250" y="1641778"/>
            <a:ext cx="178435" cy="2520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830"/>
              </a:lnSpc>
              <a:spcBef>
                <a:spcPts val="229"/>
              </a:spcBef>
            </a:pPr>
            <a:r>
              <a:rPr sz="800" i="1" spc="-50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800" i="1" spc="-20" dirty="0">
                <a:solidFill>
                  <a:srgbClr val="22373A"/>
                </a:solidFill>
                <a:latin typeface="Arial"/>
                <a:cs typeface="Arial"/>
              </a:rPr>
              <a:t> i</a:t>
            </a:r>
            <a:r>
              <a:rPr sz="800" spc="-20" dirty="0">
                <a:solidFill>
                  <a:srgbClr val="22373A"/>
                </a:solidFill>
                <a:latin typeface="Verdana"/>
                <a:cs typeface="Verdana"/>
              </a:rPr>
              <a:t>=</a:t>
            </a:r>
            <a:r>
              <a:rPr sz="800" spc="-2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80955" y="1668296"/>
            <a:ext cx="16167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u</a:t>
            </a:r>
            <a:r>
              <a:rPr sz="1200" i="1" baseline="-13888" dirty="0">
                <a:solidFill>
                  <a:srgbClr val="22373A"/>
                </a:solidFill>
                <a:latin typeface="Arial"/>
                <a:cs typeface="Arial"/>
              </a:rPr>
              <a:t>ii</a:t>
            </a:r>
            <a:r>
              <a:rPr sz="1200" i="1" spc="352" baseline="-13888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11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check</a:t>
            </a:r>
            <a:r>
              <a:rPr sz="11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invertibility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7357" y="1942564"/>
            <a:ext cx="486727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marR="31115" indent="-175260">
              <a:lnSpc>
                <a:spcPct val="118000"/>
              </a:lnSpc>
              <a:spcBef>
                <a:spcPts val="100"/>
              </a:spcBef>
              <a:buFont typeface="Arial"/>
              <a:buChar char="►"/>
              <a:tabLst>
                <a:tab pos="189230" algn="l"/>
              </a:tabLst>
            </a:pPr>
            <a:r>
              <a:rPr sz="11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Efficient</a:t>
            </a:r>
            <a:r>
              <a:rPr sz="1100" spc="1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updates:</a:t>
            </a:r>
            <a:r>
              <a:rPr sz="1100" spc="15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Special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techniques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can</a:t>
            </a:r>
            <a:r>
              <a:rPr sz="11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update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L</a:t>
            </a:r>
            <a:r>
              <a:rPr sz="1100" spc="3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U</a:t>
            </a:r>
            <a:r>
              <a:rPr sz="1100" spc="3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when</a:t>
            </a:r>
            <a:r>
              <a:rPr sz="11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50" dirty="0">
                <a:solidFill>
                  <a:srgbClr val="22373A"/>
                </a:solidFill>
                <a:latin typeface="Lucida Sans Unicode"/>
                <a:cs typeface="Lucida Sans Unicode"/>
              </a:rPr>
              <a:t>A</a:t>
            </a:r>
            <a:r>
              <a:rPr sz="1100" spc="3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slightly 	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modified</a:t>
            </a:r>
            <a:r>
              <a:rPr sz="1100" spc="3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(rank-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100" spc="3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updates,</a:t>
            </a:r>
            <a:r>
              <a:rPr sz="1100" spc="3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Sherman-Morrison</a:t>
            </a:r>
            <a:r>
              <a:rPr sz="1100" spc="3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formula)</a:t>
            </a:r>
            <a:endParaRPr sz="1100">
              <a:latin typeface="Calibri"/>
              <a:cs typeface="Calibri"/>
            </a:endParaRPr>
          </a:p>
          <a:p>
            <a:pPr marL="187325" marR="5080" indent="-175260">
              <a:lnSpc>
                <a:spcPct val="118000"/>
              </a:lnSpc>
              <a:spcBef>
                <a:spcPts val="850"/>
              </a:spcBef>
              <a:buFont typeface="Arial"/>
              <a:buChar char="►"/>
              <a:tabLst>
                <a:tab pos="189230" algn="l"/>
              </a:tabLst>
            </a:pPr>
            <a:r>
              <a:rPr sz="1100" spc="-100" dirty="0">
                <a:solidFill>
                  <a:srgbClr val="22373A"/>
                </a:solidFill>
                <a:latin typeface="Lucida Sans Unicode"/>
                <a:cs typeface="Lucida Sans Unicode"/>
              </a:rPr>
              <a:t>MATLAB</a:t>
            </a:r>
            <a:r>
              <a:rPr sz="11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note:</a:t>
            </a:r>
            <a:r>
              <a:rPr sz="1100" spc="114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built-</a:t>
            </a:r>
            <a:r>
              <a:rPr sz="1100" spc="7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1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[L,U,P]</a:t>
            </a:r>
            <a:r>
              <a:rPr sz="1100" spc="8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1100" spc="8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Courier New"/>
                <a:cs typeface="Courier New"/>
              </a:rPr>
              <a:t>lu</a:t>
            </a:r>
            <a:r>
              <a:rPr sz="1100" spc="-20" dirty="0">
                <a:solidFill>
                  <a:srgbClr val="22373A"/>
                </a:solidFill>
                <a:latin typeface="Courier New"/>
                <a:cs typeface="Courier New"/>
              </a:rPr>
              <a:t>(A)</a:t>
            </a:r>
            <a:r>
              <a:rPr sz="1100" spc="-32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function</a:t>
            </a:r>
            <a:r>
              <a:rPr sz="1100" spc="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includes</a:t>
            </a:r>
            <a:r>
              <a:rPr sz="11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B801A"/>
                </a:solidFill>
                <a:latin typeface="Calibri"/>
                <a:cs typeface="Calibri"/>
              </a:rPr>
              <a:t>pivoting 	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(permutation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matrix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Lucida Sans Unicode"/>
                <a:cs typeface="Lucida Sans Unicode"/>
              </a:rPr>
              <a:t>P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)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for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numerical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stability.</a:t>
            </a:r>
            <a:r>
              <a:rPr sz="1100" spc="3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Always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check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documentation 	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for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output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format!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4005" y="3083128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120" dirty="0"/>
              <a:t> </a:t>
            </a:r>
            <a:r>
              <a:rPr dirty="0"/>
              <a:t>system</a:t>
            </a:r>
            <a:r>
              <a:rPr spc="120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When</a:t>
            </a:r>
            <a:r>
              <a:rPr spc="-45" dirty="0"/>
              <a:t> </a:t>
            </a:r>
            <a:r>
              <a:rPr spc="-55" dirty="0"/>
              <a:t>Methods</a:t>
            </a:r>
            <a:r>
              <a:rPr spc="-40" dirty="0"/>
              <a:t> </a:t>
            </a:r>
            <a:r>
              <a:rPr spc="-95" dirty="0"/>
              <a:t>Can</a:t>
            </a:r>
            <a:r>
              <a:rPr spc="-40" dirty="0"/>
              <a:t> </a:t>
            </a:r>
            <a:r>
              <a:rPr spc="-20" dirty="0"/>
              <a:t>Fail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56551"/>
            <a:ext cx="3377565" cy="10445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Singular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matrices:</a:t>
            </a:r>
            <a:r>
              <a:rPr sz="1100" spc="10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If</a:t>
            </a:r>
            <a:r>
              <a:rPr sz="1100" spc="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22373A"/>
                </a:solidFill>
                <a:latin typeface="Lucida Sans Unicode"/>
                <a:cs typeface="Lucida Sans Unicode"/>
              </a:rPr>
              <a:t>det(A)</a:t>
            </a:r>
            <a:r>
              <a:rPr sz="1100" spc="-1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-1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0,</a:t>
            </a:r>
            <a:r>
              <a:rPr sz="1100" spc="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system</a:t>
            </a:r>
            <a:r>
              <a:rPr sz="1100" spc="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60" dirty="0">
                <a:solidFill>
                  <a:srgbClr val="22373A"/>
                </a:solidFill>
                <a:latin typeface="Calibri"/>
                <a:cs typeface="Calibri"/>
              </a:rPr>
              <a:t>has</a:t>
            </a:r>
            <a:r>
              <a:rPr sz="1100" spc="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either:</a:t>
            </a:r>
            <a:endParaRPr sz="1100">
              <a:latin typeface="Calibri"/>
              <a:cs typeface="Calibri"/>
            </a:endParaRPr>
          </a:p>
          <a:p>
            <a:pPr marL="287655" indent="-175260">
              <a:lnSpc>
                <a:spcPct val="100000"/>
              </a:lnSpc>
              <a:spcBef>
                <a:spcPts val="835"/>
              </a:spcBef>
              <a:buFont typeface="Arial"/>
              <a:buChar char="►"/>
              <a:tabLst>
                <a:tab pos="287655" algn="l"/>
              </a:tabLst>
            </a:pP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No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solution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(inconsistent)</a:t>
            </a:r>
            <a:endParaRPr sz="1100">
              <a:latin typeface="Calibri"/>
              <a:cs typeface="Calibri"/>
            </a:endParaRPr>
          </a:p>
          <a:p>
            <a:pPr marL="287655" indent="-175260">
              <a:lnSpc>
                <a:spcPct val="100000"/>
              </a:lnSpc>
              <a:spcBef>
                <a:spcPts val="235"/>
              </a:spcBef>
              <a:buFont typeface="Arial"/>
              <a:buChar char="►"/>
              <a:tabLst>
                <a:tab pos="287655" algn="l"/>
              </a:tabLst>
            </a:pP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Infinitely</a:t>
            </a:r>
            <a:r>
              <a:rPr sz="11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many</a:t>
            </a:r>
            <a:r>
              <a:rPr sz="11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solutions</a:t>
            </a:r>
            <a:r>
              <a:rPr sz="11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(underdetermined)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Numerical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issues</a:t>
            </a:r>
            <a:r>
              <a:rPr sz="11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60" dirty="0">
                <a:solidFill>
                  <a:srgbClr val="22373A"/>
                </a:solidFill>
                <a:latin typeface="Lucida Sans Unicode"/>
                <a:cs typeface="Lucida Sans Unicode"/>
              </a:rPr>
              <a:t>during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elimination: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2031" y="1669959"/>
            <a:ext cx="1612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solidFill>
                  <a:srgbClr val="22373A"/>
                </a:solidFill>
                <a:latin typeface="Arial"/>
                <a:cs typeface="Arial"/>
              </a:rPr>
              <a:t>k</a:t>
            </a:r>
            <a:r>
              <a:rPr sz="800" i="1" spc="-25" dirty="0">
                <a:solidFill>
                  <a:srgbClr val="22373A"/>
                </a:solidFill>
                <a:latin typeface="Verdana"/>
                <a:cs typeface="Verdana"/>
              </a:rPr>
              <a:t>,</a:t>
            </a:r>
            <a:r>
              <a:rPr sz="800" i="1" spc="-25" dirty="0">
                <a:solidFill>
                  <a:srgbClr val="22373A"/>
                </a:solidFill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1957" y="1582888"/>
            <a:ext cx="31457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3360" indent="-175260">
              <a:lnSpc>
                <a:spcPct val="100000"/>
              </a:lnSpc>
              <a:spcBef>
                <a:spcPts val="90"/>
              </a:spcBef>
              <a:buClr>
                <a:srgbClr val="22373A"/>
              </a:buClr>
              <a:buFont typeface="Arial"/>
              <a:buChar char="►"/>
              <a:tabLst>
                <a:tab pos="213360" algn="l"/>
              </a:tabLst>
            </a:pPr>
            <a:r>
              <a:rPr sz="1100" spc="10" dirty="0">
                <a:solidFill>
                  <a:srgbClr val="EB801A"/>
                </a:solidFill>
                <a:latin typeface="Calibri"/>
                <a:cs typeface="Calibri"/>
              </a:rPr>
              <a:t>Zero</a:t>
            </a:r>
            <a:r>
              <a:rPr sz="1100" spc="95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EB801A"/>
                </a:solidFill>
                <a:latin typeface="Calibri"/>
                <a:cs typeface="Calibri"/>
              </a:rPr>
              <a:t>pivot:</a:t>
            </a:r>
            <a:r>
              <a:rPr sz="1100" spc="210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If</a:t>
            </a:r>
            <a:r>
              <a:rPr sz="11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1200" spc="15" baseline="38194" dirty="0">
                <a:solidFill>
                  <a:srgbClr val="22373A"/>
                </a:solidFill>
                <a:latin typeface="Verdana"/>
                <a:cs typeface="Verdana"/>
              </a:rPr>
              <a:t>(</a:t>
            </a:r>
            <a:r>
              <a:rPr sz="1200" i="1" spc="15" baseline="38194" dirty="0">
                <a:solidFill>
                  <a:srgbClr val="22373A"/>
                </a:solidFill>
                <a:latin typeface="Arial"/>
                <a:cs typeface="Arial"/>
              </a:rPr>
              <a:t>k</a:t>
            </a:r>
            <a:r>
              <a:rPr sz="1200" spc="15" baseline="38194" dirty="0">
                <a:solidFill>
                  <a:srgbClr val="22373A"/>
                </a:solidFill>
                <a:latin typeface="Cambria"/>
                <a:cs typeface="Cambria"/>
              </a:rPr>
              <a:t>−</a:t>
            </a:r>
            <a:r>
              <a:rPr sz="1200" spc="15" baseline="38194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200" spc="15" baseline="38194" dirty="0">
                <a:solidFill>
                  <a:srgbClr val="22373A"/>
                </a:solidFill>
                <a:latin typeface="Verdana"/>
                <a:cs typeface="Verdana"/>
              </a:rPr>
              <a:t>)</a:t>
            </a:r>
            <a:r>
              <a:rPr sz="1200" spc="179" baseline="38194" dirty="0">
                <a:solidFill>
                  <a:srgbClr val="22373A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-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0,</a:t>
            </a:r>
            <a:r>
              <a:rPr sz="11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division</a:t>
            </a:r>
            <a:r>
              <a:rPr sz="1100" spc="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by</a:t>
            </a:r>
            <a:r>
              <a:rPr sz="11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zero</a:t>
            </a:r>
            <a:r>
              <a:rPr sz="11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occurs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96974" y="1900998"/>
            <a:ext cx="1612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solidFill>
                  <a:srgbClr val="22373A"/>
                </a:solidFill>
                <a:latin typeface="Arial"/>
                <a:cs typeface="Arial"/>
              </a:rPr>
              <a:t>k</a:t>
            </a:r>
            <a:r>
              <a:rPr sz="800" i="1" spc="-25" dirty="0">
                <a:solidFill>
                  <a:srgbClr val="22373A"/>
                </a:solidFill>
                <a:latin typeface="Verdana"/>
                <a:cs typeface="Verdana"/>
              </a:rPr>
              <a:t>,</a:t>
            </a:r>
            <a:r>
              <a:rPr sz="800" i="1" spc="-25" dirty="0">
                <a:solidFill>
                  <a:srgbClr val="22373A"/>
                </a:solidFill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1957" y="1813914"/>
            <a:ext cx="338645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3360" indent="-175260">
              <a:lnSpc>
                <a:spcPct val="100000"/>
              </a:lnSpc>
              <a:spcBef>
                <a:spcPts val="90"/>
              </a:spcBef>
              <a:buClr>
                <a:srgbClr val="22373A"/>
              </a:buClr>
              <a:buFont typeface="Arial"/>
              <a:buChar char="►"/>
              <a:tabLst>
                <a:tab pos="213360" algn="l"/>
              </a:tabLst>
            </a:pPr>
            <a:r>
              <a:rPr sz="1100" spc="60" dirty="0">
                <a:solidFill>
                  <a:srgbClr val="EB801A"/>
                </a:solidFill>
                <a:latin typeface="Calibri"/>
                <a:cs typeface="Calibri"/>
              </a:rPr>
              <a:t>Small</a:t>
            </a:r>
            <a:r>
              <a:rPr sz="1100" spc="110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EB801A"/>
                </a:solidFill>
                <a:latin typeface="Calibri"/>
                <a:cs typeface="Calibri"/>
              </a:rPr>
              <a:t>pivot:</a:t>
            </a:r>
            <a:r>
              <a:rPr sz="1100" spc="235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If</a:t>
            </a:r>
            <a:r>
              <a:rPr sz="11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1200" spc="15" baseline="38194" dirty="0">
                <a:solidFill>
                  <a:srgbClr val="22373A"/>
                </a:solidFill>
                <a:latin typeface="Verdana"/>
                <a:cs typeface="Verdana"/>
              </a:rPr>
              <a:t>(</a:t>
            </a:r>
            <a:r>
              <a:rPr sz="1200" i="1" spc="15" baseline="38194" dirty="0">
                <a:solidFill>
                  <a:srgbClr val="22373A"/>
                </a:solidFill>
                <a:latin typeface="Arial"/>
                <a:cs typeface="Arial"/>
              </a:rPr>
              <a:t>k</a:t>
            </a:r>
            <a:r>
              <a:rPr sz="1200" spc="15" baseline="38194" dirty="0">
                <a:solidFill>
                  <a:srgbClr val="22373A"/>
                </a:solidFill>
                <a:latin typeface="Cambria"/>
                <a:cs typeface="Cambria"/>
              </a:rPr>
              <a:t>−</a:t>
            </a:r>
            <a:r>
              <a:rPr sz="1200" spc="15" baseline="38194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200" spc="15" baseline="38194" dirty="0">
                <a:solidFill>
                  <a:srgbClr val="22373A"/>
                </a:solidFill>
                <a:latin typeface="Verdana"/>
                <a:cs typeface="Verdana"/>
              </a:rPr>
              <a:t>)</a:t>
            </a:r>
            <a:r>
              <a:rPr sz="1200" spc="209" baseline="38194" dirty="0">
                <a:solidFill>
                  <a:srgbClr val="22373A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≈</a:t>
            </a:r>
            <a:r>
              <a:rPr sz="1100" spc="1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0,</a:t>
            </a:r>
            <a:r>
              <a:rPr sz="11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amplifies</a:t>
            </a:r>
            <a:r>
              <a:rPr sz="11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rounding</a:t>
            </a:r>
            <a:r>
              <a:rPr sz="11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errors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294" y="2195397"/>
            <a:ext cx="4826000" cy="6635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Solution:</a:t>
            </a:r>
            <a:r>
              <a:rPr sz="1100" spc="15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EB801A"/>
                </a:solidFill>
                <a:latin typeface="Calibri"/>
                <a:cs typeface="Calibri"/>
              </a:rPr>
              <a:t>Partial</a:t>
            </a:r>
            <a:r>
              <a:rPr sz="1100" spc="130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B801A"/>
                </a:solidFill>
                <a:latin typeface="Calibri"/>
                <a:cs typeface="Calibri"/>
              </a:rPr>
              <a:t>pivoting</a:t>
            </a:r>
            <a:endParaRPr sz="1100">
              <a:latin typeface="Calibri"/>
              <a:cs typeface="Calibri"/>
            </a:endParaRPr>
          </a:p>
          <a:p>
            <a:pPr marL="287655" indent="-175260">
              <a:lnSpc>
                <a:spcPct val="100000"/>
              </a:lnSpc>
              <a:spcBef>
                <a:spcPts val="835"/>
              </a:spcBef>
              <a:buFont typeface="Arial"/>
              <a:buChar char="►"/>
              <a:tabLst>
                <a:tab pos="287655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At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each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step,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swap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rows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bring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largest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element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pivot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position</a:t>
            </a:r>
            <a:endParaRPr sz="1100">
              <a:latin typeface="Calibri"/>
              <a:cs typeface="Calibri"/>
            </a:endParaRPr>
          </a:p>
          <a:p>
            <a:pPr marL="287655" indent="-175260">
              <a:lnSpc>
                <a:spcPct val="100000"/>
              </a:lnSpc>
              <a:spcBef>
                <a:spcPts val="235"/>
              </a:spcBef>
              <a:buFont typeface="Arial"/>
              <a:buChar char="►"/>
              <a:tabLst>
                <a:tab pos="287655" algn="l"/>
              </a:tabLst>
            </a:pP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Improves</a:t>
            </a:r>
            <a:r>
              <a:rPr sz="1100" spc="3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numerical</a:t>
            </a:r>
            <a:r>
              <a:rPr sz="1100" spc="3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stability</a:t>
            </a:r>
            <a:r>
              <a:rPr sz="1100" spc="3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significantly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4005" y="3083128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7088" y="2856059"/>
            <a:ext cx="4417695" cy="35750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282575">
              <a:lnSpc>
                <a:spcPct val="100000"/>
              </a:lnSpc>
              <a:spcBef>
                <a:spcPts val="155"/>
              </a:spcBef>
            </a:pPr>
            <a:r>
              <a:rPr sz="1100" spc="-254" dirty="0">
                <a:solidFill>
                  <a:srgbClr val="22373A"/>
                </a:solidFill>
                <a:latin typeface="Arial"/>
                <a:cs typeface="Arial"/>
              </a:rPr>
              <a:t>►</a:t>
            </a:r>
            <a:r>
              <a:rPr sz="1100" spc="25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MATLAB’s</a:t>
            </a:r>
            <a:r>
              <a:rPr sz="1100" spc="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Courier New"/>
                <a:cs typeface="Courier New"/>
              </a:rPr>
              <a:t>lu</a:t>
            </a:r>
            <a:r>
              <a:rPr sz="1100" spc="-20" dirty="0">
                <a:solidFill>
                  <a:srgbClr val="22373A"/>
                </a:solidFill>
                <a:latin typeface="Courier New"/>
                <a:cs typeface="Courier New"/>
              </a:rPr>
              <a:t>(A)</a:t>
            </a:r>
            <a:r>
              <a:rPr sz="1100" spc="-34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1100" spc="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00FF"/>
                </a:solidFill>
                <a:latin typeface="Courier New"/>
                <a:cs typeface="Courier New"/>
              </a:rPr>
              <a:t>linsolve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(A,</a:t>
            </a:r>
            <a:r>
              <a:rPr sz="1100" spc="2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Courier New"/>
                <a:cs typeface="Courier New"/>
              </a:rPr>
              <a:t>b)</a:t>
            </a:r>
            <a:r>
              <a:rPr sz="1100" spc="-34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use</a:t>
            </a:r>
            <a:r>
              <a:rPr sz="1100" spc="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pivoting</a:t>
            </a:r>
            <a:r>
              <a:rPr sz="1100" spc="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by</a:t>
            </a:r>
            <a:r>
              <a:rPr sz="1100" spc="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default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Linear</a:t>
            </a:r>
            <a:r>
              <a:rPr sz="6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system</a:t>
            </a:r>
            <a:r>
              <a:rPr sz="6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6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22373A"/>
                </a:solidFill>
                <a:latin typeface="Calibri"/>
                <a:cs typeface="Calibri"/>
              </a:rPr>
              <a:t>equations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88882" y="1529661"/>
            <a:ext cx="7823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0" dirty="0">
                <a:solidFill>
                  <a:srgbClr val="F9F9F9"/>
                </a:solidFill>
                <a:latin typeface="Lucida Sans Unicode"/>
                <a:cs typeface="Lucida Sans Unicode"/>
              </a:rPr>
              <a:t>Exercises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Exercise</a:t>
            </a:r>
            <a:r>
              <a:rPr spc="-35" dirty="0"/>
              <a:t> </a:t>
            </a:r>
            <a:r>
              <a:rPr spc="-180" dirty="0"/>
              <a:t>1:</a:t>
            </a:r>
            <a:r>
              <a:rPr spc="85" dirty="0"/>
              <a:t> </a:t>
            </a:r>
            <a:r>
              <a:rPr spc="-65" dirty="0"/>
              <a:t>Triangular</a:t>
            </a:r>
            <a:r>
              <a:rPr spc="-30" dirty="0"/>
              <a:t> </a:t>
            </a:r>
            <a:r>
              <a:rPr spc="-50" dirty="0"/>
              <a:t>System</a:t>
            </a:r>
            <a:r>
              <a:rPr spc="-30" dirty="0"/>
              <a:t> </a:t>
            </a:r>
            <a:r>
              <a:rPr spc="-10" dirty="0"/>
              <a:t>Solver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5536" y="445800"/>
            <a:ext cx="4808220" cy="1575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sz="1000" spc="10" dirty="0">
                <a:solidFill>
                  <a:srgbClr val="006EB8"/>
                </a:solidFill>
                <a:latin typeface="Calibri"/>
                <a:cs typeface="Calibri"/>
              </a:rPr>
              <a:t>Implement</a:t>
            </a:r>
            <a:r>
              <a:rPr sz="1000" spc="229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006EB8"/>
                </a:solidFill>
                <a:latin typeface="Calibri"/>
                <a:cs typeface="Calibri"/>
              </a:rPr>
              <a:t>a</a:t>
            </a:r>
            <a:r>
              <a:rPr sz="1000" spc="23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006EB8"/>
                </a:solidFill>
                <a:latin typeface="Calibri"/>
                <a:cs typeface="Calibri"/>
              </a:rPr>
              <a:t>function</a:t>
            </a:r>
            <a:r>
              <a:rPr sz="1000" spc="229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006EB8"/>
                </a:solidFill>
                <a:latin typeface="Calibri"/>
                <a:cs typeface="Calibri"/>
              </a:rPr>
              <a:t>that</a:t>
            </a:r>
            <a:r>
              <a:rPr sz="1000" spc="23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006EB8"/>
                </a:solidFill>
                <a:latin typeface="Calibri"/>
                <a:cs typeface="Calibri"/>
              </a:rPr>
              <a:t>solves</a:t>
            </a:r>
            <a:r>
              <a:rPr sz="1000" spc="229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006EB8"/>
                </a:solidFill>
                <a:latin typeface="Calibri"/>
                <a:cs typeface="Calibri"/>
              </a:rPr>
              <a:t>upper</a:t>
            </a:r>
            <a:r>
              <a:rPr sz="1000" spc="23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006EB8"/>
                </a:solidFill>
                <a:latin typeface="Calibri"/>
                <a:cs typeface="Calibri"/>
              </a:rPr>
              <a:t>triangular</a:t>
            </a:r>
            <a:r>
              <a:rPr sz="1000" spc="229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006EB8"/>
                </a:solidFill>
                <a:latin typeface="Calibri"/>
                <a:cs typeface="Calibri"/>
              </a:rPr>
              <a:t>systems</a:t>
            </a:r>
            <a:r>
              <a:rPr sz="1000" spc="23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006EB8"/>
                </a:solidFill>
                <a:latin typeface="Calibri"/>
                <a:cs typeface="Calibri"/>
              </a:rPr>
              <a:t>using</a:t>
            </a:r>
            <a:r>
              <a:rPr sz="1000" spc="229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006EB8"/>
                </a:solidFill>
                <a:latin typeface="Calibri"/>
                <a:cs typeface="Calibri"/>
              </a:rPr>
              <a:t>back-</a:t>
            </a:r>
            <a:r>
              <a:rPr sz="1000" spc="-10" dirty="0">
                <a:solidFill>
                  <a:srgbClr val="006EB8"/>
                </a:solidFill>
                <a:latin typeface="Calibri"/>
                <a:cs typeface="Calibri"/>
              </a:rPr>
              <a:t>substitution.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000">
              <a:latin typeface="Calibri"/>
              <a:cs typeface="Calibri"/>
            </a:endParaRPr>
          </a:p>
          <a:p>
            <a:pPr marL="104139">
              <a:lnSpc>
                <a:spcPct val="100000"/>
              </a:lnSpc>
            </a:pPr>
            <a:r>
              <a:rPr sz="10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Function</a:t>
            </a:r>
            <a:r>
              <a:rPr sz="100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signature:</a:t>
            </a:r>
            <a:endParaRPr sz="1000">
              <a:latin typeface="Lucida Sans Unicode"/>
              <a:cs typeface="Lucida Sans Unicode"/>
            </a:endParaRPr>
          </a:p>
          <a:p>
            <a:pPr marL="381000">
              <a:lnSpc>
                <a:spcPct val="100000"/>
              </a:lnSpc>
              <a:spcBef>
                <a:spcPts val="1320"/>
              </a:spcBef>
            </a:pPr>
            <a:r>
              <a:rPr sz="10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Function:</a:t>
            </a:r>
            <a:r>
              <a:rPr sz="1000" spc="229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x</a:t>
            </a:r>
            <a:r>
              <a:rPr sz="10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=</a:t>
            </a:r>
            <a:r>
              <a:rPr sz="10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solve_upper_triangular(U,</a:t>
            </a:r>
            <a:r>
              <a:rPr sz="10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b)</a:t>
            </a:r>
            <a:endParaRPr sz="1000">
              <a:latin typeface="Calibri"/>
              <a:cs typeface="Calibri"/>
            </a:endParaRPr>
          </a:p>
          <a:p>
            <a:pPr marL="381000">
              <a:lnSpc>
                <a:spcPct val="100000"/>
              </a:lnSpc>
              <a:spcBef>
                <a:spcPts val="770"/>
              </a:spcBef>
            </a:pPr>
            <a:r>
              <a:rPr sz="10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Input:</a:t>
            </a:r>
            <a:r>
              <a:rPr sz="1000" spc="15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i="1" dirty="0">
                <a:solidFill>
                  <a:srgbClr val="22373A"/>
                </a:solidFill>
                <a:latin typeface="Arial"/>
                <a:cs typeface="Arial"/>
              </a:rPr>
              <a:t>n </a:t>
            </a:r>
            <a:r>
              <a:rPr sz="10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×</a:t>
            </a:r>
            <a:r>
              <a:rPr sz="10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i="1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1000" i="1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upper</a:t>
            </a:r>
            <a:r>
              <a:rPr sz="10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triangular</a:t>
            </a:r>
            <a:r>
              <a:rPr sz="10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matrix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ourier New"/>
                <a:cs typeface="Courier New"/>
              </a:rPr>
              <a:t>U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sz="10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vector</a:t>
            </a:r>
            <a:r>
              <a:rPr sz="10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/>
                <a:cs typeface="Courier New"/>
              </a:rPr>
              <a:t>b</a:t>
            </a:r>
            <a:r>
              <a:rPr sz="1000" spc="-25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0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size</a:t>
            </a:r>
            <a:r>
              <a:rPr sz="10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22373A"/>
                </a:solidFill>
                <a:latin typeface="Arial"/>
                <a:cs typeface="Arial"/>
              </a:rPr>
              <a:t>n </a:t>
            </a:r>
            <a:r>
              <a:rPr sz="10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×</a:t>
            </a:r>
            <a:r>
              <a:rPr sz="10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  <a:p>
            <a:pPr marL="381000">
              <a:lnSpc>
                <a:spcPct val="100000"/>
              </a:lnSpc>
              <a:spcBef>
                <a:spcPts val="775"/>
              </a:spcBef>
            </a:pPr>
            <a:r>
              <a:rPr sz="10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Output:</a:t>
            </a:r>
            <a:r>
              <a:rPr sz="1000" spc="16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Solution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vector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/>
                <a:cs typeface="Courier New"/>
              </a:rPr>
              <a:t>x</a:t>
            </a:r>
            <a:r>
              <a:rPr sz="1000" spc="-24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size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10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×</a:t>
            </a:r>
            <a:r>
              <a:rPr sz="10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8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Algorithm</a:t>
            </a:r>
            <a:r>
              <a:rPr sz="800" spc="1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hints: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8993" y="2101073"/>
            <a:ext cx="2280920" cy="701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baseline="6944" dirty="0">
                <a:solidFill>
                  <a:srgbClr val="22373A"/>
                </a:solidFill>
                <a:latin typeface="Calibri"/>
                <a:cs typeface="Calibri"/>
              </a:rPr>
              <a:t>Start</a:t>
            </a:r>
            <a:r>
              <a:rPr sz="1200" spc="172" baseline="694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baseline="6944" dirty="0">
                <a:solidFill>
                  <a:srgbClr val="22373A"/>
                </a:solidFill>
                <a:latin typeface="Calibri"/>
                <a:cs typeface="Calibri"/>
              </a:rPr>
              <a:t>from</a:t>
            </a:r>
            <a:r>
              <a:rPr sz="1200" spc="172" baseline="694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baseline="6944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200" spc="179" baseline="694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baseline="6944" dirty="0">
                <a:solidFill>
                  <a:srgbClr val="22373A"/>
                </a:solidFill>
                <a:latin typeface="Calibri"/>
                <a:cs typeface="Calibri"/>
              </a:rPr>
              <a:t>last</a:t>
            </a:r>
            <a:r>
              <a:rPr sz="1200" spc="172" baseline="694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baseline="6944" dirty="0">
                <a:solidFill>
                  <a:srgbClr val="22373A"/>
                </a:solidFill>
                <a:latin typeface="Calibri"/>
                <a:cs typeface="Calibri"/>
              </a:rPr>
              <a:t>equation:</a:t>
            </a:r>
            <a:r>
              <a:rPr sz="1200" spc="307" baseline="694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i="1" baseline="6944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600" i="1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600" i="1" spc="2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200" baseline="6944" dirty="0">
                <a:solidFill>
                  <a:srgbClr val="22373A"/>
                </a:solidFill>
                <a:latin typeface="Verdana"/>
                <a:cs typeface="Verdana"/>
              </a:rPr>
              <a:t>=</a:t>
            </a:r>
            <a:r>
              <a:rPr sz="1200" spc="52" baseline="6944" dirty="0">
                <a:solidFill>
                  <a:srgbClr val="22373A"/>
                </a:solidFill>
                <a:latin typeface="Verdana"/>
                <a:cs typeface="Verdana"/>
              </a:rPr>
              <a:t> </a:t>
            </a:r>
            <a:r>
              <a:rPr sz="1200" i="1" spc="-15" baseline="6944" dirty="0">
                <a:solidFill>
                  <a:srgbClr val="22373A"/>
                </a:solidFill>
                <a:latin typeface="Arial"/>
                <a:cs typeface="Arial"/>
              </a:rPr>
              <a:t>b</a:t>
            </a:r>
            <a:r>
              <a:rPr sz="600" i="1" spc="-10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1200" i="1" spc="-15" baseline="6944" dirty="0">
                <a:solidFill>
                  <a:srgbClr val="22373A"/>
                </a:solidFill>
                <a:latin typeface="Verdana"/>
                <a:cs typeface="Verdana"/>
              </a:rPr>
              <a:t>/</a:t>
            </a:r>
            <a:r>
              <a:rPr sz="1200" i="1" spc="-15" baseline="6944" dirty="0">
                <a:solidFill>
                  <a:srgbClr val="22373A"/>
                </a:solidFill>
                <a:latin typeface="Arial"/>
                <a:cs typeface="Arial"/>
              </a:rPr>
              <a:t>U</a:t>
            </a:r>
            <a:r>
              <a:rPr sz="600" i="1" spc="-10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600" i="1" spc="-10" dirty="0">
                <a:solidFill>
                  <a:srgbClr val="22373A"/>
                </a:solidFill>
                <a:latin typeface="Trebuchet MS"/>
                <a:cs typeface="Trebuchet MS"/>
              </a:rPr>
              <a:t>,</a:t>
            </a:r>
            <a:r>
              <a:rPr sz="600" i="1" spc="-10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Use</a:t>
            </a:r>
            <a:r>
              <a:rPr sz="800" spc="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8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/>
                <a:cs typeface="Courier New"/>
              </a:rPr>
              <a:t>for</a:t>
            </a:r>
            <a:r>
              <a:rPr sz="800" spc="-204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loop</a:t>
            </a:r>
            <a:r>
              <a:rPr sz="800" spc="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with</a:t>
            </a:r>
            <a:r>
              <a:rPr sz="8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index</a:t>
            </a:r>
            <a:r>
              <a:rPr sz="8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/>
                <a:cs typeface="Courier New"/>
              </a:rPr>
              <a:t>i</a:t>
            </a:r>
            <a:r>
              <a:rPr sz="800" spc="-2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from</a:t>
            </a:r>
            <a:r>
              <a:rPr sz="8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/>
                <a:cs typeface="Courier New"/>
              </a:rPr>
              <a:t>n-1</a:t>
            </a:r>
            <a:r>
              <a:rPr sz="800" spc="-204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down</a:t>
            </a:r>
            <a:r>
              <a:rPr sz="800" spc="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8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-50" dirty="0">
                <a:solidFill>
                  <a:srgbClr val="22373A"/>
                </a:solidFill>
                <a:latin typeface="Courier New"/>
                <a:cs typeface="Courier New"/>
              </a:rPr>
              <a:t>1</a:t>
            </a:r>
            <a:endParaRPr sz="800">
              <a:latin typeface="Courier New"/>
              <a:cs typeface="Courier New"/>
            </a:endParaRPr>
          </a:p>
          <a:p>
            <a:pPr marL="38100" marR="450850">
              <a:lnSpc>
                <a:spcPct val="113399"/>
              </a:lnSpc>
              <a:spcBef>
                <a:spcPts val="600"/>
              </a:spcBef>
            </a:pPr>
            <a:r>
              <a:rPr sz="800" spc="20" dirty="0">
                <a:solidFill>
                  <a:srgbClr val="22373A"/>
                </a:solidFill>
                <a:latin typeface="Calibri"/>
                <a:cs typeface="Calibri"/>
              </a:rPr>
              <a:t>For</a:t>
            </a:r>
            <a:r>
              <a:rPr sz="800" spc="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20" dirty="0">
                <a:solidFill>
                  <a:srgbClr val="22373A"/>
                </a:solidFill>
                <a:latin typeface="Calibri"/>
                <a:cs typeface="Calibri"/>
              </a:rPr>
              <a:t>each</a:t>
            </a:r>
            <a:r>
              <a:rPr sz="800" spc="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i="1" spc="20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900" i="1" spc="30" baseline="-18518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800" spc="20" dirty="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sz="8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20" dirty="0">
                <a:solidFill>
                  <a:srgbClr val="22373A"/>
                </a:solidFill>
                <a:latin typeface="Calibri"/>
                <a:cs typeface="Calibri"/>
              </a:rPr>
              <a:t>subtract</a:t>
            </a:r>
            <a:r>
              <a:rPr sz="800" spc="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20" dirty="0">
                <a:solidFill>
                  <a:srgbClr val="22373A"/>
                </a:solidFill>
                <a:latin typeface="Calibri"/>
                <a:cs typeface="Calibri"/>
              </a:rPr>
              <a:t>contributions</a:t>
            </a:r>
            <a:r>
              <a:rPr sz="800" spc="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Calibri"/>
                <a:cs typeface="Calibri"/>
              </a:rPr>
              <a:t>from</a:t>
            </a:r>
            <a:r>
              <a:rPr sz="800" spc="5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already-computed</a:t>
            </a:r>
            <a:r>
              <a:rPr sz="8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i="1" spc="10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900" i="1" spc="15" baseline="-18518" dirty="0">
                <a:solidFill>
                  <a:srgbClr val="22373A"/>
                </a:solidFill>
                <a:latin typeface="Arial"/>
                <a:cs typeface="Arial"/>
              </a:rPr>
              <a:t>j</a:t>
            </a:r>
            <a:r>
              <a:rPr sz="900" i="1" spc="240" baseline="-18518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(where</a:t>
            </a:r>
            <a:r>
              <a:rPr sz="8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i="1" spc="10" dirty="0">
                <a:solidFill>
                  <a:srgbClr val="22373A"/>
                </a:solidFill>
                <a:latin typeface="Arial"/>
                <a:cs typeface="Arial"/>
              </a:rPr>
              <a:t>j</a:t>
            </a:r>
            <a:r>
              <a:rPr sz="800" i="1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i="1" spc="10" dirty="0">
                <a:solidFill>
                  <a:srgbClr val="22373A"/>
                </a:solidFill>
                <a:latin typeface="Verdana"/>
                <a:cs typeface="Verdana"/>
              </a:rPr>
              <a:t>&gt;</a:t>
            </a:r>
            <a:r>
              <a:rPr sz="800" i="1" spc="15" dirty="0">
                <a:solidFill>
                  <a:srgbClr val="22373A"/>
                </a:solidFill>
                <a:latin typeface="Verdana"/>
                <a:cs typeface="Verdana"/>
              </a:rPr>
              <a:t> </a:t>
            </a:r>
            <a:r>
              <a:rPr sz="800" i="1" spc="-25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800" spc="-25" dirty="0">
                <a:solidFill>
                  <a:srgbClr val="22373A"/>
                </a:solidFill>
                <a:latin typeface="Calibri"/>
                <a:cs typeface="Calibri"/>
              </a:rPr>
              <a:t>)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8993" y="2869080"/>
            <a:ext cx="11347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Formula:</a:t>
            </a:r>
            <a:r>
              <a:rPr sz="8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900" i="1" baseline="-18518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i="1" spc="202" baseline="-18518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Verdana"/>
                <a:cs typeface="Verdana"/>
              </a:rPr>
              <a:t>=</a:t>
            </a:r>
            <a:r>
              <a:rPr sz="800" spc="-30" dirty="0">
                <a:solidFill>
                  <a:srgbClr val="22373A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22373A"/>
                </a:solidFill>
                <a:latin typeface="Verdana"/>
                <a:cs typeface="Verdana"/>
              </a:rPr>
              <a:t>(</a:t>
            </a:r>
            <a:r>
              <a:rPr sz="800" i="1" dirty="0">
                <a:solidFill>
                  <a:srgbClr val="22373A"/>
                </a:solidFill>
                <a:latin typeface="Arial"/>
                <a:cs typeface="Arial"/>
              </a:rPr>
              <a:t>b</a:t>
            </a:r>
            <a:r>
              <a:rPr sz="900" i="1" baseline="-18518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i="1" spc="142" baseline="-18518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215" dirty="0">
                <a:solidFill>
                  <a:srgbClr val="22373A"/>
                </a:solidFill>
                <a:latin typeface="Cambria"/>
                <a:cs typeface="Cambria"/>
              </a:rPr>
              <a:t>−</a:t>
            </a:r>
            <a:r>
              <a:rPr sz="800" spc="25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200" spc="292" baseline="41666" dirty="0">
                <a:solidFill>
                  <a:srgbClr val="22373A"/>
                </a:solidFill>
                <a:latin typeface="Arial"/>
                <a:cs typeface="Arial"/>
              </a:rPr>
              <a:t>L</a:t>
            </a:r>
            <a:r>
              <a:rPr sz="900" i="1" spc="292" baseline="32407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endParaRPr sz="900" baseline="3240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18272" y="2926008"/>
            <a:ext cx="2235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0" dirty="0">
                <a:solidFill>
                  <a:srgbClr val="22373A"/>
                </a:solidFill>
                <a:latin typeface="Arial"/>
                <a:cs typeface="Arial"/>
              </a:rPr>
              <a:t>j</a:t>
            </a:r>
            <a:r>
              <a:rPr sz="600" spc="-20" dirty="0">
                <a:solidFill>
                  <a:srgbClr val="22373A"/>
                </a:solidFill>
                <a:latin typeface="Verdana"/>
                <a:cs typeface="Verdana"/>
              </a:rPr>
              <a:t>=</a:t>
            </a:r>
            <a:r>
              <a:rPr sz="600" i="1" spc="-2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600" spc="-20" dirty="0">
                <a:solidFill>
                  <a:srgbClr val="22373A"/>
                </a:solidFill>
                <a:latin typeface="Verdana"/>
                <a:cs typeface="Verdana"/>
              </a:rPr>
              <a:t>+</a:t>
            </a:r>
            <a:r>
              <a:rPr sz="600" spc="-2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14792" y="2891382"/>
            <a:ext cx="6000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baseline="13888" dirty="0">
                <a:solidFill>
                  <a:srgbClr val="22373A"/>
                </a:solidFill>
                <a:latin typeface="Arial"/>
                <a:cs typeface="Arial"/>
              </a:rPr>
              <a:t>U</a:t>
            </a:r>
            <a:r>
              <a:rPr sz="600" i="1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600" i="1" dirty="0">
                <a:solidFill>
                  <a:srgbClr val="22373A"/>
                </a:solidFill>
                <a:latin typeface="Trebuchet MS"/>
                <a:cs typeface="Trebuchet MS"/>
              </a:rPr>
              <a:t>,</a:t>
            </a:r>
            <a:r>
              <a:rPr sz="600" i="1" dirty="0">
                <a:solidFill>
                  <a:srgbClr val="22373A"/>
                </a:solidFill>
                <a:latin typeface="Arial"/>
                <a:cs typeface="Arial"/>
              </a:rPr>
              <a:t>j</a:t>
            </a:r>
            <a:r>
              <a:rPr sz="600" i="1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200" baseline="13888" dirty="0">
                <a:solidFill>
                  <a:srgbClr val="22373A"/>
                </a:solidFill>
                <a:latin typeface="Cambria"/>
                <a:cs typeface="Cambria"/>
              </a:rPr>
              <a:t>· </a:t>
            </a:r>
            <a:r>
              <a:rPr sz="1200" i="1" spc="-15" baseline="13888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600" i="1" spc="-10" dirty="0">
                <a:solidFill>
                  <a:srgbClr val="22373A"/>
                </a:solidFill>
                <a:latin typeface="Arial"/>
                <a:cs typeface="Arial"/>
              </a:rPr>
              <a:t>j</a:t>
            </a:r>
            <a:r>
              <a:rPr sz="1200" spc="-15" baseline="13888" dirty="0">
                <a:solidFill>
                  <a:srgbClr val="22373A"/>
                </a:solidFill>
                <a:latin typeface="Verdana"/>
                <a:cs typeface="Verdana"/>
              </a:rPr>
              <a:t>)</a:t>
            </a:r>
            <a:r>
              <a:rPr sz="1200" i="1" spc="-15" baseline="13888" dirty="0">
                <a:solidFill>
                  <a:srgbClr val="22373A"/>
                </a:solidFill>
                <a:latin typeface="Verdana"/>
                <a:cs typeface="Verdana"/>
              </a:rPr>
              <a:t>/</a:t>
            </a:r>
            <a:r>
              <a:rPr sz="1200" i="1" spc="-15" baseline="13888" dirty="0">
                <a:solidFill>
                  <a:srgbClr val="22373A"/>
                </a:solidFill>
                <a:latin typeface="Arial"/>
                <a:cs typeface="Arial"/>
              </a:rPr>
              <a:t>U</a:t>
            </a:r>
            <a:r>
              <a:rPr sz="600" i="1" spc="-1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600" i="1" spc="-10" dirty="0">
                <a:solidFill>
                  <a:srgbClr val="22373A"/>
                </a:solidFill>
                <a:latin typeface="Trebuchet MS"/>
                <a:cs typeface="Trebuchet MS"/>
              </a:rPr>
              <a:t>,</a:t>
            </a:r>
            <a:r>
              <a:rPr sz="600" i="1" spc="-1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25062" y="2183541"/>
            <a:ext cx="571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19069" y="2209426"/>
            <a:ext cx="10636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59485" algn="l"/>
              </a:tabLst>
            </a:pPr>
            <a:r>
              <a:rPr sz="9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Test:</a:t>
            </a:r>
            <a:r>
              <a:rPr sz="900" dirty="0">
                <a:solidFill>
                  <a:srgbClr val="22373A"/>
                </a:solidFill>
                <a:latin typeface="Lucida Sans Unicode"/>
                <a:cs typeface="Lucida Sans Unicode"/>
              </a:rPr>
              <a:t>	</a:t>
            </a:r>
            <a:r>
              <a:rPr sz="9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70376" y="2132934"/>
            <a:ext cx="8947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9390" algn="l"/>
                <a:tab pos="415290" algn="l"/>
                <a:tab pos="819785" algn="l"/>
              </a:tabLst>
            </a:pPr>
            <a:r>
              <a:rPr sz="900" spc="-50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900" spc="-50" dirty="0">
                <a:solidFill>
                  <a:srgbClr val="22373A"/>
                </a:solidFill>
                <a:latin typeface="Calibri"/>
                <a:cs typeface="Calibri"/>
              </a:rPr>
              <a:t>3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sz="900" spc="-50" dirty="0">
                <a:solidFill>
                  <a:srgbClr val="22373A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28225" y="2305642"/>
            <a:ext cx="982344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454659" algn="l"/>
                <a:tab pos="842010" algn="l"/>
              </a:tabLst>
            </a:pPr>
            <a:r>
              <a:rPr sz="1350" baseline="6172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1350" spc="457" baseline="6172" dirty="0">
                <a:solidFill>
                  <a:srgbClr val="22373A"/>
                </a:solidFill>
                <a:latin typeface="Calibri"/>
                <a:cs typeface="Calibri"/>
              </a:rPr>
              <a:t>  </a:t>
            </a:r>
            <a:r>
              <a:rPr sz="1350" spc="-75" baseline="6172" dirty="0">
                <a:solidFill>
                  <a:srgbClr val="22373A"/>
                </a:solidFill>
                <a:latin typeface="Calibri"/>
                <a:cs typeface="Calibri"/>
              </a:rPr>
              <a:t>4</a:t>
            </a:r>
            <a:r>
              <a:rPr sz="1350" baseline="6172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350" i="1" spc="-37" baseline="6172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600" spc="-25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350" spc="-37" baseline="6172" dirty="0">
                <a:solidFill>
                  <a:srgbClr val="22373A"/>
                </a:solidFill>
                <a:latin typeface="Calibri"/>
                <a:cs typeface="Calibri"/>
              </a:rPr>
              <a:t>12</a:t>
            </a:r>
            <a:endParaRPr sz="1350" baseline="6172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98063" y="2014951"/>
            <a:ext cx="105537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8930" algn="l"/>
                <a:tab pos="803910" algn="l"/>
              </a:tabLst>
            </a:pPr>
            <a:r>
              <a:rPr sz="900" spc="210" dirty="0">
                <a:solidFill>
                  <a:srgbClr val="22373A"/>
                </a:solidFill>
                <a:latin typeface="Century Gothic"/>
                <a:cs typeface="Century Gothic"/>
              </a:rPr>
              <a:t>"</a:t>
            </a:r>
            <a:r>
              <a:rPr sz="900" dirty="0">
                <a:solidFill>
                  <a:srgbClr val="22373A"/>
                </a:solidFill>
                <a:latin typeface="Century Gothic"/>
                <a:cs typeface="Century Gothic"/>
              </a:rPr>
              <a:t>	</a:t>
            </a:r>
            <a:r>
              <a:rPr sz="900" spc="-25" dirty="0">
                <a:solidFill>
                  <a:srgbClr val="22373A"/>
                </a:solidFill>
                <a:latin typeface="Century Gothic"/>
                <a:cs typeface="Century Gothic"/>
              </a:rPr>
              <a:t>u</a:t>
            </a:r>
            <a:r>
              <a:rPr sz="900" spc="-100" dirty="0">
                <a:solidFill>
                  <a:srgbClr val="22373A"/>
                </a:solidFill>
                <a:latin typeface="Century Gothic"/>
                <a:cs typeface="Century Gothic"/>
              </a:rPr>
              <a:t> </a:t>
            </a:r>
            <a:r>
              <a:rPr sz="900" spc="260" dirty="0">
                <a:solidFill>
                  <a:srgbClr val="22373A"/>
                </a:solidFill>
                <a:latin typeface="Century Gothic"/>
                <a:cs typeface="Century Gothic"/>
              </a:rPr>
              <a:t>"</a:t>
            </a:r>
            <a:r>
              <a:rPr sz="900" spc="125" dirty="0">
                <a:solidFill>
                  <a:srgbClr val="22373A"/>
                </a:solidFill>
                <a:latin typeface="Century Gothic"/>
                <a:cs typeface="Century Gothic"/>
              </a:rPr>
              <a:t>  </a:t>
            </a:r>
            <a:r>
              <a:rPr sz="900" spc="-50" dirty="0">
                <a:solidFill>
                  <a:srgbClr val="22373A"/>
                </a:solidFill>
                <a:latin typeface="Century Gothic"/>
                <a:cs typeface="Century Gothic"/>
              </a:rPr>
              <a:t>u</a:t>
            </a:r>
            <a:r>
              <a:rPr sz="900" dirty="0">
                <a:solidFill>
                  <a:srgbClr val="22373A"/>
                </a:solidFill>
                <a:latin typeface="Century Gothic"/>
                <a:cs typeface="Century Gothic"/>
              </a:rPr>
              <a:t>	</a:t>
            </a:r>
            <a:r>
              <a:rPr sz="900" spc="260" dirty="0">
                <a:solidFill>
                  <a:srgbClr val="22373A"/>
                </a:solidFill>
                <a:latin typeface="Century Gothic"/>
                <a:cs typeface="Century Gothic"/>
              </a:rPr>
              <a:t>"</a:t>
            </a:r>
            <a:r>
              <a:rPr sz="900" spc="150" dirty="0">
                <a:solidFill>
                  <a:srgbClr val="22373A"/>
                </a:solidFill>
                <a:latin typeface="Century Gothic"/>
                <a:cs typeface="Century Gothic"/>
              </a:rPr>
              <a:t>  </a:t>
            </a:r>
            <a:r>
              <a:rPr sz="900" spc="-50" dirty="0">
                <a:solidFill>
                  <a:srgbClr val="22373A"/>
                </a:solidFill>
                <a:latin typeface="Century Gothic"/>
                <a:cs typeface="Century Gothic"/>
              </a:rPr>
              <a:t>u</a:t>
            </a:r>
            <a:endParaRPr sz="9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61894" y="2671528"/>
            <a:ext cx="13627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spc="-60" baseline="6172" dirty="0">
                <a:solidFill>
                  <a:srgbClr val="22373A"/>
                </a:solidFill>
                <a:latin typeface="Lucida Sans Unicode"/>
                <a:cs typeface="Lucida Sans Unicode"/>
              </a:rPr>
              <a:t>Answer</a:t>
            </a:r>
            <a:r>
              <a:rPr sz="1350" spc="-60" baseline="6172" dirty="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sz="1350" spc="172" baseline="6172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350" i="1" baseline="6172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600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350" baseline="6172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350" spc="-52" baseline="6172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350" i="1" baseline="6172" dirty="0">
                <a:solidFill>
                  <a:srgbClr val="22373A"/>
                </a:solidFill>
                <a:latin typeface="Arial"/>
                <a:cs typeface="Arial"/>
              </a:rPr>
              <a:t>−</a:t>
            </a:r>
            <a:r>
              <a:rPr sz="1350" baseline="6172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1350" i="1" baseline="6172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1350" baseline="6172" dirty="0">
                <a:solidFill>
                  <a:srgbClr val="22373A"/>
                </a:solidFill>
                <a:latin typeface="Calibri"/>
                <a:cs typeface="Calibri"/>
              </a:rPr>
              <a:t>5,</a:t>
            </a:r>
            <a:r>
              <a:rPr sz="1350" spc="60" baseline="6172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350" i="1" baseline="6172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600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350" baseline="6172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350" spc="-52" baseline="6172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350" spc="-75" baseline="6172" dirty="0">
                <a:solidFill>
                  <a:srgbClr val="22373A"/>
                </a:solidFill>
                <a:latin typeface="Calibri"/>
                <a:cs typeface="Calibri"/>
              </a:rPr>
              <a:t>3</a:t>
            </a:r>
            <a:endParaRPr sz="1350" baseline="6172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44005" y="3083128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120" dirty="0"/>
              <a:t> </a:t>
            </a:r>
            <a:r>
              <a:rPr dirty="0"/>
              <a:t>system</a:t>
            </a:r>
            <a:r>
              <a:rPr spc="120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Exercise</a:t>
            </a:r>
            <a:r>
              <a:rPr spc="-45" dirty="0"/>
              <a:t> </a:t>
            </a:r>
            <a:r>
              <a:rPr spc="-135" dirty="0"/>
              <a:t>2:</a:t>
            </a:r>
            <a:r>
              <a:rPr spc="70" dirty="0"/>
              <a:t> </a:t>
            </a:r>
            <a:r>
              <a:rPr spc="-70" dirty="0"/>
              <a:t>Gauss</a:t>
            </a:r>
            <a:r>
              <a:rPr spc="-45" dirty="0"/>
              <a:t> </a:t>
            </a:r>
            <a:r>
              <a:rPr spc="-30" dirty="0"/>
              <a:t>Elimination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857718"/>
            <a:ext cx="4723765" cy="18110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006EB8"/>
                </a:solidFill>
                <a:latin typeface="Calibri"/>
                <a:cs typeface="Calibri"/>
              </a:rPr>
              <a:t>Transform</a:t>
            </a:r>
            <a:r>
              <a:rPr sz="1100" spc="21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6EB8"/>
                </a:solidFill>
                <a:latin typeface="Calibri"/>
                <a:cs typeface="Calibri"/>
              </a:rPr>
              <a:t>matrix</a:t>
            </a:r>
            <a:r>
              <a:rPr sz="1100" spc="21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-150" dirty="0">
                <a:solidFill>
                  <a:srgbClr val="006EB8"/>
                </a:solidFill>
                <a:latin typeface="Lucida Sans Unicode"/>
                <a:cs typeface="Lucida Sans Unicode"/>
              </a:rPr>
              <a:t>A</a:t>
            </a:r>
            <a:r>
              <a:rPr sz="1100" spc="120" dirty="0">
                <a:solidFill>
                  <a:srgbClr val="006EB8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006EB8"/>
                </a:solidFill>
                <a:latin typeface="Calibri"/>
                <a:cs typeface="Calibri"/>
              </a:rPr>
              <a:t>into</a:t>
            </a:r>
            <a:r>
              <a:rPr sz="1100" spc="21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6EB8"/>
                </a:solidFill>
                <a:latin typeface="Calibri"/>
                <a:cs typeface="Calibri"/>
              </a:rPr>
              <a:t>upper</a:t>
            </a:r>
            <a:r>
              <a:rPr sz="1100" spc="22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6EB8"/>
                </a:solidFill>
                <a:latin typeface="Calibri"/>
                <a:cs typeface="Calibri"/>
              </a:rPr>
              <a:t>triangular</a:t>
            </a:r>
            <a:r>
              <a:rPr sz="1100" spc="21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6EB8"/>
                </a:solidFill>
                <a:latin typeface="Calibri"/>
                <a:cs typeface="Calibri"/>
              </a:rPr>
              <a:t>form</a:t>
            </a:r>
            <a:r>
              <a:rPr sz="1100" spc="22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006EB8"/>
                </a:solidFill>
                <a:latin typeface="Calibri"/>
                <a:cs typeface="Calibri"/>
              </a:rPr>
              <a:t>using</a:t>
            </a:r>
            <a:r>
              <a:rPr sz="1100" spc="21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6EB8"/>
                </a:solidFill>
                <a:latin typeface="Calibri"/>
                <a:cs typeface="Calibri"/>
              </a:rPr>
              <a:t>Gauss</a:t>
            </a:r>
            <a:r>
              <a:rPr sz="1100" spc="22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6EB8"/>
                </a:solidFill>
                <a:latin typeface="Calibri"/>
                <a:cs typeface="Calibri"/>
              </a:rPr>
              <a:t>elimination.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Function</a:t>
            </a:r>
            <a:r>
              <a:rPr sz="11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signature:</a:t>
            </a:r>
            <a:endParaRPr sz="1100">
              <a:latin typeface="Lucida Sans Unicode"/>
              <a:cs typeface="Lucida Sans Unicode"/>
            </a:endParaRPr>
          </a:p>
          <a:p>
            <a:pPr marL="289560">
              <a:lnSpc>
                <a:spcPct val="100000"/>
              </a:lnSpc>
              <a:spcBef>
                <a:spcPts val="1085"/>
              </a:spcBef>
            </a:pPr>
            <a:r>
              <a:rPr sz="11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Function:</a:t>
            </a:r>
            <a:r>
              <a:rPr sz="1100" spc="16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[U,</a:t>
            </a:r>
            <a:r>
              <a:rPr sz="11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b_new]</a:t>
            </a:r>
            <a:r>
              <a:rPr sz="11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=</a:t>
            </a:r>
            <a:r>
              <a:rPr sz="11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gauss_eliminate(A,</a:t>
            </a:r>
            <a:r>
              <a:rPr sz="11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b)</a:t>
            </a:r>
            <a:endParaRPr sz="11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535"/>
              </a:spcBef>
            </a:pPr>
            <a:r>
              <a:rPr sz="11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Input:</a:t>
            </a:r>
            <a:r>
              <a:rPr sz="1100" spc="10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1100" i="1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×</a:t>
            </a:r>
            <a:r>
              <a:rPr sz="1100" spc="-7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1100" i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matrix</a:t>
            </a:r>
            <a:r>
              <a:rPr sz="1100" spc="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A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sz="11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vector</a:t>
            </a:r>
            <a:r>
              <a:rPr sz="1100" spc="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Courier New"/>
                <a:cs typeface="Courier New"/>
              </a:rPr>
              <a:t>b</a:t>
            </a:r>
            <a:r>
              <a:rPr sz="1100" spc="-32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size</a:t>
            </a:r>
            <a:r>
              <a:rPr sz="11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1100" i="1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×</a:t>
            </a:r>
            <a:r>
              <a:rPr sz="1100" spc="-7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540"/>
              </a:spcBef>
            </a:pP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Output:</a:t>
            </a:r>
            <a:r>
              <a:rPr sz="1100" spc="229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Upper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triangular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matrix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U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modified</a:t>
            </a:r>
            <a:r>
              <a:rPr sz="11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vector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ourier New"/>
                <a:cs typeface="Courier New"/>
              </a:rPr>
              <a:t>b_new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ct val="118000"/>
              </a:lnSpc>
              <a:spcBef>
                <a:spcPts val="844"/>
              </a:spcBef>
            </a:pPr>
            <a:r>
              <a:rPr sz="1100" i="1" spc="-10" dirty="0">
                <a:solidFill>
                  <a:srgbClr val="EB801A"/>
                </a:solidFill>
                <a:latin typeface="Arial"/>
                <a:cs typeface="Arial"/>
              </a:rPr>
              <a:t>Note:</a:t>
            </a:r>
            <a:r>
              <a:rPr sz="1100" i="1" spc="105" dirty="0">
                <a:solidFill>
                  <a:srgbClr val="EB801A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 version</a:t>
            </a:r>
            <a:r>
              <a:rPr sz="11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sz="11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11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include pivoting.</a:t>
            </a:r>
            <a:r>
              <a:rPr sz="1100" i="1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22373A"/>
                </a:solidFill>
                <a:latin typeface="Arial"/>
                <a:cs typeface="Arial"/>
              </a:rPr>
              <a:t>Assumes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 all</a:t>
            </a:r>
            <a:r>
              <a:rPr sz="11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pivot</a:t>
            </a:r>
            <a:r>
              <a:rPr sz="11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22373A"/>
                </a:solidFill>
                <a:latin typeface="Arial"/>
                <a:cs typeface="Arial"/>
              </a:rPr>
              <a:t>elements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non-</a:t>
            </a:r>
            <a:r>
              <a:rPr sz="1100" i="1" spc="-10" dirty="0">
                <a:solidFill>
                  <a:srgbClr val="22373A"/>
                </a:solidFill>
                <a:latin typeface="Arial"/>
                <a:cs typeface="Arial"/>
              </a:rPr>
              <a:t>zero.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4005" y="3083128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120" dirty="0"/>
              <a:t> </a:t>
            </a:r>
            <a:r>
              <a:rPr dirty="0"/>
              <a:t>system</a:t>
            </a:r>
            <a:r>
              <a:rPr spc="120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Exercise</a:t>
            </a:r>
            <a:r>
              <a:rPr spc="-50" dirty="0"/>
              <a:t> </a:t>
            </a:r>
            <a:r>
              <a:rPr spc="-135" dirty="0"/>
              <a:t>3:</a:t>
            </a:r>
            <a:r>
              <a:rPr spc="60" dirty="0"/>
              <a:t> </a:t>
            </a:r>
            <a:r>
              <a:rPr spc="-60" dirty="0"/>
              <a:t>Complete</a:t>
            </a:r>
            <a:r>
              <a:rPr spc="-50" dirty="0"/>
              <a:t> </a:t>
            </a:r>
            <a:r>
              <a:rPr spc="-35" dirty="0"/>
              <a:t>Linear</a:t>
            </a:r>
            <a:r>
              <a:rPr spc="-45" dirty="0"/>
              <a:t> </a:t>
            </a:r>
            <a:r>
              <a:rPr spc="-10" dirty="0"/>
              <a:t>Solver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56551"/>
            <a:ext cx="4601845" cy="9842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0" dirty="0">
                <a:solidFill>
                  <a:srgbClr val="006EB8"/>
                </a:solidFill>
                <a:latin typeface="Calibri"/>
                <a:cs typeface="Calibri"/>
              </a:rPr>
              <a:t>Combine</a:t>
            </a:r>
            <a:r>
              <a:rPr sz="1100" spc="17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006EB8"/>
                </a:solidFill>
                <a:latin typeface="Calibri"/>
                <a:cs typeface="Calibri"/>
              </a:rPr>
              <a:t>your</a:t>
            </a:r>
            <a:r>
              <a:rPr sz="1100" spc="18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006EB8"/>
                </a:solidFill>
                <a:latin typeface="Calibri"/>
                <a:cs typeface="Calibri"/>
              </a:rPr>
              <a:t>functions</a:t>
            </a:r>
            <a:r>
              <a:rPr sz="1100" spc="17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006EB8"/>
                </a:solidFill>
                <a:latin typeface="Calibri"/>
                <a:cs typeface="Calibri"/>
              </a:rPr>
              <a:t>into</a:t>
            </a:r>
            <a:r>
              <a:rPr sz="1100" spc="18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006EB8"/>
                </a:solidFill>
                <a:latin typeface="Calibri"/>
                <a:cs typeface="Calibri"/>
              </a:rPr>
              <a:t>a</a:t>
            </a:r>
            <a:r>
              <a:rPr sz="1100" spc="17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006EB8"/>
                </a:solidFill>
                <a:latin typeface="Calibri"/>
                <a:cs typeface="Calibri"/>
              </a:rPr>
              <a:t>complete</a:t>
            </a:r>
            <a:r>
              <a:rPr sz="1100" spc="18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006EB8"/>
                </a:solidFill>
                <a:latin typeface="Calibri"/>
                <a:cs typeface="Calibri"/>
              </a:rPr>
              <a:t>solver</a:t>
            </a:r>
            <a:r>
              <a:rPr sz="1100" spc="18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006EB8"/>
                </a:solidFill>
                <a:latin typeface="Calibri"/>
                <a:cs typeface="Calibri"/>
              </a:rPr>
              <a:t>and</a:t>
            </a:r>
            <a:r>
              <a:rPr sz="1100" spc="17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006EB8"/>
                </a:solidFill>
                <a:latin typeface="Calibri"/>
                <a:cs typeface="Calibri"/>
              </a:rPr>
              <a:t>compare</a:t>
            </a:r>
            <a:r>
              <a:rPr sz="1100" spc="18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006EB8"/>
                </a:solidFill>
                <a:latin typeface="Calibri"/>
                <a:cs typeface="Calibri"/>
              </a:rPr>
              <a:t>with</a:t>
            </a:r>
            <a:r>
              <a:rPr sz="1100" spc="17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6EB8"/>
                </a:solidFill>
                <a:latin typeface="Calibri"/>
                <a:cs typeface="Calibri"/>
              </a:rPr>
              <a:t>MATLAB.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Function</a:t>
            </a:r>
            <a:r>
              <a:rPr sz="11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signature:</a:t>
            </a:r>
            <a:endParaRPr sz="1100">
              <a:latin typeface="Lucida Sans Unicode"/>
              <a:cs typeface="Lucida Sans Unicode"/>
            </a:endParaRPr>
          </a:p>
          <a:p>
            <a:pPr marL="288925" indent="-108585">
              <a:lnSpc>
                <a:spcPct val="100000"/>
              </a:lnSpc>
              <a:spcBef>
                <a:spcPts val="830"/>
              </a:spcBef>
              <a:buFont typeface="Calibri"/>
              <a:buChar char="•"/>
              <a:tabLst>
                <a:tab pos="288925" algn="l"/>
              </a:tabLst>
            </a:pPr>
            <a:r>
              <a:rPr sz="11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Function:</a:t>
            </a:r>
            <a:r>
              <a:rPr sz="1100" spc="2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x</a:t>
            </a:r>
            <a:r>
              <a:rPr sz="1100" spc="-6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1100" spc="-6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ourier New"/>
                <a:cs typeface="Courier New"/>
              </a:rPr>
              <a:t>my_linear_solver(A,</a:t>
            </a:r>
            <a:r>
              <a:rPr sz="1100" spc="-5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b)</a:t>
            </a:r>
            <a:endParaRPr sz="1100">
              <a:latin typeface="Courier New"/>
              <a:cs typeface="Courier New"/>
            </a:endParaRPr>
          </a:p>
          <a:p>
            <a:pPr marL="288925" indent="-108585">
              <a:lnSpc>
                <a:spcPct val="100000"/>
              </a:lnSpc>
              <a:spcBef>
                <a:spcPts val="240"/>
              </a:spcBef>
              <a:buFont typeface="Calibri"/>
              <a:buChar char="•"/>
              <a:tabLst>
                <a:tab pos="288925" algn="l"/>
              </a:tabLst>
            </a:pP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Should</a:t>
            </a:r>
            <a:r>
              <a:rPr sz="11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call:</a:t>
            </a:r>
            <a:r>
              <a:rPr sz="1100" spc="10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Courier New"/>
                <a:cs typeface="Courier New"/>
              </a:rPr>
              <a:t>gauss_eliminate</a:t>
            </a:r>
            <a:r>
              <a:rPr sz="1100" spc="-33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then</a:t>
            </a:r>
            <a:r>
              <a:rPr sz="1100" spc="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ourier New"/>
                <a:cs typeface="Courier New"/>
              </a:rPr>
              <a:t>solve_upper_triangular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1576551"/>
            <a:ext cx="8515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22373A"/>
                </a:solidFill>
                <a:latin typeface="Lucida Sans Unicode"/>
                <a:cs typeface="Lucida Sans Unicode"/>
              </a:rPr>
              <a:t>Test</a:t>
            </a:r>
            <a:r>
              <a:rPr sz="1100" spc="-6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55" dirty="0">
                <a:solidFill>
                  <a:srgbClr val="22373A"/>
                </a:solidFill>
                <a:latin typeface="Lucida Sans Unicode"/>
                <a:cs typeface="Lucida Sans Unicode"/>
              </a:rPr>
              <a:t>systems: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2317" y="2030556"/>
            <a:ext cx="109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85" dirty="0">
                <a:solidFill>
                  <a:srgbClr val="22373A"/>
                </a:solidFill>
                <a:latin typeface="Arial"/>
                <a:cs typeface="Arial"/>
              </a:rPr>
              <a:t>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6917" y="1656033"/>
            <a:ext cx="2216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65" dirty="0">
                <a:solidFill>
                  <a:srgbClr val="22373A"/>
                </a:solidFill>
                <a:latin typeface="Arial"/>
                <a:cs typeface="Arial"/>
              </a:rPr>
              <a:t></a:t>
            </a:r>
            <a:r>
              <a:rPr sz="1500" spc="-97" baseline="-47222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1500" baseline="-47222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7271" y="1765609"/>
            <a:ext cx="3683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3835" algn="l"/>
              </a:tabLst>
            </a:pP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0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1000" spc="-4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5332" y="1940208"/>
            <a:ext cx="51498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0025" algn="l"/>
                <a:tab pos="440690" algn="l"/>
              </a:tabLst>
            </a:pP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2317" y="2114821"/>
            <a:ext cx="9385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1625" algn="l"/>
                <a:tab pos="529590" algn="l"/>
                <a:tab pos="765810" algn="l"/>
              </a:tabLst>
            </a:pPr>
            <a:r>
              <a:rPr sz="1500" spc="-37" baseline="2777" dirty="0">
                <a:solidFill>
                  <a:srgbClr val="22373A"/>
                </a:solidFill>
                <a:latin typeface="Arial"/>
                <a:cs typeface="Arial"/>
              </a:rPr>
              <a:t>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0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9782" y="1656033"/>
            <a:ext cx="9232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654685" algn="l"/>
              </a:tabLst>
            </a:pPr>
            <a:r>
              <a:rPr sz="1500" baseline="-47222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1500" spc="179" baseline="-47222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20" dirty="0">
                <a:solidFill>
                  <a:srgbClr val="22373A"/>
                </a:solidFill>
                <a:latin typeface="Arial"/>
                <a:cs typeface="Arial"/>
              </a:rPr>
              <a:t></a:t>
            </a:r>
            <a:r>
              <a:rPr sz="1000" spc="-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</a:t>
            </a:r>
            <a:r>
              <a:rPr sz="1500" i="1" spc="-37" baseline="-47222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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sz="1000" spc="-155" dirty="0">
                <a:solidFill>
                  <a:srgbClr val="22373A"/>
                </a:solidFill>
                <a:latin typeface="Arial"/>
                <a:cs typeface="Arial"/>
              </a:rPr>
              <a:t></a:t>
            </a:r>
            <a:r>
              <a:rPr sz="1500" spc="-232" baseline="-47222" dirty="0">
                <a:solidFill>
                  <a:srgbClr val="22373A"/>
                </a:solidFill>
                <a:latin typeface="Calibri"/>
                <a:cs typeface="Calibri"/>
              </a:rPr>
              <a:t>3</a:t>
            </a:r>
            <a:r>
              <a:rPr sz="1000" spc="-155" dirty="0">
                <a:solidFill>
                  <a:srgbClr val="22373A"/>
                </a:solidFill>
                <a:latin typeface="Arial"/>
                <a:cs typeface="Arial"/>
              </a:rPr>
              <a:t>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44042" y="1954636"/>
            <a:ext cx="9194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00" baseline="5555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500" spc="142" baseline="55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20" dirty="0">
                <a:solidFill>
                  <a:srgbClr val="22373A"/>
                </a:solidFill>
                <a:latin typeface="Arial"/>
                <a:cs typeface="Arial"/>
              </a:rPr>
              <a:t></a:t>
            </a:r>
            <a:r>
              <a:rPr sz="1000" spc="-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85" dirty="0">
                <a:solidFill>
                  <a:srgbClr val="22373A"/>
                </a:solidFill>
                <a:latin typeface="Arial"/>
                <a:cs typeface="Arial"/>
              </a:rPr>
              <a:t></a:t>
            </a:r>
            <a:r>
              <a:rPr sz="1500" i="1" spc="-127" baseline="5555" dirty="0">
                <a:solidFill>
                  <a:srgbClr val="22373A"/>
                </a:solidFill>
                <a:latin typeface="Arial"/>
                <a:cs typeface="Arial"/>
              </a:rPr>
              <a:t>y</a:t>
            </a:r>
            <a:r>
              <a:rPr sz="1000" spc="-85" dirty="0">
                <a:solidFill>
                  <a:srgbClr val="22373A"/>
                </a:solidFill>
                <a:latin typeface="Arial"/>
                <a:cs typeface="Arial"/>
              </a:rPr>
              <a:t>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500" baseline="-30555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500" spc="-97" baseline="-3055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400" dirty="0">
                <a:solidFill>
                  <a:srgbClr val="22373A"/>
                </a:solidFill>
                <a:latin typeface="Arial"/>
                <a:cs typeface="Arial"/>
              </a:rPr>
              <a:t></a:t>
            </a:r>
            <a:r>
              <a:rPr sz="1500" spc="-600" baseline="5555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000" spc="-400" dirty="0">
                <a:solidFill>
                  <a:srgbClr val="22373A"/>
                </a:solidFill>
                <a:latin typeface="Arial"/>
                <a:cs typeface="Arial"/>
              </a:rPr>
              <a:t>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75104" y="2030556"/>
            <a:ext cx="7499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9430" algn="l"/>
              </a:tabLst>
            </a:pPr>
            <a:r>
              <a:rPr sz="1000" spc="-120" dirty="0">
                <a:solidFill>
                  <a:srgbClr val="22373A"/>
                </a:solidFill>
                <a:latin typeface="Arial"/>
                <a:cs typeface="Arial"/>
              </a:rPr>
              <a:t></a:t>
            </a:r>
            <a:r>
              <a:rPr sz="1000" spc="-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</a:t>
            </a:r>
            <a:r>
              <a:rPr sz="10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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	</a:t>
            </a:r>
            <a:r>
              <a:rPr sz="10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835" dirty="0">
                <a:solidFill>
                  <a:srgbClr val="22373A"/>
                </a:solidFill>
                <a:latin typeface="Arial"/>
                <a:cs typeface="Arial"/>
              </a:rPr>
              <a:t>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75104" y="2114821"/>
            <a:ext cx="7626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9430" algn="l"/>
              </a:tabLst>
            </a:pPr>
            <a:r>
              <a:rPr sz="1500" spc="-179" baseline="2777" dirty="0">
                <a:solidFill>
                  <a:srgbClr val="22373A"/>
                </a:solidFill>
                <a:latin typeface="Arial"/>
                <a:cs typeface="Arial"/>
              </a:rPr>
              <a:t></a:t>
            </a:r>
            <a:r>
              <a:rPr sz="1500" spc="-172" baseline="2777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500" spc="-37" baseline="2777" dirty="0">
                <a:solidFill>
                  <a:srgbClr val="22373A"/>
                </a:solidFill>
                <a:latin typeface="Arial"/>
                <a:cs typeface="Arial"/>
              </a:rPr>
              <a:t></a:t>
            </a:r>
            <a:r>
              <a:rPr sz="1000" i="1" spc="-25" dirty="0">
                <a:solidFill>
                  <a:srgbClr val="22373A"/>
                </a:solidFill>
                <a:latin typeface="Arial"/>
                <a:cs typeface="Arial"/>
              </a:rPr>
              <a:t>z</a:t>
            </a:r>
            <a:r>
              <a:rPr sz="1500" spc="-37" baseline="2777" dirty="0">
                <a:solidFill>
                  <a:srgbClr val="22373A"/>
                </a:solidFill>
                <a:latin typeface="Arial"/>
                <a:cs typeface="Arial"/>
              </a:rPr>
              <a:t></a:t>
            </a:r>
            <a:r>
              <a:rPr sz="1500" baseline="2777" dirty="0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sz="1500" spc="-337" baseline="2777" dirty="0">
                <a:solidFill>
                  <a:srgbClr val="22373A"/>
                </a:solidFill>
                <a:latin typeface="Arial"/>
                <a:cs typeface="Arial"/>
              </a:rPr>
              <a:t></a:t>
            </a:r>
            <a:r>
              <a:rPr sz="1000" spc="-225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500" spc="-337" baseline="2777" dirty="0">
                <a:solidFill>
                  <a:srgbClr val="22373A"/>
                </a:solidFill>
                <a:latin typeface="Arial"/>
                <a:cs typeface="Arial"/>
              </a:rPr>
              <a:t></a:t>
            </a:r>
            <a:endParaRPr sz="1500" baseline="2777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78936" y="2030556"/>
            <a:ext cx="971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835" dirty="0">
                <a:solidFill>
                  <a:srgbClr val="22373A"/>
                </a:solidFill>
                <a:latin typeface="Arial"/>
                <a:cs typeface="Arial"/>
              </a:rPr>
              <a:t>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53536" y="1656033"/>
            <a:ext cx="2133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100" dirty="0">
                <a:solidFill>
                  <a:srgbClr val="22373A"/>
                </a:solidFill>
                <a:latin typeface="Arial"/>
                <a:cs typeface="Arial"/>
              </a:rPr>
              <a:t></a:t>
            </a:r>
            <a:r>
              <a:rPr sz="1500" spc="-150" baseline="-47222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1500" baseline="-47222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6671" y="2289420"/>
            <a:ext cx="27946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4695" algn="l"/>
                <a:tab pos="1040130" algn="l"/>
                <a:tab pos="1432560" algn="l"/>
                <a:tab pos="2729230" algn="l"/>
              </a:tabLst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1000" spc="285" dirty="0">
                <a:solidFill>
                  <a:srgbClr val="22373A"/>
                </a:solidFill>
                <a:latin typeface="Calibri"/>
                <a:cs typeface="Calibri"/>
              </a:rPr>
              <a:t> 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1000" spc="285" dirty="0">
                <a:solidFill>
                  <a:srgbClr val="22373A"/>
                </a:solidFill>
                <a:latin typeface="Calibri"/>
                <a:cs typeface="Calibri"/>
              </a:rPr>
              <a:t>  </a:t>
            </a:r>
            <a:r>
              <a:rPr sz="10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000" i="1" spc="10" dirty="0">
                <a:solidFill>
                  <a:srgbClr val="22373A"/>
                </a:solidFill>
                <a:latin typeface="Arial"/>
                <a:cs typeface="Arial"/>
              </a:rPr>
              <a:t>t</a:t>
            </a:r>
            <a:r>
              <a:rPr sz="1000" i="1" dirty="0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92535" y="2289420"/>
            <a:ext cx="138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12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94581" y="1656033"/>
            <a:ext cx="10718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699770" algn="l"/>
              </a:tabLst>
            </a:pPr>
            <a:r>
              <a:rPr sz="1500" spc="-120" baseline="-47222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1500" spc="-120" baseline="-47222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000" spc="-80" dirty="0">
                <a:solidFill>
                  <a:srgbClr val="22373A"/>
                </a:solidFill>
                <a:latin typeface="Arial"/>
                <a:cs typeface="Arial"/>
              </a:rPr>
              <a:t></a:t>
            </a:r>
            <a:r>
              <a:rPr sz="1000" spc="-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</a:t>
            </a:r>
            <a:r>
              <a:rPr sz="1500" i="1" spc="-37" baseline="-47222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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	</a:t>
            </a:r>
            <a:r>
              <a:rPr sz="10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500" baseline="-47222" dirty="0">
                <a:solidFill>
                  <a:srgbClr val="22373A"/>
                </a:solidFill>
                <a:latin typeface="Calibri"/>
                <a:cs typeface="Calibri"/>
              </a:rPr>
              <a:t>6</a:t>
            </a:r>
            <a:r>
              <a:rPr sz="1500" spc="157" baseline="-47222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355" dirty="0">
                <a:solidFill>
                  <a:srgbClr val="22373A"/>
                </a:solidFill>
                <a:latin typeface="Arial"/>
                <a:cs typeface="Arial"/>
              </a:rPr>
              <a:t>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15436" y="1742840"/>
            <a:ext cx="1901825" cy="72390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350520">
              <a:lnSpc>
                <a:spcPct val="100000"/>
              </a:lnSpc>
              <a:spcBef>
                <a:spcPts val="275"/>
              </a:spcBef>
              <a:tabLst>
                <a:tab pos="615950" algn="l"/>
              </a:tabLst>
            </a:pP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45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endParaRPr sz="1000">
              <a:latin typeface="Calibri"/>
              <a:cs typeface="Calibri"/>
            </a:endParaRPr>
          </a:p>
          <a:p>
            <a:pPr marL="76200">
              <a:lnSpc>
                <a:spcPct val="100000"/>
              </a:lnSpc>
              <a:spcBef>
                <a:spcPts val="175"/>
              </a:spcBef>
              <a:tabLst>
                <a:tab pos="379730" algn="l"/>
                <a:tab pos="615950" algn="l"/>
              </a:tabLst>
            </a:pPr>
            <a:r>
              <a:rPr sz="1500" spc="-37" baseline="-5555" dirty="0">
                <a:solidFill>
                  <a:srgbClr val="22373A"/>
                </a:solidFill>
                <a:latin typeface="Arial"/>
                <a:cs typeface="Arial"/>
              </a:rPr>
              <a:t>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	0</a:t>
            </a:r>
            <a:r>
              <a:rPr sz="1000" spc="280" dirty="0">
                <a:solidFill>
                  <a:srgbClr val="22373A"/>
                </a:solidFill>
                <a:latin typeface="Calibri"/>
                <a:cs typeface="Calibri"/>
              </a:rPr>
              <a:t>  </a:t>
            </a:r>
            <a:r>
              <a:rPr sz="1000" spc="-70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1000" spc="-70" dirty="0">
                <a:solidFill>
                  <a:srgbClr val="22373A"/>
                </a:solidFill>
                <a:latin typeface="Calibri"/>
                <a:cs typeface="Calibri"/>
              </a:rPr>
              <a:t>3</a:t>
            </a:r>
            <a:r>
              <a:rPr sz="1500" spc="-104" baseline="-5555" dirty="0">
                <a:solidFill>
                  <a:srgbClr val="22373A"/>
                </a:solidFill>
                <a:latin typeface="Arial"/>
                <a:cs typeface="Arial"/>
              </a:rPr>
              <a:t></a:t>
            </a:r>
            <a:r>
              <a:rPr sz="1500" spc="-165" baseline="-55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500" spc="-127" baseline="-5555" dirty="0">
                <a:solidFill>
                  <a:srgbClr val="22373A"/>
                </a:solidFill>
                <a:latin typeface="Arial"/>
                <a:cs typeface="Arial"/>
              </a:rPr>
              <a:t></a:t>
            </a:r>
            <a:r>
              <a:rPr sz="1000" i="1" spc="-85" dirty="0">
                <a:solidFill>
                  <a:srgbClr val="22373A"/>
                </a:solidFill>
                <a:latin typeface="Arial"/>
                <a:cs typeface="Arial"/>
              </a:rPr>
              <a:t>y</a:t>
            </a:r>
            <a:r>
              <a:rPr sz="1500" spc="-127" baseline="-5555" dirty="0">
                <a:solidFill>
                  <a:srgbClr val="22373A"/>
                </a:solidFill>
                <a:latin typeface="Arial"/>
                <a:cs typeface="Arial"/>
              </a:rPr>
              <a:t></a:t>
            </a:r>
            <a:r>
              <a:rPr sz="1500" spc="7" baseline="-55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500" baseline="-36111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500" spc="-52" baseline="-36111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500" spc="-179" baseline="-5555" dirty="0">
                <a:solidFill>
                  <a:srgbClr val="22373A"/>
                </a:solidFill>
                <a:latin typeface="Arial"/>
                <a:cs typeface="Arial"/>
              </a:rPr>
              <a:t></a:t>
            </a:r>
            <a:r>
              <a:rPr sz="1500" spc="-104" baseline="-55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80" dirty="0">
                <a:solidFill>
                  <a:srgbClr val="22373A"/>
                </a:solidFill>
                <a:latin typeface="Calibri"/>
                <a:cs typeface="Calibri"/>
              </a:rPr>
              <a:t>12</a:t>
            </a:r>
            <a:r>
              <a:rPr sz="10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500" spc="-869" baseline="-5555" dirty="0">
                <a:solidFill>
                  <a:srgbClr val="22373A"/>
                </a:solidFill>
                <a:latin typeface="Arial"/>
                <a:cs typeface="Arial"/>
              </a:rPr>
              <a:t></a:t>
            </a:r>
            <a:endParaRPr sz="1500" baseline="-5555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  <a:spcBef>
                <a:spcPts val="175"/>
              </a:spcBef>
              <a:tabLst>
                <a:tab pos="387985" algn="l"/>
                <a:tab pos="624840" algn="l"/>
              </a:tabLst>
            </a:pPr>
            <a:r>
              <a:rPr sz="1500" spc="-37" baseline="2777" dirty="0">
                <a:solidFill>
                  <a:srgbClr val="22373A"/>
                </a:solidFill>
                <a:latin typeface="Arial"/>
                <a:cs typeface="Arial"/>
              </a:rPr>
              <a:t>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  <a:p>
            <a:pPr marL="339090">
              <a:lnSpc>
                <a:spcPct val="100000"/>
              </a:lnSpc>
              <a:spcBef>
                <a:spcPts val="175"/>
              </a:spcBef>
              <a:tabLst>
                <a:tab pos="624840" algn="l"/>
                <a:tab pos="866140" algn="l"/>
                <a:tab pos="1171575" algn="l"/>
              </a:tabLst>
            </a:pPr>
            <a:r>
              <a:rPr sz="10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0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sz="1000" i="1" spc="10" dirty="0">
                <a:solidFill>
                  <a:srgbClr val="22373A"/>
                </a:solidFill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75264" y="2030556"/>
            <a:ext cx="8534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9430" algn="l"/>
                <a:tab pos="768350" algn="l"/>
              </a:tabLst>
            </a:pPr>
            <a:r>
              <a:rPr sz="1000" spc="-120" dirty="0">
                <a:solidFill>
                  <a:srgbClr val="22373A"/>
                </a:solidFill>
                <a:latin typeface="Arial"/>
                <a:cs typeface="Arial"/>
              </a:rPr>
              <a:t></a:t>
            </a:r>
            <a:r>
              <a:rPr sz="1000" spc="-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</a:t>
            </a:r>
            <a:r>
              <a:rPr sz="10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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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sz="1000" spc="-835" dirty="0">
                <a:solidFill>
                  <a:srgbClr val="22373A"/>
                </a:solidFill>
                <a:latin typeface="Arial"/>
                <a:cs typeface="Arial"/>
              </a:rPr>
              <a:t>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60445" y="2114821"/>
            <a:ext cx="9810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34365" algn="l"/>
              </a:tabLst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500" spc="-179" baseline="2777" dirty="0">
                <a:solidFill>
                  <a:srgbClr val="22373A"/>
                </a:solidFill>
                <a:latin typeface="Arial"/>
                <a:cs typeface="Arial"/>
              </a:rPr>
              <a:t></a:t>
            </a:r>
            <a:r>
              <a:rPr sz="1500" spc="-157" baseline="2777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500" spc="-37" baseline="2777" dirty="0">
                <a:solidFill>
                  <a:srgbClr val="22373A"/>
                </a:solidFill>
                <a:latin typeface="Arial"/>
                <a:cs typeface="Arial"/>
              </a:rPr>
              <a:t></a:t>
            </a:r>
            <a:r>
              <a:rPr sz="1000" i="1" spc="-25" dirty="0">
                <a:solidFill>
                  <a:srgbClr val="22373A"/>
                </a:solidFill>
                <a:latin typeface="Arial"/>
                <a:cs typeface="Arial"/>
              </a:rPr>
              <a:t>z</a:t>
            </a:r>
            <a:r>
              <a:rPr sz="1500" spc="-37" baseline="2777" dirty="0">
                <a:solidFill>
                  <a:srgbClr val="22373A"/>
                </a:solidFill>
                <a:latin typeface="Arial"/>
                <a:cs typeface="Arial"/>
              </a:rPr>
              <a:t></a:t>
            </a:r>
            <a:r>
              <a:rPr sz="1500" baseline="2777" dirty="0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sz="1500" spc="-247" baseline="2777" dirty="0">
                <a:solidFill>
                  <a:srgbClr val="22373A"/>
                </a:solidFill>
                <a:latin typeface="Arial"/>
                <a:cs typeface="Arial"/>
              </a:rPr>
              <a:t></a:t>
            </a:r>
            <a:r>
              <a:rPr sz="1000" spc="-165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1000" spc="-165" dirty="0">
                <a:solidFill>
                  <a:srgbClr val="22373A"/>
                </a:solidFill>
                <a:latin typeface="Calibri"/>
                <a:cs typeface="Calibri"/>
              </a:rPr>
              <a:t>6</a:t>
            </a:r>
            <a:r>
              <a:rPr sz="1500" spc="-247" baseline="2777" dirty="0">
                <a:solidFill>
                  <a:srgbClr val="22373A"/>
                </a:solidFill>
                <a:latin typeface="Arial"/>
                <a:cs typeface="Arial"/>
              </a:rPr>
              <a:t></a:t>
            </a:r>
            <a:endParaRPr sz="1500" baseline="2777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7294" y="2576415"/>
            <a:ext cx="4130040" cy="475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Verification:</a:t>
            </a:r>
            <a:r>
              <a:rPr sz="1000" spc="19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Compare</a:t>
            </a:r>
            <a:r>
              <a:rPr sz="10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your</a:t>
            </a:r>
            <a:r>
              <a:rPr sz="10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results</a:t>
            </a:r>
            <a:r>
              <a:rPr sz="10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with</a:t>
            </a:r>
            <a:r>
              <a:rPr sz="10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MATLAB’s</a:t>
            </a:r>
            <a:r>
              <a:rPr sz="10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built-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in: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000" dirty="0">
                <a:solidFill>
                  <a:srgbClr val="22373A"/>
                </a:solidFill>
                <a:latin typeface="Courier New"/>
                <a:cs typeface="Courier New"/>
              </a:rPr>
              <a:t>x_matlab</a:t>
            </a:r>
            <a:r>
              <a:rPr sz="1000" spc="2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1000" spc="2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22373A"/>
                </a:solidFill>
                <a:latin typeface="Courier New"/>
                <a:cs typeface="Courier New"/>
              </a:rPr>
              <a:t>A</a:t>
            </a:r>
            <a:r>
              <a:rPr sz="1000" spc="2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22373A"/>
                </a:solidFill>
                <a:latin typeface="Courier New"/>
                <a:cs typeface="Courier New"/>
              </a:rPr>
              <a:t>\</a:t>
            </a:r>
            <a:r>
              <a:rPr sz="1000" spc="2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/>
                <a:cs typeface="Courier New"/>
              </a:rPr>
              <a:t>b</a:t>
            </a:r>
            <a:r>
              <a:rPr sz="1000" spc="-31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(recommended),</a:t>
            </a:r>
            <a:r>
              <a:rPr sz="1000" spc="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ourier New"/>
                <a:cs typeface="Courier New"/>
              </a:rPr>
              <a:t>x_matlab</a:t>
            </a:r>
            <a:r>
              <a:rPr sz="1000" spc="2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1000" spc="2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22373A"/>
                </a:solidFill>
                <a:latin typeface="Courier New"/>
                <a:cs typeface="Courier New"/>
              </a:rPr>
              <a:t>linsolve(A,</a:t>
            </a:r>
            <a:r>
              <a:rPr sz="1000" spc="2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ourier New"/>
                <a:cs typeface="Courier New"/>
              </a:rPr>
              <a:t>b)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44005" y="3083128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120" dirty="0"/>
              <a:t> </a:t>
            </a:r>
            <a:r>
              <a:rPr dirty="0"/>
              <a:t>system</a:t>
            </a:r>
            <a:r>
              <a:rPr spc="120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Exercise</a:t>
            </a:r>
            <a:r>
              <a:rPr spc="-60" dirty="0"/>
              <a:t> </a:t>
            </a:r>
            <a:r>
              <a:rPr spc="-90" dirty="0"/>
              <a:t>4:</a:t>
            </a:r>
            <a:r>
              <a:rPr spc="50" dirty="0"/>
              <a:t> </a:t>
            </a:r>
            <a:r>
              <a:rPr spc="-70" dirty="0"/>
              <a:t>LU</a:t>
            </a:r>
            <a:r>
              <a:rPr spc="-60" dirty="0"/>
              <a:t> </a:t>
            </a:r>
            <a:r>
              <a:rPr spc="-50" dirty="0"/>
              <a:t>Decomposition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56551"/>
            <a:ext cx="4515485" cy="2574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Implement</a:t>
            </a:r>
            <a:r>
              <a:rPr sz="1100" spc="130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LU</a:t>
            </a:r>
            <a:r>
              <a:rPr sz="1100" spc="13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decomposition</a:t>
            </a:r>
            <a:r>
              <a:rPr sz="1100" spc="13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006EB8"/>
                </a:solidFill>
                <a:latin typeface="Calibri"/>
                <a:cs typeface="Calibri"/>
              </a:rPr>
              <a:t>and</a:t>
            </a:r>
            <a:r>
              <a:rPr sz="1100" spc="13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integrate</a:t>
            </a:r>
            <a:r>
              <a:rPr sz="1100" spc="13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it</a:t>
            </a:r>
            <a:r>
              <a:rPr sz="1100" spc="13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into</a:t>
            </a:r>
            <a:r>
              <a:rPr sz="1100" spc="13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006EB8"/>
                </a:solidFill>
                <a:latin typeface="Calibri"/>
                <a:cs typeface="Calibri"/>
              </a:rPr>
              <a:t>your</a:t>
            </a:r>
            <a:r>
              <a:rPr sz="1100" spc="135" dirty="0">
                <a:solidFill>
                  <a:srgbClr val="006EB8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6EB8"/>
                </a:solidFill>
                <a:latin typeface="Calibri"/>
                <a:cs typeface="Calibri"/>
              </a:rPr>
              <a:t>solver.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Function</a:t>
            </a:r>
            <a:r>
              <a:rPr sz="11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signature:</a:t>
            </a:r>
            <a:endParaRPr sz="1100">
              <a:latin typeface="Lucida Sans Unicode"/>
              <a:cs typeface="Lucida Sans Unicode"/>
            </a:endParaRPr>
          </a:p>
          <a:p>
            <a:pPr marL="288925" indent="-104775">
              <a:lnSpc>
                <a:spcPct val="100000"/>
              </a:lnSpc>
              <a:spcBef>
                <a:spcPts val="795"/>
              </a:spcBef>
              <a:buFont typeface="Calibri"/>
              <a:buChar char="•"/>
              <a:tabLst>
                <a:tab pos="288925" algn="l"/>
              </a:tabLst>
            </a:pPr>
            <a:r>
              <a:rPr sz="10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Function:</a:t>
            </a:r>
            <a:r>
              <a:rPr sz="1000" spc="3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2373A"/>
                </a:solidFill>
                <a:latin typeface="Courier New"/>
                <a:cs typeface="Courier New"/>
              </a:rPr>
              <a:t>[L,</a:t>
            </a:r>
            <a:r>
              <a:rPr sz="1000" spc="-3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22373A"/>
                </a:solidFill>
                <a:latin typeface="Courier New"/>
                <a:cs typeface="Courier New"/>
              </a:rPr>
              <a:t>U]</a:t>
            </a:r>
            <a:r>
              <a:rPr sz="1000" spc="-2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1000" spc="-3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Courier New"/>
                <a:cs typeface="Courier New"/>
              </a:rPr>
              <a:t>my_lu_decompose</a:t>
            </a:r>
            <a:r>
              <a:rPr sz="1000" spc="-10" dirty="0">
                <a:solidFill>
                  <a:srgbClr val="22373A"/>
                </a:solidFill>
                <a:latin typeface="Courier New"/>
                <a:cs typeface="Courier New"/>
              </a:rPr>
              <a:t>(A)</a:t>
            </a:r>
            <a:endParaRPr sz="1000">
              <a:latin typeface="Courier New"/>
              <a:cs typeface="Courier New"/>
            </a:endParaRPr>
          </a:p>
          <a:p>
            <a:pPr marL="288925" indent="-104775">
              <a:lnSpc>
                <a:spcPct val="100000"/>
              </a:lnSpc>
              <a:spcBef>
                <a:spcPts val="229"/>
              </a:spcBef>
              <a:buFont typeface="Calibri"/>
              <a:buChar char="•"/>
              <a:tabLst>
                <a:tab pos="288925" algn="l"/>
              </a:tabLst>
            </a:pPr>
            <a:r>
              <a:rPr sz="10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Input:</a:t>
            </a:r>
            <a:r>
              <a:rPr sz="1000" spc="9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i="1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1000" i="1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×</a:t>
            </a:r>
            <a:r>
              <a:rPr sz="1000" spc="-6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i="1" dirty="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sz="1000" i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matrix</a:t>
            </a:r>
            <a:r>
              <a:rPr sz="1000" spc="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Courier New"/>
                <a:cs typeface="Courier New"/>
              </a:rPr>
              <a:t>A</a:t>
            </a:r>
            <a:endParaRPr sz="1000">
              <a:latin typeface="Courier New"/>
              <a:cs typeface="Courier New"/>
            </a:endParaRPr>
          </a:p>
          <a:p>
            <a:pPr marL="288925" indent="-104775">
              <a:lnSpc>
                <a:spcPct val="100000"/>
              </a:lnSpc>
              <a:spcBef>
                <a:spcPts val="229"/>
              </a:spcBef>
              <a:buFont typeface="Calibri"/>
              <a:buChar char="•"/>
              <a:tabLst>
                <a:tab pos="288925" algn="l"/>
              </a:tabLst>
            </a:pPr>
            <a:r>
              <a:rPr sz="10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Output:</a:t>
            </a:r>
            <a:r>
              <a:rPr sz="1000" spc="229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Lower</a:t>
            </a:r>
            <a:r>
              <a:rPr sz="10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triangular</a:t>
            </a:r>
            <a:r>
              <a:rPr sz="10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/>
                <a:cs typeface="Courier New"/>
              </a:rPr>
              <a:t>L</a:t>
            </a:r>
            <a:r>
              <a:rPr sz="1000" spc="-18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(with</a:t>
            </a:r>
            <a:r>
              <a:rPr sz="10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1’s</a:t>
            </a:r>
            <a:r>
              <a:rPr sz="10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on</a:t>
            </a:r>
            <a:r>
              <a:rPr sz="10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diagonal),</a:t>
            </a:r>
            <a:r>
              <a:rPr sz="10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upper</a:t>
            </a:r>
            <a:r>
              <a:rPr sz="10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triangular</a:t>
            </a:r>
            <a:r>
              <a:rPr sz="10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Courier New"/>
                <a:cs typeface="Courier New"/>
              </a:rPr>
              <a:t>U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22373A"/>
              </a:buClr>
              <a:buFont typeface="Calibri"/>
              <a:buChar char="•"/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100" spc="-65" dirty="0">
                <a:solidFill>
                  <a:srgbClr val="22373A"/>
                </a:solidFill>
                <a:latin typeface="Lucida Sans Unicode"/>
                <a:cs typeface="Lucida Sans Unicode"/>
              </a:rPr>
              <a:t>Algorithm</a:t>
            </a:r>
            <a:r>
              <a:rPr sz="11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 hints:</a:t>
            </a:r>
            <a:endParaRPr sz="1100">
              <a:latin typeface="Lucida Sans Unicode"/>
              <a:cs typeface="Lucida Sans Unicode"/>
            </a:endParaRPr>
          </a:p>
          <a:p>
            <a:pPr marL="288925" indent="-104775">
              <a:lnSpc>
                <a:spcPct val="100000"/>
              </a:lnSpc>
              <a:spcBef>
                <a:spcPts val="795"/>
              </a:spcBef>
              <a:buChar char="•"/>
              <a:tabLst>
                <a:tab pos="288925" algn="l"/>
              </a:tabLst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Initialize:</a:t>
            </a:r>
            <a:r>
              <a:rPr sz="1000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ourier New"/>
                <a:cs typeface="Courier New"/>
              </a:rPr>
              <a:t>L</a:t>
            </a:r>
            <a:r>
              <a:rPr sz="1000" spc="3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1000" spc="3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22373A"/>
                </a:solidFill>
                <a:latin typeface="Courier New"/>
                <a:cs typeface="Courier New"/>
              </a:rPr>
              <a:t>eye(n)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,</a:t>
            </a:r>
            <a:r>
              <a:rPr sz="1000" spc="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ourier New"/>
                <a:cs typeface="Courier New"/>
              </a:rPr>
              <a:t>U</a:t>
            </a:r>
            <a:r>
              <a:rPr sz="1000" spc="3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1000" spc="3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Courier New"/>
                <a:cs typeface="Courier New"/>
              </a:rPr>
              <a:t>A</a:t>
            </a:r>
            <a:endParaRPr sz="1000">
              <a:latin typeface="Courier New"/>
              <a:cs typeface="Courier New"/>
            </a:endParaRPr>
          </a:p>
          <a:p>
            <a:pPr marL="288925" indent="-104775">
              <a:lnSpc>
                <a:spcPct val="100000"/>
              </a:lnSpc>
              <a:spcBef>
                <a:spcPts val="229"/>
              </a:spcBef>
              <a:buChar char="•"/>
              <a:tabLst>
                <a:tab pos="288925" algn="l"/>
              </a:tabLst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For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each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column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/>
                <a:cs typeface="Courier New"/>
              </a:rPr>
              <a:t>k</a:t>
            </a:r>
            <a:r>
              <a:rPr sz="1000" spc="-254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from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/>
                <a:cs typeface="Courier New"/>
              </a:rPr>
              <a:t>n-</a:t>
            </a:r>
            <a:r>
              <a:rPr sz="1000" spc="-25" dirty="0">
                <a:solidFill>
                  <a:srgbClr val="22373A"/>
                </a:solidFill>
                <a:latin typeface="Courier New"/>
                <a:cs typeface="Courier New"/>
              </a:rPr>
              <a:t>1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endParaRPr sz="1000">
              <a:latin typeface="Calibri"/>
              <a:cs typeface="Calibri"/>
            </a:endParaRPr>
          </a:p>
          <a:p>
            <a:pPr marL="565785" lvl="1" indent="-104775">
              <a:lnSpc>
                <a:spcPct val="100000"/>
              </a:lnSpc>
              <a:spcBef>
                <a:spcPts val="210"/>
              </a:spcBef>
              <a:buChar char="•"/>
              <a:tabLst>
                <a:tab pos="565785" algn="l"/>
              </a:tabLst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For</a:t>
            </a:r>
            <a:r>
              <a:rPr sz="1000" spc="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each</a:t>
            </a:r>
            <a:r>
              <a:rPr sz="10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row</a:t>
            </a:r>
            <a:r>
              <a:rPr sz="10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/>
                <a:cs typeface="Courier New"/>
              </a:rPr>
              <a:t>i</a:t>
            </a:r>
            <a:r>
              <a:rPr sz="1000" spc="-27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from</a:t>
            </a:r>
            <a:r>
              <a:rPr sz="10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/>
                <a:cs typeface="Courier New"/>
              </a:rPr>
              <a:t>k+1</a:t>
            </a:r>
            <a:r>
              <a:rPr sz="1000" spc="-27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000" spc="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ourier New"/>
                <a:cs typeface="Courier New"/>
              </a:rPr>
              <a:t>n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endParaRPr sz="1000">
              <a:latin typeface="Calibri"/>
              <a:cs typeface="Calibri"/>
            </a:endParaRPr>
          </a:p>
          <a:p>
            <a:pPr marL="565785" lvl="1" indent="-104775">
              <a:lnSpc>
                <a:spcPct val="100000"/>
              </a:lnSpc>
              <a:spcBef>
                <a:spcPts val="175"/>
              </a:spcBef>
              <a:buChar char="•"/>
              <a:tabLst>
                <a:tab pos="565785" algn="l"/>
              </a:tabLst>
            </a:pP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Store</a:t>
            </a:r>
            <a:r>
              <a:rPr sz="1000" spc="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multiplier</a:t>
            </a:r>
            <a:r>
              <a:rPr sz="1000" spc="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ourier New"/>
                <a:cs typeface="Courier New"/>
              </a:rPr>
              <a:t>L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sz="1000" spc="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ourier New"/>
                <a:cs typeface="Courier New"/>
              </a:rPr>
              <a:t>L(i,k)</a:t>
            </a:r>
            <a:r>
              <a:rPr sz="1000" spc="-1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1000" spc="-1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ourier New"/>
                <a:cs typeface="Courier New"/>
              </a:rPr>
              <a:t>U(i,k)</a:t>
            </a:r>
            <a:r>
              <a:rPr sz="1000" spc="-2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ourier New"/>
                <a:cs typeface="Courier New"/>
              </a:rPr>
              <a:t>/</a:t>
            </a:r>
            <a:r>
              <a:rPr sz="1000" spc="-1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/>
                <a:cs typeface="Courier New"/>
              </a:rPr>
              <a:t>U(k,k)</a:t>
            </a:r>
            <a:endParaRPr sz="1000">
              <a:latin typeface="Courier New"/>
              <a:cs typeface="Courier New"/>
            </a:endParaRPr>
          </a:p>
          <a:p>
            <a:pPr marL="565785" lvl="1" indent="-104775">
              <a:lnSpc>
                <a:spcPct val="100000"/>
              </a:lnSpc>
              <a:spcBef>
                <a:spcPts val="175"/>
              </a:spcBef>
              <a:buChar char="•"/>
              <a:tabLst>
                <a:tab pos="565785" algn="l"/>
              </a:tabLst>
            </a:pP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Eliminate</a:t>
            </a:r>
            <a:r>
              <a:rPr sz="1000" spc="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ourier New"/>
                <a:cs typeface="Courier New"/>
              </a:rPr>
              <a:t>U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sz="1000" spc="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ourier New"/>
                <a:cs typeface="Courier New"/>
              </a:rPr>
              <a:t>U(i,:)</a:t>
            </a:r>
            <a:r>
              <a:rPr sz="1000" spc="-2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ourier New"/>
                <a:cs typeface="Courier New"/>
              </a:rPr>
              <a:t>U(i,:)</a:t>
            </a:r>
            <a:r>
              <a:rPr sz="1000" spc="-2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ourier New"/>
                <a:cs typeface="Courier New"/>
              </a:rPr>
              <a:t>-</a:t>
            </a:r>
            <a:r>
              <a:rPr sz="1000" spc="-2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ourier New"/>
                <a:cs typeface="Courier New"/>
              </a:rPr>
              <a:t>L(i,k)</a:t>
            </a:r>
            <a:r>
              <a:rPr sz="1000" spc="-2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ourier New"/>
                <a:cs typeface="Courier New"/>
              </a:rPr>
              <a:t>*</a:t>
            </a:r>
            <a:r>
              <a:rPr sz="1000" spc="-2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/>
                <a:cs typeface="Courier New"/>
              </a:rPr>
              <a:t>U(k,:)</a:t>
            </a:r>
            <a:endParaRPr sz="1000">
              <a:latin typeface="Courier New"/>
              <a:cs typeface="Courier New"/>
            </a:endParaRPr>
          </a:p>
          <a:p>
            <a:pPr marL="288925" indent="-104775">
              <a:lnSpc>
                <a:spcPct val="100000"/>
              </a:lnSpc>
              <a:spcBef>
                <a:spcPts val="229"/>
              </a:spcBef>
              <a:buChar char="•"/>
              <a:tabLst>
                <a:tab pos="288925" algn="l"/>
              </a:tabLst>
            </a:pP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Create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solver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assembling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decomposition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2373A"/>
                </a:solidFill>
                <a:latin typeface="Calibri"/>
                <a:cs typeface="Calibri"/>
              </a:rPr>
              <a:t>solution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routines.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4005" y="3083128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120" dirty="0"/>
              <a:t> </a:t>
            </a:r>
            <a:r>
              <a:rPr dirty="0"/>
              <a:t>system</a:t>
            </a:r>
            <a:r>
              <a:rPr spc="120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Expected</a:t>
            </a:r>
            <a:r>
              <a:rPr spc="-25" dirty="0"/>
              <a:t> </a:t>
            </a:r>
            <a:r>
              <a:rPr spc="-30" dirty="0"/>
              <a:t>Solutions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613929"/>
            <a:ext cx="33096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30" dirty="0">
                <a:solidFill>
                  <a:srgbClr val="EB801A"/>
                </a:solidFill>
                <a:latin typeface="Calibri"/>
                <a:cs typeface="Calibri"/>
              </a:rPr>
              <a:t>Use</a:t>
            </a:r>
            <a:r>
              <a:rPr sz="1100" spc="70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30" dirty="0">
                <a:solidFill>
                  <a:srgbClr val="EB801A"/>
                </a:solidFill>
                <a:latin typeface="Calibri"/>
                <a:cs typeface="Calibri"/>
              </a:rPr>
              <a:t>these</a:t>
            </a:r>
            <a:r>
              <a:rPr sz="1100" spc="75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30" dirty="0">
                <a:solidFill>
                  <a:srgbClr val="EB801A"/>
                </a:solidFill>
                <a:latin typeface="Calibri"/>
                <a:cs typeface="Calibri"/>
              </a:rPr>
              <a:t>to</a:t>
            </a:r>
            <a:r>
              <a:rPr sz="1100" spc="75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30" dirty="0">
                <a:solidFill>
                  <a:srgbClr val="EB801A"/>
                </a:solidFill>
                <a:latin typeface="Calibri"/>
                <a:cs typeface="Calibri"/>
              </a:rPr>
              <a:t>verify</a:t>
            </a:r>
            <a:r>
              <a:rPr sz="1100" spc="75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30" dirty="0">
                <a:solidFill>
                  <a:srgbClr val="EB801A"/>
                </a:solidFill>
                <a:latin typeface="Calibri"/>
                <a:cs typeface="Calibri"/>
              </a:rPr>
              <a:t>your</a:t>
            </a:r>
            <a:r>
              <a:rPr sz="1100" spc="75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30" dirty="0">
                <a:solidFill>
                  <a:srgbClr val="EB801A"/>
                </a:solidFill>
                <a:latin typeface="Calibri"/>
                <a:cs typeface="Calibri"/>
              </a:rPr>
              <a:t>implementations</a:t>
            </a:r>
            <a:r>
              <a:rPr sz="1100" spc="70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30" dirty="0">
                <a:solidFill>
                  <a:srgbClr val="EB801A"/>
                </a:solidFill>
                <a:latin typeface="Calibri"/>
                <a:cs typeface="Calibri"/>
              </a:rPr>
              <a:t>are</a:t>
            </a:r>
            <a:r>
              <a:rPr sz="1100" spc="75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EB801A"/>
                </a:solidFill>
                <a:latin typeface="Calibri"/>
                <a:cs typeface="Calibri"/>
              </a:rPr>
              <a:t>correct!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7304" y="1207375"/>
            <a:ext cx="8940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22373A"/>
                </a:solidFill>
                <a:latin typeface="Lucida Sans Unicode"/>
                <a:cs typeface="Lucida Sans Unicode"/>
              </a:rPr>
              <a:t>Test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 System </a:t>
            </a:r>
            <a:r>
              <a:rPr sz="1100" spc="-120" dirty="0">
                <a:solidFill>
                  <a:srgbClr val="22373A"/>
                </a:solidFill>
                <a:latin typeface="Lucida Sans Unicode"/>
                <a:cs typeface="Lucida Sans Unicode"/>
              </a:rPr>
              <a:t>1: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8814" y="1697379"/>
            <a:ext cx="1485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80" dirty="0">
                <a:solidFill>
                  <a:srgbClr val="22373A"/>
                </a:solidFill>
                <a:latin typeface="Arial"/>
                <a:cs typeface="Arial"/>
              </a:rPr>
              <a:t>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8814" y="1738946"/>
            <a:ext cx="1485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80" dirty="0">
                <a:solidFill>
                  <a:srgbClr val="22373A"/>
                </a:solidFill>
                <a:latin typeface="Arial"/>
                <a:cs typeface="Arial"/>
              </a:rPr>
              <a:t>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8814" y="2154591"/>
            <a:ext cx="1485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80" dirty="0">
                <a:solidFill>
                  <a:srgbClr val="22373A"/>
                </a:solidFill>
                <a:latin typeface="Arial"/>
                <a:cs typeface="Arial"/>
              </a:rPr>
              <a:t>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8814" y="2196158"/>
            <a:ext cx="1485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80" dirty="0">
                <a:solidFill>
                  <a:srgbClr val="22373A"/>
                </a:solidFill>
                <a:latin typeface="Arial"/>
                <a:cs typeface="Arial"/>
              </a:rPr>
              <a:t>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3414" y="1554935"/>
            <a:ext cx="13398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spc="-337" baseline="58080" dirty="0">
                <a:solidFill>
                  <a:srgbClr val="22373A"/>
                </a:solidFill>
                <a:latin typeface="Arial"/>
                <a:cs typeface="Arial"/>
              </a:rPr>
              <a:t></a:t>
            </a:r>
            <a:r>
              <a:rPr sz="1650" spc="-337" baseline="-7575" dirty="0">
                <a:solidFill>
                  <a:srgbClr val="22373A"/>
                </a:solidFill>
                <a:latin typeface="Arial"/>
                <a:cs typeface="Arial"/>
              </a:rPr>
              <a:t></a:t>
            </a:r>
            <a:r>
              <a:rPr sz="1100" i="1" spc="-225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1100" i="1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+</a:t>
            </a:r>
            <a:r>
              <a:rPr sz="1100" spc="-10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1100" i="1" spc="-35" dirty="0">
                <a:solidFill>
                  <a:srgbClr val="22373A"/>
                </a:solidFill>
                <a:latin typeface="Arial"/>
                <a:cs typeface="Arial"/>
              </a:rPr>
              <a:t>y</a:t>
            </a:r>
            <a:r>
              <a:rPr sz="1100" i="1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1100" spc="-10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i="1" spc="-100" dirty="0">
                <a:solidFill>
                  <a:srgbClr val="22373A"/>
                </a:solidFill>
                <a:latin typeface="Arial"/>
                <a:cs typeface="Arial"/>
              </a:rPr>
              <a:t>z</a:t>
            </a:r>
            <a:r>
              <a:rPr sz="1100" i="1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+</a:t>
            </a:r>
            <a:r>
              <a:rPr sz="1100" spc="-10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t</a:t>
            </a:r>
            <a:r>
              <a:rPr sz="11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455" dirty="0">
                <a:solidFill>
                  <a:srgbClr val="22373A"/>
                </a:solidFill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1966" y="1721190"/>
            <a:ext cx="925194" cy="737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700"/>
              </a:lnSpc>
              <a:spcBef>
                <a:spcPts val="100"/>
              </a:spcBef>
            </a:pPr>
            <a:r>
              <a:rPr sz="1100" i="1" spc="-55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1100" i="1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+</a:t>
            </a:r>
            <a:r>
              <a:rPr sz="1100" spc="-10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75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1100" i="1" spc="-75" dirty="0">
                <a:solidFill>
                  <a:srgbClr val="22373A"/>
                </a:solidFill>
                <a:latin typeface="Arial"/>
                <a:cs typeface="Arial"/>
              </a:rPr>
              <a:t>z</a:t>
            </a:r>
            <a:r>
              <a:rPr sz="1100" i="1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+</a:t>
            </a:r>
            <a:r>
              <a:rPr sz="1100" spc="-10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i="1" spc="65" dirty="0">
                <a:solidFill>
                  <a:srgbClr val="22373A"/>
                </a:solidFill>
                <a:latin typeface="Arial"/>
                <a:cs typeface="Arial"/>
              </a:rPr>
              <a:t>t</a:t>
            </a:r>
            <a:r>
              <a:rPr sz="11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100" spc="5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1100" i="1" spc="-55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1100" i="1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+</a:t>
            </a:r>
            <a:r>
              <a:rPr sz="1100" spc="-10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y</a:t>
            </a:r>
            <a:r>
              <a:rPr sz="1100" i="1" spc="-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1100" spc="-10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t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95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100" spc="-70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1100" i="1" spc="-70" dirty="0">
                <a:solidFill>
                  <a:srgbClr val="22373A"/>
                </a:solidFill>
                <a:latin typeface="Arial"/>
                <a:cs typeface="Arial"/>
              </a:rPr>
              <a:t>z</a:t>
            </a:r>
            <a:r>
              <a:rPr sz="1100" i="1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+</a:t>
            </a:r>
            <a:r>
              <a:rPr sz="1100" spc="-10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i="1" spc="65" dirty="0">
                <a:solidFill>
                  <a:srgbClr val="22373A"/>
                </a:solidFill>
                <a:latin typeface="Arial"/>
                <a:cs typeface="Arial"/>
              </a:rPr>
              <a:t>t</a:t>
            </a:r>
            <a:r>
              <a:rPr sz="11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7304" y="2598456"/>
            <a:ext cx="22783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Solution:</a:t>
            </a:r>
            <a:r>
              <a:rPr sz="11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1100" i="1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-8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2,</a:t>
            </a:r>
            <a:r>
              <a:rPr sz="11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y</a:t>
            </a:r>
            <a:r>
              <a:rPr sz="11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-9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1100" spc="-50" dirty="0">
                <a:solidFill>
                  <a:srgbClr val="22373A"/>
                </a:solidFill>
                <a:latin typeface="Calibri"/>
                <a:cs typeface="Calibri"/>
              </a:rPr>
              <a:t>1,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z</a:t>
            </a:r>
            <a:r>
              <a:rPr sz="1100" i="1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-8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1100" spc="-50" dirty="0">
                <a:solidFill>
                  <a:srgbClr val="22373A"/>
                </a:solidFill>
                <a:latin typeface="Calibri"/>
                <a:cs typeface="Calibri"/>
              </a:rPr>
              <a:t>1,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65" dirty="0">
                <a:solidFill>
                  <a:srgbClr val="22373A"/>
                </a:solidFill>
                <a:latin typeface="Arial"/>
                <a:cs typeface="Arial"/>
              </a:rPr>
              <a:t>t</a:t>
            </a:r>
            <a:r>
              <a:rPr sz="1100" i="1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-8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87294" y="1112112"/>
            <a:ext cx="90296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22373A"/>
                </a:solidFill>
                <a:latin typeface="Lucida Sans Unicode"/>
                <a:cs typeface="Lucida Sans Unicode"/>
              </a:rPr>
              <a:t>Test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 System </a:t>
            </a:r>
            <a:r>
              <a:rPr sz="1100" spc="-85" dirty="0">
                <a:solidFill>
                  <a:srgbClr val="22373A"/>
                </a:solidFill>
                <a:latin typeface="Lucida Sans Unicode"/>
                <a:cs typeface="Lucida Sans Unicode"/>
              </a:rPr>
              <a:t>2: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77056" y="1976195"/>
            <a:ext cx="1485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80" dirty="0">
                <a:solidFill>
                  <a:srgbClr val="22373A"/>
                </a:solidFill>
                <a:latin typeface="Arial"/>
                <a:cs typeface="Arial"/>
              </a:rPr>
              <a:t>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77056" y="2059316"/>
            <a:ext cx="1358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835" dirty="0">
                <a:solidFill>
                  <a:srgbClr val="22373A"/>
                </a:solidFill>
                <a:latin typeface="Arial"/>
                <a:cs typeface="Arial"/>
              </a:rPr>
              <a:t>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77056" y="2100883"/>
            <a:ext cx="1485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80" dirty="0">
                <a:solidFill>
                  <a:srgbClr val="22373A"/>
                </a:solidFill>
                <a:latin typeface="Arial"/>
                <a:cs typeface="Arial"/>
              </a:rPr>
              <a:t>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51656" y="1459673"/>
            <a:ext cx="11207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spc="97" baseline="-7575" dirty="0">
                <a:solidFill>
                  <a:srgbClr val="22373A"/>
                </a:solidFill>
                <a:latin typeface="Arial"/>
                <a:cs typeface="Arial"/>
              </a:rPr>
              <a:t></a:t>
            </a:r>
            <a:r>
              <a:rPr sz="1100" i="1" spc="65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1100" i="1" spc="-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+</a:t>
            </a:r>
            <a:r>
              <a:rPr sz="1100" spc="-10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45</a:t>
            </a:r>
            <a:r>
              <a:rPr sz="1100" i="1" spc="-20" dirty="0">
                <a:solidFill>
                  <a:srgbClr val="22373A"/>
                </a:solidFill>
                <a:latin typeface="Arial"/>
                <a:cs typeface="Arial"/>
              </a:rPr>
              <a:t>y</a:t>
            </a:r>
            <a:r>
              <a:rPr sz="1100" i="1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1100" spc="-10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i="1" spc="65" dirty="0">
                <a:solidFill>
                  <a:srgbClr val="22373A"/>
                </a:solidFill>
                <a:latin typeface="Arial"/>
                <a:cs typeface="Arial"/>
              </a:rPr>
              <a:t>t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-5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Calibri"/>
                <a:cs typeface="Calibri"/>
              </a:rPr>
              <a:t>6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51656" y="1697125"/>
            <a:ext cx="8604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spc="97" baseline="20202" dirty="0">
                <a:solidFill>
                  <a:srgbClr val="22373A"/>
                </a:solidFill>
                <a:latin typeface="Arial"/>
                <a:cs typeface="Arial"/>
              </a:rPr>
              <a:t></a:t>
            </a:r>
            <a:r>
              <a:rPr sz="1100" i="1" spc="65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1100" i="1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1100" spc="-10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3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t</a:t>
            </a:r>
            <a:r>
              <a:rPr sz="11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95" dirty="0">
                <a:solidFill>
                  <a:srgbClr val="22373A"/>
                </a:solidFill>
                <a:latin typeface="Calibri"/>
                <a:cs typeface="Calibri"/>
              </a:rPr>
              <a:t>12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00208" y="1863379"/>
            <a:ext cx="1089025" cy="50038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100" i="1" spc="-55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1100" i="1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+</a:t>
            </a:r>
            <a:r>
              <a:rPr sz="1100" spc="-10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y</a:t>
            </a:r>
            <a:r>
              <a:rPr sz="1100" i="1" spc="-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+</a:t>
            </a:r>
            <a:r>
              <a:rPr sz="1100" spc="-10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z</a:t>
            </a:r>
            <a:r>
              <a:rPr sz="1100" i="1" spc="-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-7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6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100" i="1" spc="-55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1100" i="1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1100" spc="-10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y</a:t>
            </a:r>
            <a:r>
              <a:rPr sz="1100" i="1" spc="-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+</a:t>
            </a:r>
            <a:r>
              <a:rPr sz="1100" spc="-10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i="1" spc="-100" dirty="0">
                <a:solidFill>
                  <a:srgbClr val="22373A"/>
                </a:solidFill>
                <a:latin typeface="Arial"/>
                <a:cs typeface="Arial"/>
              </a:rPr>
              <a:t>z</a:t>
            </a:r>
            <a:r>
              <a:rPr sz="1100" i="1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+</a:t>
            </a:r>
            <a:r>
              <a:rPr sz="1100" spc="-10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i="1" spc="65" dirty="0">
                <a:solidFill>
                  <a:srgbClr val="22373A"/>
                </a:solidFill>
                <a:latin typeface="Arial"/>
                <a:cs typeface="Arial"/>
              </a:rPr>
              <a:t>t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-5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12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87294" y="2471570"/>
            <a:ext cx="2168525" cy="4216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1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Solution: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1100" i="1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-8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60</a:t>
            </a:r>
            <a:r>
              <a:rPr sz="1100" i="1" spc="-25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8571,</a:t>
            </a:r>
            <a:r>
              <a:rPr sz="1100" spc="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y</a:t>
            </a:r>
            <a:r>
              <a:rPr sz="11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-8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1100" i="1" spc="-20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8571,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i="1" dirty="0">
                <a:solidFill>
                  <a:srgbClr val="22373A"/>
                </a:solidFill>
                <a:latin typeface="Arial"/>
                <a:cs typeface="Arial"/>
              </a:rPr>
              <a:t>z</a:t>
            </a:r>
            <a:r>
              <a:rPr sz="1100" i="1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-8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66,</a:t>
            </a:r>
            <a:r>
              <a:rPr sz="11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65" dirty="0">
                <a:solidFill>
                  <a:srgbClr val="22373A"/>
                </a:solidFill>
                <a:latin typeface="Arial"/>
                <a:cs typeface="Arial"/>
              </a:rPr>
              <a:t>t</a:t>
            </a:r>
            <a:r>
              <a:rPr sz="1100" i="1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Lucida Sans Unicode"/>
                <a:cs typeface="Lucida Sans Unicode"/>
              </a:rPr>
              <a:t>=</a:t>
            </a:r>
            <a:r>
              <a:rPr sz="1100" spc="-9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16</a:t>
            </a:r>
            <a:r>
              <a:rPr sz="1100" i="1" spc="-10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2857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44005" y="3083128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120" dirty="0"/>
              <a:t> </a:t>
            </a:r>
            <a:r>
              <a:rPr dirty="0"/>
              <a:t>system</a:t>
            </a:r>
            <a:r>
              <a:rPr spc="120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85" dirty="0"/>
              <a:t>Coding</a:t>
            </a:r>
            <a:r>
              <a:rPr spc="-60" dirty="0"/>
              <a:t> </a:t>
            </a:r>
            <a:r>
              <a:rPr spc="-10" dirty="0"/>
              <a:t>Best</a:t>
            </a:r>
            <a:r>
              <a:rPr spc="-55" dirty="0"/>
              <a:t> </a:t>
            </a:r>
            <a:r>
              <a:rPr spc="-30" dirty="0"/>
              <a:t>Practices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14183"/>
            <a:ext cx="4648200" cy="2432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5" dirty="0">
                <a:solidFill>
                  <a:srgbClr val="22373A"/>
                </a:solidFill>
                <a:latin typeface="Lucida Sans Unicode"/>
                <a:cs typeface="Lucida Sans Unicode"/>
              </a:rPr>
              <a:t>Tips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 for</a:t>
            </a:r>
            <a:r>
              <a:rPr sz="11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your</a:t>
            </a:r>
            <a:r>
              <a:rPr sz="11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implementation:</a:t>
            </a:r>
            <a:endParaRPr sz="1100">
              <a:latin typeface="Lucida Sans Unicode"/>
              <a:cs typeface="Lucida Sans Unicode"/>
            </a:endParaRPr>
          </a:p>
          <a:p>
            <a:pPr marL="287655" indent="-175260">
              <a:lnSpc>
                <a:spcPct val="100000"/>
              </a:lnSpc>
              <a:spcBef>
                <a:spcPts val="1080"/>
              </a:spcBef>
              <a:buFont typeface="Arial"/>
              <a:buChar char="►"/>
              <a:tabLst>
                <a:tab pos="287655" algn="l"/>
              </a:tabLst>
            </a:pPr>
            <a:r>
              <a:rPr sz="11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Error</a:t>
            </a:r>
            <a:r>
              <a:rPr sz="1100" spc="1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55" dirty="0">
                <a:solidFill>
                  <a:srgbClr val="22373A"/>
                </a:solidFill>
                <a:latin typeface="Lucida Sans Unicode"/>
                <a:cs typeface="Lucida Sans Unicode"/>
              </a:rPr>
              <a:t>checking:</a:t>
            </a:r>
            <a:r>
              <a:rPr sz="1100" spc="15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Verify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matrix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dimensions</a:t>
            </a:r>
            <a:r>
              <a:rPr sz="11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match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before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operations</a:t>
            </a:r>
            <a:endParaRPr sz="1100">
              <a:latin typeface="Calibri"/>
              <a:cs typeface="Calibri"/>
            </a:endParaRPr>
          </a:p>
          <a:p>
            <a:pPr marL="287655" marR="5080" indent="-175260">
              <a:lnSpc>
                <a:spcPct val="118000"/>
              </a:lnSpc>
              <a:spcBef>
                <a:spcPts val="870"/>
              </a:spcBef>
              <a:buFont typeface="Arial"/>
              <a:buChar char="►"/>
              <a:tabLst>
                <a:tab pos="289560" algn="l"/>
              </a:tabLst>
            </a:pPr>
            <a:r>
              <a:rPr sz="1100" spc="-70" dirty="0">
                <a:solidFill>
                  <a:srgbClr val="22373A"/>
                </a:solidFill>
                <a:latin typeface="Lucida Sans Unicode"/>
                <a:cs typeface="Lucida Sans Unicode"/>
              </a:rPr>
              <a:t>Zero</a:t>
            </a:r>
            <a:r>
              <a:rPr sz="1100" spc="-6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pivots:</a:t>
            </a:r>
            <a:r>
              <a:rPr sz="1100" spc="4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Add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 a</a:t>
            </a:r>
            <a:r>
              <a:rPr sz="1100" spc="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check:</a:t>
            </a:r>
            <a:r>
              <a:rPr sz="11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if</a:t>
            </a: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abs(U(k,k))</a:t>
            </a:r>
            <a:r>
              <a:rPr sz="1100" spc="-2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&lt;</a:t>
            </a: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eps,</a:t>
            </a: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ourier New"/>
                <a:cs typeface="Courier New"/>
              </a:rPr>
              <a:t>error('Zero 	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pivot');</a:t>
            </a:r>
            <a:r>
              <a:rPr sz="1100" spc="-12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Courier New"/>
                <a:cs typeface="Courier New"/>
              </a:rPr>
              <a:t>end</a:t>
            </a:r>
            <a:endParaRPr sz="1100">
              <a:latin typeface="Courier New"/>
              <a:cs typeface="Courier New"/>
            </a:endParaRPr>
          </a:p>
          <a:p>
            <a:pPr marL="287655" marR="74930" indent="-175260">
              <a:lnSpc>
                <a:spcPct val="118000"/>
              </a:lnSpc>
              <a:spcBef>
                <a:spcPts val="865"/>
              </a:spcBef>
              <a:buFont typeface="Arial"/>
              <a:buChar char="►"/>
              <a:tabLst>
                <a:tab pos="289560" algn="l"/>
              </a:tabLst>
            </a:pP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Vectorization:</a:t>
            </a:r>
            <a:r>
              <a:rPr sz="1100" spc="1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100" spc="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MATLAB,</a:t>
            </a:r>
            <a:r>
              <a:rPr sz="1100" spc="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U(i,:)</a:t>
            </a:r>
            <a:r>
              <a:rPr sz="1100" spc="-4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1100" spc="-4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U(i,:)</a:t>
            </a:r>
            <a:r>
              <a:rPr sz="1100" spc="-3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22373A"/>
                </a:solidFill>
                <a:latin typeface="Courier New"/>
                <a:cs typeface="Courier New"/>
              </a:rPr>
              <a:t>-</a:t>
            </a:r>
            <a:r>
              <a:rPr sz="1100" spc="-4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Courier New"/>
                <a:cs typeface="Courier New"/>
              </a:rPr>
              <a:t>m*U(k,:)</a:t>
            </a:r>
            <a:r>
              <a:rPr sz="1100" spc="-254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100" spc="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more 	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efficient</a:t>
            </a:r>
            <a:r>
              <a:rPr sz="1100" spc="3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than</a:t>
            </a:r>
            <a:r>
              <a:rPr sz="1100" spc="3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element-wise</a:t>
            </a:r>
            <a:r>
              <a:rPr sz="1100" spc="3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40" dirty="0">
                <a:solidFill>
                  <a:srgbClr val="22373A"/>
                </a:solidFill>
                <a:latin typeface="Calibri"/>
                <a:cs typeface="Calibri"/>
              </a:rPr>
              <a:t>loops</a:t>
            </a:r>
            <a:endParaRPr sz="1100">
              <a:latin typeface="Calibri"/>
              <a:cs typeface="Calibri"/>
            </a:endParaRPr>
          </a:p>
          <a:p>
            <a:pPr marL="287655" indent="-175260">
              <a:lnSpc>
                <a:spcPct val="100000"/>
              </a:lnSpc>
              <a:spcBef>
                <a:spcPts val="1105"/>
              </a:spcBef>
              <a:buFont typeface="Arial"/>
              <a:buChar char="►"/>
              <a:tabLst>
                <a:tab pos="287655" algn="l"/>
              </a:tabLst>
            </a:pPr>
            <a:r>
              <a:rPr sz="1100" spc="-75" dirty="0">
                <a:solidFill>
                  <a:srgbClr val="22373A"/>
                </a:solidFill>
                <a:latin typeface="Lucida Sans Unicode"/>
                <a:cs typeface="Lucida Sans Unicode"/>
              </a:rPr>
              <a:t>Testing:</a:t>
            </a:r>
            <a:r>
              <a:rPr sz="1100" spc="15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Create</a:t>
            </a:r>
            <a:r>
              <a:rPr sz="11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simple</a:t>
            </a:r>
            <a:r>
              <a:rPr sz="11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×</a:t>
            </a:r>
            <a:r>
              <a:rPr sz="11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test</a:t>
            </a:r>
            <a:r>
              <a:rPr sz="11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cases</a:t>
            </a:r>
            <a:r>
              <a:rPr sz="11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first,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then</a:t>
            </a:r>
            <a:r>
              <a:rPr sz="11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scale</a:t>
            </a:r>
            <a:r>
              <a:rPr sz="11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25" dirty="0">
                <a:solidFill>
                  <a:srgbClr val="22373A"/>
                </a:solidFill>
                <a:latin typeface="Calibri"/>
                <a:cs typeface="Calibri"/>
              </a:rPr>
              <a:t>up</a:t>
            </a:r>
            <a:endParaRPr sz="1100">
              <a:latin typeface="Calibri"/>
              <a:cs typeface="Calibri"/>
            </a:endParaRPr>
          </a:p>
          <a:p>
            <a:pPr marL="287655" indent="-175260">
              <a:lnSpc>
                <a:spcPct val="100000"/>
              </a:lnSpc>
              <a:spcBef>
                <a:spcPts val="1100"/>
              </a:spcBef>
              <a:buFont typeface="Arial"/>
              <a:buChar char="►"/>
              <a:tabLst>
                <a:tab pos="287655" algn="l"/>
              </a:tabLst>
            </a:pPr>
            <a:r>
              <a:rPr sz="11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Residual</a:t>
            </a:r>
            <a:r>
              <a:rPr sz="11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check:</a:t>
            </a:r>
            <a:r>
              <a:rPr sz="1100" spc="11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Compute</a:t>
            </a:r>
            <a:r>
              <a:rPr sz="11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IAx</a:t>
            </a:r>
            <a:r>
              <a:rPr sz="1100" spc="-7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−</a:t>
            </a:r>
            <a:r>
              <a:rPr sz="1100" spc="-7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spc="85" dirty="0">
                <a:solidFill>
                  <a:srgbClr val="22373A"/>
                </a:solidFill>
                <a:latin typeface="Lucida Sans Unicode"/>
                <a:cs typeface="Lucida Sans Unicode"/>
              </a:rPr>
              <a:t>bI</a:t>
            </a:r>
            <a:r>
              <a:rPr sz="1100" spc="-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1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verify</a:t>
            </a:r>
            <a:r>
              <a:rPr sz="1100" spc="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accuracy</a:t>
            </a:r>
            <a:endParaRPr sz="1100">
              <a:latin typeface="Calibri"/>
              <a:cs typeface="Calibri"/>
            </a:endParaRPr>
          </a:p>
          <a:p>
            <a:pPr marL="287655" indent="-175260">
              <a:lnSpc>
                <a:spcPct val="100000"/>
              </a:lnSpc>
              <a:spcBef>
                <a:spcPts val="1105"/>
              </a:spcBef>
              <a:buFont typeface="Arial"/>
              <a:buChar char="►"/>
              <a:tabLst>
                <a:tab pos="287655" algn="l"/>
              </a:tabLst>
            </a:pPr>
            <a:r>
              <a:rPr sz="1100" spc="-60" dirty="0">
                <a:solidFill>
                  <a:srgbClr val="22373A"/>
                </a:solidFill>
                <a:latin typeface="Lucida Sans Unicode"/>
                <a:cs typeface="Lucida Sans Unicode"/>
              </a:rPr>
              <a:t>Comparison:</a:t>
            </a:r>
            <a:r>
              <a:rPr sz="1100" spc="15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Always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compare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with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Courier New"/>
                <a:cs typeface="Courier New"/>
              </a:rPr>
              <a:t>A\b</a:t>
            </a:r>
            <a:r>
              <a:rPr sz="1100" spc="-28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for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validation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4005" y="3083128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120" dirty="0"/>
              <a:t> </a:t>
            </a:r>
            <a:r>
              <a:rPr dirty="0"/>
              <a:t>system</a:t>
            </a:r>
            <a:r>
              <a:rPr spc="120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85" dirty="0"/>
              <a:t>Coding</a:t>
            </a:r>
            <a:r>
              <a:rPr spc="-60" dirty="0"/>
              <a:t> </a:t>
            </a:r>
            <a:r>
              <a:rPr spc="-10" dirty="0"/>
              <a:t>Best</a:t>
            </a:r>
            <a:r>
              <a:rPr spc="-55" dirty="0"/>
              <a:t> </a:t>
            </a:r>
            <a:r>
              <a:rPr spc="-30" dirty="0"/>
              <a:t>Practices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95" dirty="0"/>
              <a:t>Common</a:t>
            </a:r>
            <a:r>
              <a:rPr spc="-40" dirty="0"/>
              <a:t> </a:t>
            </a:r>
            <a:r>
              <a:rPr spc="-55" dirty="0"/>
              <a:t>mistakes</a:t>
            </a:r>
            <a:r>
              <a:rPr spc="-40" dirty="0"/>
              <a:t> </a:t>
            </a:r>
            <a:r>
              <a:rPr spc="-45" dirty="0"/>
              <a:t>to</a:t>
            </a:r>
            <a:r>
              <a:rPr spc="-40" dirty="0"/>
              <a:t> </a:t>
            </a:r>
            <a:r>
              <a:rPr spc="-10" dirty="0"/>
              <a:t>avoid:</a:t>
            </a:r>
          </a:p>
          <a:p>
            <a:pPr marL="287655" indent="-175260">
              <a:lnSpc>
                <a:spcPct val="100000"/>
              </a:lnSpc>
              <a:spcBef>
                <a:spcPts val="1080"/>
              </a:spcBef>
              <a:buFont typeface="Arial"/>
              <a:buChar char="►"/>
              <a:tabLst>
                <a:tab pos="287655" algn="l"/>
              </a:tabLst>
            </a:pPr>
            <a:r>
              <a:rPr spc="20" dirty="0">
                <a:latin typeface="Calibri"/>
                <a:cs typeface="Calibri"/>
              </a:rPr>
              <a:t>Not</a:t>
            </a:r>
            <a:r>
              <a:rPr spc="95" dirty="0">
                <a:latin typeface="Calibri"/>
                <a:cs typeface="Calibri"/>
              </a:rPr>
              <a:t> </a:t>
            </a:r>
            <a:r>
              <a:rPr spc="20" dirty="0">
                <a:latin typeface="Calibri"/>
                <a:cs typeface="Calibri"/>
              </a:rPr>
              <a:t>initializing</a:t>
            </a:r>
            <a:r>
              <a:rPr spc="100" dirty="0">
                <a:latin typeface="Calibri"/>
                <a:cs typeface="Calibri"/>
              </a:rPr>
              <a:t> </a:t>
            </a:r>
            <a:r>
              <a:rPr spc="20" dirty="0">
                <a:latin typeface="Calibri"/>
                <a:cs typeface="Calibri"/>
              </a:rPr>
              <a:t>output</a:t>
            </a:r>
            <a:r>
              <a:rPr spc="100" dirty="0">
                <a:latin typeface="Calibri"/>
                <a:cs typeface="Calibri"/>
              </a:rPr>
              <a:t> </a:t>
            </a:r>
            <a:r>
              <a:rPr spc="20" dirty="0">
                <a:latin typeface="Calibri"/>
                <a:cs typeface="Calibri"/>
              </a:rPr>
              <a:t>vectors</a:t>
            </a:r>
            <a:r>
              <a:rPr spc="100" dirty="0">
                <a:latin typeface="Calibri"/>
                <a:cs typeface="Calibri"/>
              </a:rPr>
              <a:t> </a:t>
            </a:r>
            <a:r>
              <a:rPr spc="20" dirty="0">
                <a:latin typeface="Calibri"/>
                <a:cs typeface="Calibri"/>
              </a:rPr>
              <a:t>(use</a:t>
            </a:r>
            <a:r>
              <a:rPr spc="95" dirty="0">
                <a:latin typeface="Calibri"/>
                <a:cs typeface="Calibri"/>
              </a:rPr>
              <a:t> </a:t>
            </a:r>
            <a:r>
              <a:rPr spc="20" dirty="0">
                <a:latin typeface="Courier New"/>
                <a:cs typeface="Courier New"/>
              </a:rPr>
              <a:t>x</a:t>
            </a:r>
            <a:r>
              <a:rPr spc="85" dirty="0">
                <a:latin typeface="Courier New"/>
                <a:cs typeface="Courier New"/>
              </a:rPr>
              <a:t> </a:t>
            </a:r>
            <a:r>
              <a:rPr spc="20" dirty="0">
                <a:latin typeface="Courier New"/>
                <a:cs typeface="Courier New"/>
              </a:rPr>
              <a:t>=</a:t>
            </a:r>
            <a:r>
              <a:rPr spc="85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zeros(n,1)</a:t>
            </a:r>
            <a:r>
              <a:rPr spc="-10" dirty="0">
                <a:latin typeface="Calibri"/>
                <a:cs typeface="Calibri"/>
              </a:rPr>
              <a:t>)</a:t>
            </a:r>
          </a:p>
          <a:p>
            <a:pPr marL="287655" indent="-175260">
              <a:lnSpc>
                <a:spcPct val="100000"/>
              </a:lnSpc>
              <a:spcBef>
                <a:spcPts val="540"/>
              </a:spcBef>
              <a:buFont typeface="Arial"/>
              <a:buChar char="►"/>
              <a:tabLst>
                <a:tab pos="287655" algn="l"/>
              </a:tabLst>
            </a:pPr>
            <a:r>
              <a:rPr spc="10" dirty="0">
                <a:latin typeface="Calibri"/>
                <a:cs typeface="Calibri"/>
              </a:rPr>
              <a:t>Loop</a:t>
            </a:r>
            <a:r>
              <a:rPr spc="195" dirty="0">
                <a:latin typeface="Calibri"/>
                <a:cs typeface="Calibri"/>
              </a:rPr>
              <a:t> </a:t>
            </a:r>
            <a:r>
              <a:rPr spc="10" dirty="0">
                <a:latin typeface="Calibri"/>
                <a:cs typeface="Calibri"/>
              </a:rPr>
              <a:t>indices</a:t>
            </a:r>
            <a:r>
              <a:rPr spc="200" dirty="0">
                <a:latin typeface="Calibri"/>
                <a:cs typeface="Calibri"/>
              </a:rPr>
              <a:t> </a:t>
            </a:r>
            <a:r>
              <a:rPr spc="10" dirty="0">
                <a:latin typeface="Calibri"/>
                <a:cs typeface="Calibri"/>
              </a:rPr>
              <a:t>in</a:t>
            </a:r>
            <a:r>
              <a:rPr spc="200" dirty="0">
                <a:latin typeface="Calibri"/>
                <a:cs typeface="Calibri"/>
              </a:rPr>
              <a:t> </a:t>
            </a:r>
            <a:r>
              <a:rPr spc="10" dirty="0">
                <a:latin typeface="Calibri"/>
                <a:cs typeface="Calibri"/>
              </a:rPr>
              <a:t>wrong</a:t>
            </a:r>
            <a:r>
              <a:rPr spc="200" dirty="0">
                <a:latin typeface="Calibri"/>
                <a:cs typeface="Calibri"/>
              </a:rPr>
              <a:t> </a:t>
            </a:r>
            <a:r>
              <a:rPr spc="10" dirty="0">
                <a:latin typeface="Calibri"/>
                <a:cs typeface="Calibri"/>
              </a:rPr>
              <a:t>direction</a:t>
            </a:r>
            <a:r>
              <a:rPr spc="200" dirty="0">
                <a:latin typeface="Calibri"/>
                <a:cs typeface="Calibri"/>
              </a:rPr>
              <a:t> </a:t>
            </a:r>
            <a:r>
              <a:rPr spc="10" dirty="0">
                <a:latin typeface="Calibri"/>
                <a:cs typeface="Calibri"/>
              </a:rPr>
              <a:t>for</a:t>
            </a:r>
            <a:r>
              <a:rPr spc="200" dirty="0">
                <a:latin typeface="Calibri"/>
                <a:cs typeface="Calibri"/>
              </a:rPr>
              <a:t> </a:t>
            </a:r>
            <a:r>
              <a:rPr spc="10" dirty="0">
                <a:latin typeface="Calibri"/>
                <a:cs typeface="Calibri"/>
              </a:rPr>
              <a:t>back-</a:t>
            </a:r>
            <a:r>
              <a:rPr spc="-10" dirty="0">
                <a:latin typeface="Calibri"/>
                <a:cs typeface="Calibri"/>
              </a:rPr>
              <a:t>substitution</a:t>
            </a:r>
          </a:p>
          <a:p>
            <a:pPr marL="287655" indent="-175260">
              <a:lnSpc>
                <a:spcPct val="100000"/>
              </a:lnSpc>
              <a:spcBef>
                <a:spcPts val="535"/>
              </a:spcBef>
              <a:buFont typeface="Arial"/>
              <a:buChar char="►"/>
              <a:tabLst>
                <a:tab pos="287655" algn="l"/>
              </a:tabLst>
            </a:pPr>
            <a:r>
              <a:rPr dirty="0">
                <a:latin typeface="Calibri"/>
                <a:cs typeface="Calibri"/>
              </a:rPr>
              <a:t>Forgetting</a:t>
            </a:r>
            <a:r>
              <a:rPr spc="1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1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update</a:t>
            </a:r>
            <a:r>
              <a:rPr spc="1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both</a:t>
            </a:r>
            <a:r>
              <a:rPr spc="170" dirty="0">
                <a:latin typeface="Calibri"/>
                <a:cs typeface="Calibri"/>
              </a:rPr>
              <a:t> </a:t>
            </a:r>
            <a:r>
              <a:rPr spc="-20" dirty="0">
                <a:latin typeface="Courier New"/>
                <a:cs typeface="Courier New"/>
              </a:rPr>
              <a:t>A</a:t>
            </a:r>
            <a:r>
              <a:rPr spc="-240" dirty="0">
                <a:latin typeface="Courier New"/>
                <a:cs typeface="Courier New"/>
              </a:rPr>
              <a:t> </a:t>
            </a:r>
            <a:r>
              <a:rPr spc="55" dirty="0">
                <a:latin typeface="Calibri"/>
                <a:cs typeface="Calibri"/>
              </a:rPr>
              <a:t>and</a:t>
            </a:r>
            <a:r>
              <a:rPr spc="175" dirty="0">
                <a:latin typeface="Calibri"/>
                <a:cs typeface="Calibri"/>
              </a:rPr>
              <a:t> </a:t>
            </a:r>
            <a:r>
              <a:rPr spc="-20" dirty="0">
                <a:latin typeface="Courier New"/>
                <a:cs typeface="Courier New"/>
              </a:rPr>
              <a:t>b</a:t>
            </a:r>
            <a:r>
              <a:rPr spc="-245" dirty="0">
                <a:latin typeface="Courier New"/>
                <a:cs typeface="Courier New"/>
              </a:rPr>
              <a:t> </a:t>
            </a:r>
            <a:r>
              <a:rPr dirty="0">
                <a:latin typeface="Calibri"/>
                <a:cs typeface="Calibri"/>
              </a:rPr>
              <a:t>during</a:t>
            </a:r>
            <a:r>
              <a:rPr spc="17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elimination</a:t>
            </a:r>
          </a:p>
        </p:txBody>
      </p:sp>
      <p:sp>
        <p:nvSpPr>
          <p:cNvPr id="4" name="object 4"/>
          <p:cNvSpPr/>
          <p:nvPr/>
        </p:nvSpPr>
        <p:spPr>
          <a:xfrm>
            <a:off x="144005" y="3083128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120" dirty="0"/>
              <a:t> </a:t>
            </a:r>
            <a:r>
              <a:rPr dirty="0"/>
              <a:t>system</a:t>
            </a:r>
            <a:r>
              <a:rPr spc="120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8259" y="1511348"/>
            <a:ext cx="24237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75" dirty="0">
                <a:solidFill>
                  <a:srgbClr val="F9F9F9"/>
                </a:solidFill>
                <a:latin typeface="Lucida Sans Unicode"/>
                <a:cs typeface="Lucida Sans Unicode"/>
              </a:rPr>
              <a:t>Thank</a:t>
            </a:r>
            <a:r>
              <a:rPr sz="1400" spc="-50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F9F9F9"/>
                </a:solidFill>
                <a:latin typeface="Lucida Sans Unicode"/>
                <a:cs typeface="Lucida Sans Unicode"/>
              </a:rPr>
              <a:t>you</a:t>
            </a:r>
            <a:r>
              <a:rPr sz="1400" spc="-50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F9F9F9"/>
                </a:solidFill>
                <a:latin typeface="Lucida Sans Unicode"/>
                <a:cs typeface="Lucida Sans Unicode"/>
              </a:rPr>
              <a:t>for</a:t>
            </a:r>
            <a:r>
              <a:rPr sz="1400" spc="-45" dirty="0">
                <a:solidFill>
                  <a:srgbClr val="F9F9F9"/>
                </a:solidFill>
                <a:latin typeface="Lucida Sans Unicode"/>
                <a:cs typeface="Lucida Sans Unicode"/>
              </a:rPr>
              <a:t> your</a:t>
            </a:r>
            <a:r>
              <a:rPr sz="1400" spc="-50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9F9F9"/>
                </a:solidFill>
                <a:latin typeface="Lucida Sans Unicode"/>
                <a:cs typeface="Lucida Sans Unicode"/>
              </a:rPr>
              <a:t>attention!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373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Words>2348</Words>
  <Application>Microsoft Office PowerPoint</Application>
  <PresentationFormat>Personalizzato</PresentationFormat>
  <Paragraphs>433</Paragraphs>
  <Slides>21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35" baseType="lpstr">
      <vt:lpstr>Arial</vt:lpstr>
      <vt:lpstr>Bookman Old Style</vt:lpstr>
      <vt:lpstr>Calibri</vt:lpstr>
      <vt:lpstr>Cambria</vt:lpstr>
      <vt:lpstr>Cambria Math</vt:lpstr>
      <vt:lpstr>Century Gothic</vt:lpstr>
      <vt:lpstr>Courier New</vt:lpstr>
      <vt:lpstr>Garamond</vt:lpstr>
      <vt:lpstr>Georgia</vt:lpstr>
      <vt:lpstr>Lucida Sans Unicode</vt:lpstr>
      <vt:lpstr>Times New Roman</vt:lpstr>
      <vt:lpstr>Trebuchet MS</vt:lpstr>
      <vt:lpstr>Verdana</vt:lpstr>
      <vt:lpstr>Office Theme</vt:lpstr>
      <vt:lpstr>Linear System Of Equations Part 1</vt:lpstr>
      <vt:lpstr>Motivation: Why Linear Systems?</vt:lpstr>
      <vt:lpstr>Linear System Of Equations</vt:lpstr>
      <vt:lpstr>Why Not Just Invert the Matrix?</vt:lpstr>
      <vt:lpstr>The Goal: Triangular Systems</vt:lpstr>
      <vt:lpstr>Gauss Elimination: General Algorithm</vt:lpstr>
      <vt:lpstr>Why Triangular Matrices?</vt:lpstr>
      <vt:lpstr>LU Factorization: The Idea</vt:lpstr>
      <vt:lpstr>Solving with LU Decomposition</vt:lpstr>
      <vt:lpstr>Computational Complexity Comparison</vt:lpstr>
      <vt:lpstr>Why Use LU Decomposition?</vt:lpstr>
      <vt:lpstr>When Methods Can Fail</vt:lpstr>
      <vt:lpstr>Presentazione standard di PowerPoint</vt:lpstr>
      <vt:lpstr>Exercise 1: Triangular System Solver</vt:lpstr>
      <vt:lpstr>Exercise 2: Gauss Elimination</vt:lpstr>
      <vt:lpstr>Exercise 3: Complete Linear Solver</vt:lpstr>
      <vt:lpstr>Exercise 4: LU Decomposition</vt:lpstr>
      <vt:lpstr>Expected Solutions</vt:lpstr>
      <vt:lpstr>Coding Best Practices</vt:lpstr>
      <vt:lpstr>Coding Best Practices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System Of Equations Part 1 - Calcoli di Processo dell' Ingegneria Chimica</dc:title>
  <dc:creator>Timoteo Dinelli</dc:creator>
  <cp:lastModifiedBy>Lorenzo Giardini</cp:lastModifiedBy>
  <cp:revision>1</cp:revision>
  <dcterms:created xsi:type="dcterms:W3CDTF">2026-08-11T17:12:09Z</dcterms:created>
  <dcterms:modified xsi:type="dcterms:W3CDTF">2026-08-11T19:04:42Z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2026-08-11T00:00:00Z</vt:filetime>
  </property>
  <property fmtid="{D5CDD505-2E9C-101B-9397-08002B2CF9AE}" pid="5" name="PTEX.FullBanner">
    <vt:lpwstr>This is LuaHBTeX, Version 1.21.0 (TeX Live 2025)</vt:lpwstr>
  </property>
  <property fmtid="{D5CDD505-2E9C-101B-9397-08002B2CF9AE}" pid="6" name="Producer">
    <vt:lpwstr>LuaTeX-1.21.0</vt:lpwstr>
  </property>
</Properties>
</file>