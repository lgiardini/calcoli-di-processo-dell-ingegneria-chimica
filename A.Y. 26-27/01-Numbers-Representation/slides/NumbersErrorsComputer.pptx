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5410"/>
            <a:ext cx="324485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1007666"/>
            <a:ext cx="5063490" cy="1480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9676" y="3080509"/>
            <a:ext cx="125729" cy="132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‹N›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orenzo.giardini@polimi.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books.org/wiki/A-level_Computing/AQA/Paper_2/Fundamentals_of_data_representation/Floating_point_numbers" TargetMode="External"/><Relationship Id="rId2" Type="http://schemas.openxmlformats.org/officeDocument/2006/relationships/hyperlink" Target="https://en.wikipedia.org/wiki/Floating-point_arithmeti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%40lmpo/understanding-model-quantization-for-llms-1573490d44a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late.com/technology/2019/10/round-floor-software-errors-stock-market-battlefield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615109"/>
            <a:ext cx="26765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5" dirty="0">
                <a:solidFill>
                  <a:srgbClr val="22373A"/>
                </a:solidFill>
              </a:rPr>
              <a:t>Numbers,</a:t>
            </a:r>
            <a:r>
              <a:rPr sz="1400" spc="-65" dirty="0">
                <a:solidFill>
                  <a:srgbClr val="22373A"/>
                </a:solidFill>
              </a:rPr>
              <a:t> </a:t>
            </a:r>
            <a:r>
              <a:rPr sz="1400" spc="-35" dirty="0">
                <a:solidFill>
                  <a:srgbClr val="22373A"/>
                </a:solidFill>
              </a:rPr>
              <a:t>errors</a:t>
            </a:r>
            <a:r>
              <a:rPr sz="1400" spc="-75" dirty="0">
                <a:solidFill>
                  <a:srgbClr val="22373A"/>
                </a:solidFill>
              </a:rPr>
              <a:t> </a:t>
            </a:r>
            <a:r>
              <a:rPr sz="1400" spc="-20" dirty="0">
                <a:solidFill>
                  <a:srgbClr val="22373A"/>
                </a:solidFill>
              </a:rPr>
              <a:t>and</a:t>
            </a:r>
            <a:r>
              <a:rPr sz="1400" spc="-70" dirty="0">
                <a:solidFill>
                  <a:srgbClr val="22373A"/>
                </a:solidFill>
              </a:rPr>
              <a:t> </a:t>
            </a:r>
            <a:r>
              <a:rPr sz="1400" spc="-40" dirty="0">
                <a:solidFill>
                  <a:srgbClr val="22373A"/>
                </a:solidFill>
              </a:rPr>
              <a:t>computers.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47294" y="940280"/>
            <a:ext cx="29425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Calcoli</a:t>
            </a:r>
            <a:r>
              <a:rPr sz="12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Processo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dell’</a:t>
            </a:r>
            <a:r>
              <a:rPr sz="12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2373A"/>
                </a:solidFill>
                <a:latin typeface="Calibri"/>
                <a:cs typeface="Calibri"/>
              </a:rPr>
              <a:t>Ingegneria</a:t>
            </a:r>
            <a:r>
              <a:rPr sz="12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373A"/>
                </a:solidFill>
                <a:latin typeface="Calibri"/>
                <a:cs typeface="Calibri"/>
              </a:rPr>
              <a:t>Chimica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4" y="1373549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011E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9194" y="1612640"/>
            <a:ext cx="4498340" cy="731611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25"/>
              </a:spcBef>
            </a:pPr>
            <a:r>
              <a:rPr lang="it-IT" sz="1000" spc="-55" dirty="0">
                <a:solidFill>
                  <a:srgbClr val="22373A"/>
                </a:solidFill>
                <a:latin typeface="Lucida Sans Unicode"/>
                <a:cs typeface="Lucida Sans Unicode"/>
              </a:rPr>
              <a:t>Lorenzo Giardini</a:t>
            </a:r>
            <a:endParaRPr lang="it-IT" sz="1000" dirty="0">
              <a:latin typeface="Lucida Sans Unicode"/>
              <a:cs typeface="Lucida Sans Unicode"/>
            </a:endParaRPr>
          </a:p>
          <a:p>
            <a:pPr marL="56515">
              <a:lnSpc>
                <a:spcPct val="100000"/>
              </a:lnSpc>
              <a:spcBef>
                <a:spcPts val="940"/>
              </a:spcBef>
            </a:pP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Department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Chemistry,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Materials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Chemical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Enginering,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“Giulio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22373A"/>
                </a:solidFill>
                <a:latin typeface="Calibri"/>
                <a:cs typeface="Calibri"/>
              </a:rPr>
              <a:t>Natta”,</a:t>
            </a:r>
            <a:r>
              <a:rPr sz="8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Politecnico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10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8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</a:rPr>
              <a:t>Milano.</a:t>
            </a:r>
            <a:endParaRPr sz="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8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800" spc="-20" dirty="0">
                <a:solidFill>
                  <a:srgbClr val="22373A"/>
                </a:solidFill>
                <a:latin typeface="Lucida Sans Unicode"/>
                <a:cs typeface="Lucida Sans Unicode"/>
              </a:rPr>
              <a:t>email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sz="8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l</a:t>
            </a:r>
            <a:r>
              <a:rPr lang="it-IT" sz="800" spc="-10" dirty="0" err="1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orenzo.giardin</a:t>
            </a:r>
            <a:r>
              <a:rPr sz="800" spc="-10" dirty="0">
                <a:solidFill>
                  <a:srgbClr val="22373A"/>
                </a:solidFill>
                <a:latin typeface="Calibri"/>
                <a:cs typeface="Calibri"/>
                <a:hlinkClick r:id="rId2"/>
              </a:rPr>
              <a:t>i@polimi.it</a:t>
            </a:r>
            <a:endParaRPr sz="8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18505" y="171782"/>
            <a:ext cx="1022985" cy="736600"/>
            <a:chOff x="4518505" y="171782"/>
            <a:chExt cx="1022985" cy="736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8505" y="575904"/>
              <a:ext cx="1002895" cy="3322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4084" y="171782"/>
              <a:ext cx="1017309" cy="36796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Numbers</a:t>
            </a:r>
            <a:r>
              <a:rPr spc="-60" dirty="0"/>
              <a:t> </a:t>
            </a:r>
            <a:r>
              <a:rPr spc="-40" dirty="0"/>
              <a:t>representation.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24927"/>
            <a:ext cx="5054600" cy="101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“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i="1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computing,</a:t>
            </a:r>
            <a:r>
              <a:rPr sz="1100" i="1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EB801A"/>
                </a:solidFill>
                <a:latin typeface="Calibri"/>
                <a:cs typeface="Calibri"/>
              </a:rPr>
              <a:t>floating-</a:t>
            </a:r>
            <a:r>
              <a:rPr sz="1100" i="1" spc="50" dirty="0">
                <a:solidFill>
                  <a:srgbClr val="EB801A"/>
                </a:solidFill>
                <a:latin typeface="Calibri"/>
                <a:cs typeface="Calibri"/>
              </a:rPr>
              <a:t>point</a:t>
            </a:r>
            <a:r>
              <a:rPr sz="1100" i="1" spc="21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EB801A"/>
                </a:solidFill>
                <a:latin typeface="Calibri"/>
                <a:cs typeface="Calibri"/>
              </a:rPr>
              <a:t>arithmetic</a:t>
            </a:r>
            <a:r>
              <a:rPr sz="1100" i="1" spc="21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EB801A"/>
                </a:solidFill>
                <a:latin typeface="Calibri"/>
                <a:cs typeface="Calibri"/>
              </a:rPr>
              <a:t>(</a:t>
            </a:r>
            <a:r>
              <a:rPr sz="1100" i="1" spc="10" dirty="0">
                <a:solidFill>
                  <a:srgbClr val="EB801A"/>
                </a:solidFill>
                <a:latin typeface="Corbel"/>
                <a:cs typeface="Corbel"/>
              </a:rPr>
              <a:t>FP</a:t>
            </a:r>
            <a:r>
              <a:rPr sz="1100" i="1" spc="10" dirty="0">
                <a:solidFill>
                  <a:srgbClr val="EB801A"/>
                </a:solidFill>
                <a:latin typeface="Calibri"/>
                <a:cs typeface="Calibri"/>
              </a:rPr>
              <a:t>)</a:t>
            </a:r>
            <a:r>
              <a:rPr sz="1100" i="1" spc="21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i="1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arithmetic</a:t>
            </a:r>
            <a:r>
              <a:rPr sz="1100" i="1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100" i="1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represents</a:t>
            </a:r>
            <a:r>
              <a:rPr sz="1100" i="1" spc="2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45" dirty="0">
                <a:solidFill>
                  <a:srgbClr val="22373A"/>
                </a:solidFill>
                <a:latin typeface="Calibri"/>
                <a:cs typeface="Calibri"/>
              </a:rPr>
              <a:t>subsets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i="1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real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Calibri"/>
                <a:cs typeface="Calibri"/>
              </a:rPr>
              <a:t>numbers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60" dirty="0">
                <a:solidFill>
                  <a:srgbClr val="22373A"/>
                </a:solidFill>
                <a:latin typeface="Calibri"/>
                <a:cs typeface="Calibri"/>
              </a:rPr>
              <a:t>using</a:t>
            </a:r>
            <a:r>
              <a:rPr sz="1100" i="1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integer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i="1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fixed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precision,</a:t>
            </a:r>
            <a:r>
              <a:rPr sz="1100" i="1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called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i="1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Calibri"/>
                <a:cs typeface="Calibri"/>
              </a:rPr>
              <a:t>significand,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scaled</a:t>
            </a:r>
            <a:r>
              <a:rPr sz="1100" i="1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Calibri"/>
                <a:cs typeface="Calibri"/>
              </a:rPr>
              <a:t>an</a:t>
            </a:r>
            <a:r>
              <a:rPr sz="1100" i="1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integer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exponent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i="1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fixed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base.</a:t>
            </a:r>
            <a:r>
              <a:rPr sz="1100" i="1" spc="2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Numbers</a:t>
            </a:r>
            <a:r>
              <a:rPr sz="1100" i="1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this</a:t>
            </a:r>
            <a:r>
              <a:rPr sz="1100" i="1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form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10" dirty="0">
                <a:solidFill>
                  <a:srgbClr val="22373A"/>
                </a:solidFill>
                <a:latin typeface="Calibri"/>
                <a:cs typeface="Calibri"/>
              </a:rPr>
              <a:t>are</a:t>
            </a:r>
            <a:r>
              <a:rPr sz="1100" i="1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22373A"/>
                </a:solidFill>
                <a:latin typeface="Calibri"/>
                <a:cs typeface="Calibri"/>
              </a:rPr>
              <a:t>called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i="1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i="1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numbers.</a:t>
            </a:r>
            <a:r>
              <a:rPr sz="1100" i="1" spc="3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example,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-50" dirty="0">
                <a:solidFill>
                  <a:srgbClr val="22373A"/>
                </a:solidFill>
                <a:latin typeface="Calibri"/>
                <a:cs typeface="Calibri"/>
              </a:rPr>
              <a:t>12.345</a:t>
            </a:r>
            <a:r>
              <a:rPr sz="1100" i="1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i="1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i="1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50" dirty="0">
                <a:solidFill>
                  <a:srgbClr val="22373A"/>
                </a:solidFill>
                <a:latin typeface="Calibri"/>
                <a:cs typeface="Calibri"/>
              </a:rPr>
              <a:t>number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55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30" dirty="0">
                <a:solidFill>
                  <a:srgbClr val="22373A"/>
                </a:solidFill>
                <a:latin typeface="Calibri"/>
                <a:cs typeface="Calibri"/>
              </a:rPr>
              <a:t>base</a:t>
            </a:r>
            <a:r>
              <a:rPr sz="1100" i="1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ten</a:t>
            </a:r>
            <a:r>
              <a:rPr sz="1100" i="1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five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digits</a:t>
            </a:r>
            <a:r>
              <a:rPr sz="1100" i="1" spc="1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i="1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alibri"/>
                <a:cs typeface="Calibri"/>
              </a:rPr>
              <a:t>precision.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”</a:t>
            </a:r>
            <a:r>
              <a:rPr sz="1100" spc="3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Wikipedia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8891" y="171312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0920" y="1707718"/>
            <a:ext cx="348615" cy="196215"/>
          </a:xfrm>
          <a:prstGeom prst="rect">
            <a:avLst/>
          </a:prstGeom>
          <a:solidFill>
            <a:srgbClr val="D1DBF0"/>
          </a:solidFill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060"/>
              </a:lnSpc>
            </a:pPr>
            <a:r>
              <a:rPr sz="1650" spc="-30" baseline="-20202" dirty="0">
                <a:solidFill>
                  <a:srgbClr val="22373A"/>
                </a:solidFill>
                <a:latin typeface="Calibri"/>
                <a:cs typeface="Calibri"/>
              </a:rPr>
              <a:t>10</a:t>
            </a:r>
            <a:r>
              <a:rPr sz="800" i="1" spc="-20" dirty="0">
                <a:solidFill>
                  <a:srgbClr val="22373A"/>
                </a:solidFill>
                <a:latin typeface="Arial"/>
                <a:cs typeface="Arial"/>
              </a:rPr>
              <a:t>−</a:t>
            </a:r>
            <a:r>
              <a:rPr sz="800" spc="-20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92370" y="1730231"/>
          <a:ext cx="1478280" cy="400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815">
                <a:tc>
                  <a:txBody>
                    <a:bodyPr/>
                    <a:lstStyle/>
                    <a:p>
                      <a:pPr marL="518159">
                        <a:lnSpc>
                          <a:spcPts val="1245"/>
                        </a:lnSpc>
                      </a:pPr>
                      <a:r>
                        <a:rPr sz="1100" spc="-3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12</a:t>
                      </a:r>
                      <a:r>
                        <a:rPr sz="1100" i="1" spc="-30" dirty="0">
                          <a:solidFill>
                            <a:srgbClr val="22373A"/>
                          </a:solidFill>
                          <a:latin typeface="Century Gothic"/>
                          <a:cs typeface="Century Gothic"/>
                        </a:rPr>
                        <a:t>.</a:t>
                      </a:r>
                      <a:r>
                        <a:rPr sz="1100" spc="-3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345</a:t>
                      </a:r>
                      <a:r>
                        <a:rPr sz="1100" spc="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7465">
                        <a:lnSpc>
                          <a:spcPts val="1245"/>
                        </a:lnSpc>
                      </a:pPr>
                      <a:r>
                        <a:rPr sz="11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12345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D3E1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870">
                <a:tc gridSpan="2"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900" spc="20" dirty="0">
                          <a:solidFill>
                            <a:srgbClr val="568D47"/>
                          </a:solidFill>
                          <a:latin typeface="Calibri"/>
                          <a:cs typeface="Calibri"/>
                        </a:rPr>
                        <a:t>Significand</a:t>
                      </a:r>
                      <a:r>
                        <a:rPr sz="900" spc="215" dirty="0">
                          <a:solidFill>
                            <a:srgbClr val="568D4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568D47"/>
                          </a:solidFill>
                          <a:latin typeface="Calibri"/>
                          <a:cs typeface="Calibri"/>
                        </a:rPr>
                        <a:t>(Mantissa)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R w="6350">
                      <a:solidFill>
                        <a:srgbClr val="3C7F31"/>
                      </a:solidFill>
                      <a:prstDash val="solid"/>
                    </a:lnR>
                    <a:lnB w="6350">
                      <a:solidFill>
                        <a:srgbClr val="3C7F3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C7F31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846760" y="1906386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39" h="40639">
                <a:moveTo>
                  <a:pt x="0" y="40487"/>
                </a:moveTo>
                <a:lnTo>
                  <a:pt x="20243" y="25305"/>
                </a:lnTo>
                <a:lnTo>
                  <a:pt x="40487" y="40487"/>
                </a:lnTo>
                <a:lnTo>
                  <a:pt x="20243" y="0"/>
                </a:lnTo>
                <a:lnTo>
                  <a:pt x="0" y="40487"/>
                </a:lnTo>
                <a:close/>
              </a:path>
            </a:pathLst>
          </a:custGeom>
          <a:solidFill>
            <a:srgbClr val="3C7F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54526" y="1945685"/>
            <a:ext cx="49910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317CC0"/>
                </a:solidFill>
                <a:latin typeface="Calibri"/>
                <a:cs typeface="Calibri"/>
              </a:rPr>
              <a:t>Exponent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54961" y="1906386"/>
            <a:ext cx="1036955" cy="221615"/>
            <a:chOff x="3454961" y="1906386"/>
            <a:chExt cx="1036955" cy="221615"/>
          </a:xfrm>
        </p:grpSpPr>
        <p:sp>
          <p:nvSpPr>
            <p:cNvPr id="10" name="object 10"/>
            <p:cNvSpPr/>
            <p:nvPr/>
          </p:nvSpPr>
          <p:spPr>
            <a:xfrm>
              <a:off x="3475205" y="1931691"/>
              <a:ext cx="1014730" cy="193675"/>
            </a:xfrm>
            <a:custGeom>
              <a:avLst/>
              <a:gdLst/>
              <a:ahLst/>
              <a:cxnLst/>
              <a:rect l="l" t="t" r="r" b="b"/>
              <a:pathLst>
                <a:path w="1014729" h="193675">
                  <a:moveTo>
                    <a:pt x="0" y="0"/>
                  </a:moveTo>
                  <a:lnTo>
                    <a:pt x="0" y="193591"/>
                  </a:lnTo>
                  <a:lnTo>
                    <a:pt x="1014141" y="193591"/>
                  </a:lnTo>
                </a:path>
              </a:pathLst>
            </a:custGeom>
            <a:ln w="5060">
              <a:solidFill>
                <a:srgbClr val="006E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54961" y="1906386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0" y="40487"/>
                  </a:moveTo>
                  <a:lnTo>
                    <a:pt x="20243" y="25305"/>
                  </a:lnTo>
                  <a:lnTo>
                    <a:pt x="40487" y="40487"/>
                  </a:lnTo>
                  <a:lnTo>
                    <a:pt x="20243" y="0"/>
                  </a:lnTo>
                  <a:lnTo>
                    <a:pt x="0" y="40487"/>
                  </a:lnTo>
                  <a:close/>
                </a:path>
              </a:pathLst>
            </a:custGeom>
            <a:solidFill>
              <a:srgbClr val="006E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7294" y="2314180"/>
            <a:ext cx="2197735" cy="704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Additional</a:t>
            </a:r>
            <a:r>
              <a:rPr sz="1100" spc="25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RECOMMENDED</a:t>
            </a:r>
            <a:r>
              <a:rPr sz="1100" spc="25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read: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980"/>
              </a:spcBef>
              <a:buClr>
                <a:srgbClr val="22373A"/>
              </a:buClr>
              <a:buFont typeface="Arial"/>
              <a:buChar char="►"/>
              <a:tabLst>
                <a:tab pos="287655" algn="l"/>
              </a:tabLst>
            </a:pPr>
            <a:r>
              <a:rPr sz="110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Floating</a:t>
            </a:r>
            <a:r>
              <a:rPr sz="1100" spc="305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10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point</a:t>
            </a:r>
            <a:r>
              <a:rPr sz="1100" spc="3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representations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87655" indent="-175260">
              <a:lnSpc>
                <a:spcPct val="100000"/>
              </a:lnSpc>
              <a:spcBef>
                <a:spcPts val="415"/>
              </a:spcBef>
              <a:buClr>
                <a:srgbClr val="22373A"/>
              </a:buClr>
              <a:buFont typeface="Arial"/>
              <a:buChar char="►"/>
              <a:tabLst>
                <a:tab pos="287655" algn="l"/>
              </a:tabLst>
            </a:pPr>
            <a:r>
              <a:rPr sz="1100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LLM</a:t>
            </a:r>
            <a:r>
              <a:rPr sz="1100" spc="45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Calibri"/>
                <a:cs typeface="Calibri"/>
                <a:hlinkClick r:id="rId4"/>
              </a:rPr>
              <a:t>quantization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Elementary</a:t>
            </a:r>
            <a:r>
              <a:rPr spc="-25" dirty="0"/>
              <a:t> </a:t>
            </a:r>
            <a:r>
              <a:rPr spc="-35" dirty="0"/>
              <a:t>operations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34594" y="408897"/>
            <a:ext cx="4649470" cy="7435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80"/>
              </a:spcBef>
            </a:pP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Initialize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single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variable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MATLAB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(e.g.</a:t>
            </a:r>
            <a:r>
              <a:rPr sz="1000" spc="2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x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0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000" i="1" spc="10" dirty="0">
                <a:solidFill>
                  <a:srgbClr val="22373A"/>
                </a:solidFill>
                <a:latin typeface="Calibri"/>
                <a:cs typeface="Calibri"/>
              </a:rPr>
              <a:t>e</a:t>
            </a:r>
            <a:r>
              <a:rPr sz="1050" spc="15" baseline="27777" dirty="0">
                <a:solidFill>
                  <a:srgbClr val="22373A"/>
                </a:solidFill>
                <a:latin typeface="Verdana"/>
                <a:cs typeface="Verdana"/>
              </a:rPr>
              <a:t>+</a:t>
            </a:r>
            <a:r>
              <a:rPr sz="1050" spc="15" baseline="27777" dirty="0">
                <a:solidFill>
                  <a:srgbClr val="22373A"/>
                </a:solidFill>
                <a:latin typeface="Calibri"/>
                <a:cs typeface="Calibri"/>
              </a:rPr>
              <a:t>25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using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function:</a:t>
            </a:r>
            <a:endParaRPr sz="1000">
              <a:latin typeface="Calibri"/>
              <a:cs typeface="Calibri"/>
            </a:endParaRPr>
          </a:p>
          <a:p>
            <a:pPr marL="1938020">
              <a:lnSpc>
                <a:spcPct val="100000"/>
              </a:lnSpc>
              <a:spcBef>
                <a:spcPts val="254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x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1.e+25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25400" marR="17780">
              <a:lnSpc>
                <a:spcPct val="114599"/>
              </a:lnSpc>
              <a:spcBef>
                <a:spcPts val="90"/>
              </a:spcBef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Working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single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predict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calculate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x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Calibri"/>
                <a:cs typeface="Calibri"/>
              </a:rPr>
              <a:t>1.e+25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y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=</a:t>
            </a:r>
            <a:r>
              <a:rPr sz="10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solidFill>
                  <a:srgbClr val="22373A"/>
                </a:solidFill>
                <a:latin typeface="Calibri"/>
                <a:cs typeface="Calibri"/>
              </a:rPr>
              <a:t>1.e+18</a:t>
            </a:r>
            <a:r>
              <a:rPr sz="10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 following</a:t>
            </a:r>
            <a:r>
              <a:rPr sz="1000" spc="204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values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000" spc="2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z: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4005" y="1275384"/>
          <a:ext cx="5471157" cy="1803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9545"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00" spc="-3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Single</a:t>
                      </a:r>
                      <a:r>
                        <a:rPr sz="1000" spc="-4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Precision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00" spc="-4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Double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Precision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80"/>
                        </a:lnSpc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9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1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000" i="1" spc="3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30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000" spc="-8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00" i="1" spc="-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inf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1.0000e+43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1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10000000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10000000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1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1.0000e-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07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1.0000e-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07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1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050" spc="-37" baseline="27777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50" baseline="27777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inf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1.0000e+50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1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1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050" spc="-37" baseline="27777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050" baseline="27777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1.0000e+36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1.0000e+36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7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entury Gothic"/>
                          <a:cs typeface="Century Gothic"/>
                        </a:rPr>
                        <a:t>./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000" i="1" spc="2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30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000" spc="-90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00" i="1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spc="-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1.0000e-</a:t>
                      </a:r>
                      <a:r>
                        <a:rPr sz="1000" spc="4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1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Century Gothic"/>
                          <a:cs typeface="Century Gothic"/>
                        </a:rPr>
                        <a:t>./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sz="1000" i="1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9.9492e-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44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1.0000e-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9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1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</a:t>
                      </a:r>
                      <a:r>
                        <a:rPr sz="1000" spc="-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000" i="1" spc="6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000" spc="-7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000" i="1" spc="-2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000" spc="-2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1.0000e+18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1.0000e+18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000" i="1" spc="10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=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000" i="1" spc="4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30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000" spc="-6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entury Gothic"/>
                          <a:cs typeface="Century Gothic"/>
                        </a:rPr>
                        <a:t>/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(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000" i="1" spc="4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30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000" spc="-65" dirty="0">
                          <a:solidFill>
                            <a:srgbClr val="22373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000" i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000" i="1" spc="6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000" spc="-6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000" spc="-25" dirty="0">
                          <a:solidFill>
                            <a:srgbClr val="22373A"/>
                          </a:solidFill>
                          <a:latin typeface="Tahoma"/>
                          <a:cs typeface="Tahoma"/>
                        </a:rPr>
                        <a:t>)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000" spc="-5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0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11E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011E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011E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22373A"/>
                      </a:solidFill>
                      <a:prstDash val="solid"/>
                    </a:lnT>
                    <a:lnB w="6350">
                      <a:solidFill>
                        <a:srgbClr val="011E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11E3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88882" y="1529661"/>
            <a:ext cx="782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Exercises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Compute</a:t>
            </a:r>
            <a:r>
              <a:rPr spc="-45" dirty="0"/>
              <a:t> </a:t>
            </a:r>
            <a:r>
              <a:rPr spc="-40" dirty="0"/>
              <a:t>the </a:t>
            </a:r>
            <a:r>
              <a:rPr spc="-50" dirty="0"/>
              <a:t>Machine</a:t>
            </a:r>
            <a:r>
              <a:rPr spc="-45" dirty="0"/>
              <a:t> </a:t>
            </a:r>
            <a:r>
              <a:rPr spc="-40" dirty="0"/>
              <a:t>Epsilon </a:t>
            </a:r>
            <a:r>
              <a:rPr spc="-45" dirty="0"/>
              <a:t>(MACHEPS)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723732"/>
            <a:ext cx="5116830" cy="198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8000"/>
              </a:lnSpc>
              <a:spcBef>
                <a:spcPts val="100"/>
              </a:spcBef>
            </a:pP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Machine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epsilon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(denoted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as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i="1" spc="20" dirty="0">
                <a:solidFill>
                  <a:srgbClr val="22373A"/>
                </a:solidFill>
                <a:latin typeface="Century Gothic"/>
                <a:cs typeface="Century Gothic"/>
              </a:rPr>
              <a:t>ε</a:t>
            </a:r>
            <a:r>
              <a:rPr sz="1200" spc="30" baseline="-13888" dirty="0">
                <a:solidFill>
                  <a:srgbClr val="22373A"/>
                </a:solidFill>
                <a:latin typeface="Calibri"/>
                <a:cs typeface="Calibri"/>
              </a:rPr>
              <a:t>mach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smallest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positive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number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such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that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i="1" spc="-2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sz="1100" spc="-1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ε</a:t>
            </a:r>
            <a:r>
              <a:rPr sz="1200" baseline="-13888" dirty="0">
                <a:solidFill>
                  <a:srgbClr val="22373A"/>
                </a:solidFill>
                <a:latin typeface="Calibri"/>
                <a:cs typeface="Calibri"/>
              </a:rPr>
              <a:t>mach</a:t>
            </a:r>
            <a:r>
              <a:rPr sz="1200" spc="434" baseline="-13888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560" dirty="0">
                <a:solidFill>
                  <a:srgbClr val="22373A"/>
                </a:solidFill>
                <a:latin typeface="Lucida Sans Unicode"/>
                <a:cs typeface="Lucida Sans Unicode"/>
              </a:rPr>
              <a:t>/</a:t>
            </a:r>
            <a:r>
              <a:rPr sz="1100" spc="25" dirty="0">
                <a:solidFill>
                  <a:srgbClr val="22373A"/>
                </a:solidFill>
                <a:latin typeface="Tahoma"/>
                <a:cs typeface="Tahoma"/>
              </a:rPr>
              <a:t>=</a:t>
            </a:r>
            <a:r>
              <a:rPr sz="1100" spc="7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arithmetic.</a:t>
            </a:r>
            <a:r>
              <a:rPr sz="1100" spc="3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It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represents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relative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numbers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fundamental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constant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given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format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(e.g.,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approximately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i="1" spc="-3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22</a:t>
            </a:r>
            <a:r>
              <a:rPr sz="1100" spc="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2373A"/>
                </a:solidFill>
                <a:latin typeface="Lucida Sans Unicode"/>
                <a:cs typeface="Lucida Sans Unicode"/>
              </a:rPr>
              <a:t>×</a:t>
            </a:r>
            <a:r>
              <a:rPr sz="1100" spc="5" dirty="0">
                <a:solidFill>
                  <a:srgbClr val="22373A"/>
                </a:solidFill>
                <a:latin typeface="Lucida Sans Unicode"/>
                <a:cs typeface="Lucida Sans Unicode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10</a:t>
            </a:r>
            <a:r>
              <a:rPr sz="1200" i="1" baseline="27777" dirty="0">
                <a:solidFill>
                  <a:srgbClr val="22373A"/>
                </a:solidFill>
                <a:latin typeface="Arial"/>
                <a:cs typeface="Arial"/>
              </a:rPr>
              <a:t>−</a:t>
            </a:r>
            <a:r>
              <a:rPr sz="1200" baseline="27777" dirty="0">
                <a:solidFill>
                  <a:srgbClr val="22373A"/>
                </a:solidFill>
                <a:latin typeface="Calibri"/>
                <a:cs typeface="Calibri"/>
              </a:rPr>
              <a:t>16</a:t>
            </a:r>
            <a:r>
              <a:rPr sz="1200" spc="472" baseline="27777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for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double</a:t>
            </a:r>
            <a:r>
              <a:rPr sz="1100" spc="19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precision).</a:t>
            </a:r>
            <a:endParaRPr sz="1100">
              <a:latin typeface="Calibri"/>
              <a:cs typeface="Calibri"/>
            </a:endParaRPr>
          </a:p>
          <a:p>
            <a:pPr marL="38100" marR="348615">
              <a:lnSpc>
                <a:spcPct val="118000"/>
              </a:lnSpc>
              <a:spcBef>
                <a:spcPts val="545"/>
              </a:spcBef>
            </a:pP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Machine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epsilon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important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2373A"/>
                </a:solidFill>
                <a:latin typeface="Calibri"/>
                <a:cs typeface="Calibri"/>
              </a:rPr>
              <a:t>because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it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quantifies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limit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7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precision</a:t>
            </a:r>
            <a:r>
              <a:rPr sz="1100" spc="16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in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numerical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computations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helps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estimate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round-off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1100" spc="16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calculations.</a:t>
            </a:r>
            <a:endParaRPr sz="1100">
              <a:latin typeface="Calibri"/>
              <a:cs typeface="Calibri"/>
            </a:endParaRPr>
          </a:p>
          <a:p>
            <a:pPr marL="313055" marR="127635" indent="-175260" algn="just">
              <a:lnSpc>
                <a:spcPct val="118000"/>
              </a:lnSpc>
              <a:spcBef>
                <a:spcPts val="844"/>
              </a:spcBef>
              <a:buFont typeface="Arial"/>
              <a:buChar char="►"/>
              <a:tabLst>
                <a:tab pos="3149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algorithm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iterates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halving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epsilon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until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i="1" spc="-20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Tahoma"/>
                <a:cs typeface="Tahoma"/>
              </a:rPr>
              <a:t>+</a:t>
            </a:r>
            <a:r>
              <a:rPr sz="1100" spc="-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ε/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is</a:t>
            </a:r>
            <a:r>
              <a:rPr sz="1100" spc="1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indistinguishable 	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from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i="1" dirty="0">
                <a:solidFill>
                  <a:srgbClr val="22373A"/>
                </a:solidFill>
                <a:latin typeface="Century Gothic"/>
                <a:cs typeface="Century Gothic"/>
              </a:rPr>
              <a:t>.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floating-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arithmetic.</a:t>
            </a:r>
            <a:r>
              <a:rPr sz="1100" spc="3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At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this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point,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we’ve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found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machine 	epsilon.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8627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7653" y="637269"/>
            <a:ext cx="5309541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function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epsilon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 err="1">
                <a:solidFill>
                  <a:srgbClr val="0000FF"/>
                </a:solidFill>
                <a:latin typeface="Courier New"/>
                <a:cs typeface="Courier New"/>
              </a:rPr>
              <a:t>macheps_implementation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lang="it-IT" sz="900" spc="-10" dirty="0" err="1">
                <a:solidFill>
                  <a:srgbClr val="22373A"/>
                </a:solidFill>
                <a:latin typeface="Courier New"/>
                <a:cs typeface="Courier New"/>
              </a:rPr>
              <a:t>num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lang="it-IT" sz="900" spc="-1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% ‘</a:t>
            </a:r>
            <a:r>
              <a:rPr lang="it-IT" sz="900" spc="-10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num</a:t>
            </a:r>
            <a:r>
              <a:rPr lang="it-IT" sz="900" spc="-1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’ </a:t>
            </a:r>
            <a:r>
              <a:rPr lang="it-IT" sz="900" spc="-10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is</a:t>
            </a:r>
            <a:r>
              <a:rPr lang="it-IT" sz="900" spc="-1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 the input </a:t>
            </a:r>
            <a:r>
              <a:rPr lang="it-IT" sz="900" spc="-10" dirty="0" err="1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number</a:t>
            </a:r>
            <a:endParaRPr sz="900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58700"/>
              </p:ext>
            </p:extLst>
          </p:nvPr>
        </p:nvGraphicFramePr>
        <p:xfrm>
          <a:off x="218605" y="774983"/>
          <a:ext cx="5180330" cy="1293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0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600" b="0" spc="-5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2</a:t>
                      </a:r>
                      <a:endParaRPr sz="600">
                        <a:latin typeface="Bookman Old Style"/>
                        <a:cs typeface="Bookman Old Style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it-IT" sz="900" spc="-5" dirty="0" err="1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num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%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Initialize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it-IT" sz="900" i="1" spc="-5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the </a:t>
                      </a:r>
                      <a:r>
                        <a:rPr lang="it-IT" sz="900" i="1" spc="-50" dirty="0" err="1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same</a:t>
                      </a:r>
                      <a:r>
                        <a:rPr lang="it-IT" sz="900" i="1" spc="-5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it-IT" sz="900" i="1" spc="-50" dirty="0" err="1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r>
                        <a:rPr lang="it-IT" sz="900" i="1" spc="-5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it-IT" sz="900" i="1" spc="-50" dirty="0" err="1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lang="it-IT" sz="900" i="1" spc="-5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the input</a:t>
                      </a:r>
                      <a:endParaRPr sz="900" dirty="0">
                        <a:latin typeface="Courier New"/>
                        <a:cs typeface="Courier New"/>
                      </a:endParaRPr>
                    </a:p>
                  </a:txBody>
                  <a:tcPr marL="0" marR="0" marT="508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0" spc="-5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3</a:t>
                      </a:r>
                      <a:endParaRPr sz="600">
                        <a:latin typeface="Bookman Old Style"/>
                        <a:cs typeface="Bookman Old Style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dirty="0">
                          <a:solidFill>
                            <a:srgbClr val="007F00"/>
                          </a:solidFill>
                          <a:latin typeface="Courier New"/>
                          <a:cs typeface="Courier New"/>
                        </a:rPr>
                        <a:t>while</a:t>
                      </a:r>
                      <a:r>
                        <a:rPr sz="900" spc="-10" dirty="0">
                          <a:solidFill>
                            <a:srgbClr val="007F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lang="it-IT" sz="900" dirty="0" err="1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num</a:t>
                      </a:r>
                      <a:r>
                        <a:rPr sz="900" spc="-5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900" spc="-5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/2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sz="900" spc="-5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it-IT" sz="900" spc="-25" dirty="0" err="1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num</a:t>
                      </a:r>
                      <a:endParaRPr sz="900" dirty="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0" spc="-5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4</a:t>
                      </a:r>
                      <a:endParaRPr sz="600">
                        <a:latin typeface="Bookman Old Style"/>
                        <a:cs typeface="Bookman Old Style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%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Iterate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1.0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epsilon/2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distinguishable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spc="-2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i="1" spc="-2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1.0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0" spc="-5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5</a:t>
                      </a:r>
                      <a:endParaRPr sz="600">
                        <a:latin typeface="Bookman Old Style"/>
                        <a:cs typeface="Bookman Old Style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900" spc="-5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%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Halve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each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iteration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0" spc="-5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6</a:t>
                      </a:r>
                      <a:endParaRPr sz="600">
                        <a:latin typeface="Bookman Old Style"/>
                        <a:cs typeface="Bookman Old Style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spc="-25" dirty="0">
                          <a:solidFill>
                            <a:srgbClr val="007F00"/>
                          </a:solidFill>
                          <a:latin typeface="Courier New"/>
                          <a:cs typeface="Courier New"/>
                        </a:rPr>
                        <a:t>end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0" spc="-5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7</a:t>
                      </a:r>
                      <a:endParaRPr sz="600">
                        <a:latin typeface="Bookman Old Style"/>
                        <a:cs typeface="Bookman Old Style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%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end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loop,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machine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600" b="0" spc="-5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8</a:t>
                      </a:r>
                      <a:endParaRPr sz="600">
                        <a:latin typeface="Bookman Old Style"/>
                        <a:cs typeface="Bookman Old Style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%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(the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smallest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1.0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epsilon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sz="900" i="1" spc="-5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i="1" spc="-20" dirty="0">
                          <a:solidFill>
                            <a:srgbClr val="3D7A7A"/>
                          </a:solidFill>
                          <a:latin typeface="Courier New"/>
                          <a:cs typeface="Courier New"/>
                        </a:rPr>
                        <a:t>1.0)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600" b="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9</a:t>
                      </a:r>
                      <a:r>
                        <a:rPr sz="600" b="0" spc="280" dirty="0">
                          <a:solidFill>
                            <a:srgbClr val="22373A"/>
                          </a:solidFill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900" spc="-25" dirty="0">
                          <a:solidFill>
                            <a:srgbClr val="007F00"/>
                          </a:solidFill>
                          <a:latin typeface="Courier New"/>
                          <a:cs typeface="Courier New"/>
                        </a:rPr>
                        <a:t>end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3810" marB="0"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22373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59994" y="260306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2206192"/>
            <a:ext cx="3851910" cy="6783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22373A"/>
                </a:solidFill>
                <a:latin typeface="Lucida Sans Unicode"/>
                <a:cs typeface="Lucida Sans Unicode"/>
              </a:rPr>
              <a:t>Usage:</a:t>
            </a:r>
            <a:endParaRPr sz="11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eps_computed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 err="1">
                <a:solidFill>
                  <a:srgbClr val="22373A"/>
                </a:solidFill>
                <a:latin typeface="Courier New"/>
                <a:cs typeface="Courier New"/>
              </a:rPr>
              <a:t>macheps_implementation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lang="it-IT" sz="900" spc="-10" dirty="0">
                <a:solidFill>
                  <a:srgbClr val="22373A"/>
                </a:solidFill>
                <a:latin typeface="Courier New"/>
                <a:cs typeface="Courier New"/>
              </a:rPr>
              <a:t>1.0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52270" algn="l"/>
              </a:tabLst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eps_builtin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eps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1.0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	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Compare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with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built-in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function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3010014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Sum</a:t>
            </a:r>
            <a:r>
              <a:rPr spc="-50" dirty="0"/>
              <a:t> </a:t>
            </a:r>
            <a:r>
              <a:rPr spc="-45" dirty="0"/>
              <a:t>of</a:t>
            </a:r>
            <a:r>
              <a:rPr spc="-50" dirty="0"/>
              <a:t> </a:t>
            </a:r>
            <a:r>
              <a:rPr spc="-40" dirty="0"/>
              <a:t>the</a:t>
            </a:r>
            <a:r>
              <a:rPr spc="-45" dirty="0"/>
              <a:t> inverse</a:t>
            </a:r>
            <a:r>
              <a:rPr spc="-50" dirty="0"/>
              <a:t> </a:t>
            </a:r>
            <a:r>
              <a:rPr spc="-45" dirty="0"/>
              <a:t>of </a:t>
            </a:r>
            <a:r>
              <a:rPr spc="-65" dirty="0"/>
              <a:t>numbers</a:t>
            </a:r>
            <a:r>
              <a:rPr spc="-50" dirty="0"/>
              <a:t> </a:t>
            </a:r>
            <a:r>
              <a:rPr spc="-35" dirty="0"/>
              <a:t>(order</a:t>
            </a:r>
            <a:r>
              <a:rPr spc="-50" dirty="0"/>
              <a:t> </a:t>
            </a:r>
            <a:r>
              <a:rPr spc="-25" dirty="0"/>
              <a:t>matters!)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97127"/>
            <a:ext cx="19094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Write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script</a:t>
            </a:r>
            <a:r>
              <a:rPr sz="1100" spc="15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which</a:t>
            </a:r>
            <a:r>
              <a:rPr sz="1100" spc="1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computes: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510967"/>
            <a:ext cx="502094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EB801A"/>
                </a:solidFill>
                <a:latin typeface="Calibri"/>
                <a:cs typeface="Calibri"/>
              </a:rPr>
              <a:t>single</a:t>
            </a:r>
            <a:r>
              <a:rPr sz="1100" spc="19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EB801A"/>
                </a:solidFill>
                <a:latin typeface="Calibri"/>
                <a:cs typeface="Calibri"/>
              </a:rPr>
              <a:t>double</a:t>
            </a:r>
            <a:r>
              <a:rPr sz="1100" spc="195" dirty="0">
                <a:solidFill>
                  <a:srgbClr val="EB801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precision.</a:t>
            </a:r>
            <a:r>
              <a:rPr sz="1100" spc="3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Then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compare</a:t>
            </a:r>
            <a:r>
              <a:rPr sz="1100" spc="2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with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results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2373A"/>
                </a:solidFill>
                <a:latin typeface="Calibri"/>
                <a:cs typeface="Calibri"/>
              </a:rPr>
              <a:t>obtained</a:t>
            </a:r>
            <a:r>
              <a:rPr sz="1100" spc="19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inverting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order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of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the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sum,</a:t>
            </a:r>
            <a:r>
              <a:rPr sz="1100" spc="1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2373A"/>
                </a:solidFill>
                <a:latin typeface="Calibri"/>
                <a:cs typeface="Calibri"/>
              </a:rPr>
              <a:t>so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by</a:t>
            </a:r>
            <a:r>
              <a:rPr sz="1100" spc="1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computing: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112C3228-A292-6CB0-C2E9-ADFC77513865}"/>
                  </a:ext>
                </a:extLst>
              </p:cNvPr>
              <p:cNvSpPr txBox="1"/>
              <p:nvPr/>
            </p:nvSpPr>
            <p:spPr>
              <a:xfrm>
                <a:off x="2495018" y="585176"/>
                <a:ext cx="770404" cy="605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1 000 000</m:t>
                          </m:r>
                        </m:sup>
                        <m:e>
                          <m:f>
                            <m:fPr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it-IT" sz="1400" dirty="0"/>
              </a:p>
            </p:txBody>
          </p:sp>
        </mc:Choice>
        <mc:Fallback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112C3228-A292-6CB0-C2E9-ADFC77513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018" y="585176"/>
                <a:ext cx="770404" cy="605679"/>
              </a:xfrm>
              <a:prstGeom prst="rect">
                <a:avLst/>
              </a:prstGeom>
              <a:blipFill>
                <a:blip r:embed="rId2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DAEAF04-D272-0A5B-5F75-17EA5D13098A}"/>
                  </a:ext>
                </a:extLst>
              </p:cNvPr>
              <p:cNvSpPr txBox="1"/>
              <p:nvPr/>
            </p:nvSpPr>
            <p:spPr>
              <a:xfrm>
                <a:off x="2495018" y="2075208"/>
                <a:ext cx="952184" cy="6058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=1 000 000</m:t>
                          </m:r>
                        </m:sub>
                        <m:sup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it-IT" sz="1400" dirty="0"/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DAEAF04-D272-0A5B-5F75-17EA5D130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018" y="2075208"/>
                <a:ext cx="952184" cy="6058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86143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7655" y="597043"/>
            <a:ext cx="2390140" cy="64706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Sum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from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1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to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1000000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(forward)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sum_forward_single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sum_forward_double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1000000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598" y="1218301"/>
            <a:ext cx="3715385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sum_forward_single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sum_forward_single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n);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sum_forward_double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sum_forward_double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1/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n;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655" y="1276495"/>
            <a:ext cx="340360" cy="587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6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7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8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274" y="1845847"/>
            <a:ext cx="2504440" cy="6534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254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9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Sum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from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1000000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to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1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(backward)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10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sum_backward_single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11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sum_backward_double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12</a:t>
            </a:r>
            <a:r>
              <a:rPr sz="600" b="0" spc="30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900" spc="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n</a:t>
            </a:r>
            <a:r>
              <a:rPr sz="900" spc="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1000000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: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598" y="2473404"/>
            <a:ext cx="3851910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sum_backward_single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sum_backward_single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single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n);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sum_backward_double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sum_backward_double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1/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n;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274" y="2531610"/>
            <a:ext cx="386715" cy="43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13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14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15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994" y="301014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994" y="60695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274" y="672901"/>
            <a:ext cx="118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16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1274" y="788677"/>
            <a:ext cx="13430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17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Display</a:t>
            </a:r>
            <a:r>
              <a:rPr sz="900" i="1" spc="-1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results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274" y="925312"/>
            <a:ext cx="4486275" cy="11239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235458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18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'Forward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sum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(single):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%.10f\n'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sum_forward_single);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  <a:tabLst>
                <a:tab pos="235458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19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'Forward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sum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(double):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%.15f\n'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sum_forward_double);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20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'Backward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sum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(single):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%.10f\n'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sum_backward_single);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21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'Backward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sum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(double):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%.15f\n'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sum_backward_double);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22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23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'\nDifferences:\n'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  <a:tabLst>
                <a:tab pos="208153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24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'Single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precision: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%.10e\n'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274" y="2081763"/>
            <a:ext cx="118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25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598" y="2043806"/>
            <a:ext cx="32372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abs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(sum_forward_single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sum_backward_single));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274" y="2200689"/>
            <a:ext cx="29832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8153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26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'Double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precision: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%.15e\n'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1274" y="2395542"/>
            <a:ext cx="118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27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598" y="2357584"/>
            <a:ext cx="32372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abs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(sum_forward_double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sum_backward_double));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9994" y="257940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Vancouver:</a:t>
            </a:r>
            <a:r>
              <a:rPr spc="1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45" dirty="0"/>
              <a:t>nickel</a:t>
            </a:r>
            <a:r>
              <a:rPr spc="-65" dirty="0"/>
              <a:t> </a:t>
            </a:r>
            <a:r>
              <a:rPr spc="-20" dirty="0"/>
              <a:t>at</a:t>
            </a:r>
            <a:r>
              <a:rPr spc="-75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20" dirty="0"/>
              <a:t>time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pc="20" dirty="0"/>
              <a:t>Analogously</a:t>
            </a:r>
            <a:r>
              <a:rPr spc="130" dirty="0"/>
              <a:t> </a:t>
            </a:r>
            <a:r>
              <a:rPr spc="20" dirty="0"/>
              <a:t>to</a:t>
            </a:r>
            <a:r>
              <a:rPr spc="130" dirty="0"/>
              <a:t> </a:t>
            </a:r>
            <a:r>
              <a:rPr spc="20" dirty="0"/>
              <a:t>what</a:t>
            </a:r>
            <a:r>
              <a:rPr spc="130" dirty="0"/>
              <a:t> </a:t>
            </a:r>
            <a:r>
              <a:rPr spc="20" dirty="0"/>
              <a:t>happened</a:t>
            </a:r>
            <a:r>
              <a:rPr spc="130" dirty="0"/>
              <a:t> </a:t>
            </a:r>
            <a:r>
              <a:rPr spc="50" dirty="0"/>
              <a:t>on</a:t>
            </a:r>
            <a:r>
              <a:rPr spc="130" dirty="0"/>
              <a:t> </a:t>
            </a:r>
            <a:r>
              <a:rPr spc="20" dirty="0"/>
              <a:t>the</a:t>
            </a:r>
            <a:r>
              <a:rPr spc="130" dirty="0"/>
              <a:t> </a:t>
            </a:r>
            <a:r>
              <a:rPr spc="20" dirty="0"/>
              <a:t>Vancouver</a:t>
            </a:r>
            <a:r>
              <a:rPr spc="130" dirty="0"/>
              <a:t> </a:t>
            </a:r>
            <a:r>
              <a:rPr spc="20" dirty="0"/>
              <a:t>stock</a:t>
            </a:r>
            <a:r>
              <a:rPr spc="130" dirty="0"/>
              <a:t> </a:t>
            </a:r>
            <a:r>
              <a:rPr spc="20" dirty="0"/>
              <a:t>market</a:t>
            </a:r>
            <a:r>
              <a:rPr spc="130" dirty="0"/>
              <a:t> </a:t>
            </a:r>
            <a:r>
              <a:rPr spc="-10" dirty="0"/>
              <a:t>(</a:t>
            </a:r>
            <a:r>
              <a:rPr spc="-10" dirty="0">
                <a:solidFill>
                  <a:srgbClr val="0000FF"/>
                </a:solidFill>
                <a:hlinkClick r:id="rId2"/>
              </a:rPr>
              <a:t>reference</a:t>
            </a:r>
            <a:r>
              <a:rPr spc="-10" dirty="0"/>
              <a:t>),</a:t>
            </a:r>
            <a:r>
              <a:rPr spc="500" dirty="0"/>
              <a:t>  </a:t>
            </a:r>
            <a:r>
              <a:rPr dirty="0"/>
              <a:t>starting</a:t>
            </a:r>
            <a:r>
              <a:rPr spc="165" dirty="0"/>
              <a:t> </a:t>
            </a:r>
            <a:r>
              <a:rPr dirty="0"/>
              <a:t>from</a:t>
            </a:r>
            <a:r>
              <a:rPr spc="170" dirty="0"/>
              <a:t> </a:t>
            </a:r>
            <a:r>
              <a:rPr spc="50" dirty="0"/>
              <a:t>a</a:t>
            </a:r>
            <a:r>
              <a:rPr spc="170" dirty="0"/>
              <a:t> </a:t>
            </a:r>
            <a:r>
              <a:rPr dirty="0"/>
              <a:t>stock</a:t>
            </a:r>
            <a:r>
              <a:rPr spc="165" dirty="0"/>
              <a:t> </a:t>
            </a:r>
            <a:r>
              <a:rPr dirty="0"/>
              <a:t>value</a:t>
            </a:r>
            <a:r>
              <a:rPr spc="170" dirty="0"/>
              <a:t> </a:t>
            </a:r>
            <a:r>
              <a:rPr dirty="0"/>
              <a:t>of</a:t>
            </a:r>
            <a:r>
              <a:rPr spc="170" dirty="0"/>
              <a:t> </a:t>
            </a:r>
            <a:r>
              <a:rPr dirty="0"/>
              <a:t>1000,</a:t>
            </a:r>
            <a:r>
              <a:rPr spc="165" dirty="0"/>
              <a:t> </a:t>
            </a:r>
            <a:r>
              <a:rPr dirty="0"/>
              <a:t>check</a:t>
            </a:r>
            <a:r>
              <a:rPr spc="170" dirty="0"/>
              <a:t> </a:t>
            </a:r>
            <a:r>
              <a:rPr dirty="0"/>
              <a:t>what</a:t>
            </a:r>
            <a:r>
              <a:rPr spc="170" dirty="0"/>
              <a:t> </a:t>
            </a:r>
            <a:r>
              <a:rPr spc="50" dirty="0"/>
              <a:t>happens</a:t>
            </a:r>
            <a:r>
              <a:rPr spc="165" dirty="0"/>
              <a:t> </a:t>
            </a:r>
            <a:r>
              <a:rPr dirty="0"/>
              <a:t>when</a:t>
            </a:r>
            <a:r>
              <a:rPr spc="170" dirty="0"/>
              <a:t> </a:t>
            </a:r>
            <a:r>
              <a:rPr spc="50" dirty="0"/>
              <a:t>a</a:t>
            </a:r>
            <a:r>
              <a:rPr spc="170" dirty="0"/>
              <a:t> </a:t>
            </a:r>
            <a:r>
              <a:rPr dirty="0"/>
              <a:t>random</a:t>
            </a:r>
            <a:r>
              <a:rPr spc="165" dirty="0"/>
              <a:t> </a:t>
            </a:r>
            <a:r>
              <a:rPr spc="-10" dirty="0"/>
              <a:t>variation </a:t>
            </a:r>
            <a:r>
              <a:rPr dirty="0"/>
              <a:t>of</a:t>
            </a:r>
            <a:r>
              <a:rPr spc="145" dirty="0"/>
              <a:t> </a:t>
            </a:r>
            <a:r>
              <a:rPr spc="-114" dirty="0">
                <a:latin typeface="Lucida Sans Unicode"/>
                <a:cs typeface="Lucida Sans Unicode"/>
              </a:rPr>
              <a:t>±</a:t>
            </a:r>
            <a:r>
              <a:rPr spc="-114" dirty="0"/>
              <a:t>1</a:t>
            </a:r>
            <a:r>
              <a:rPr spc="-114" dirty="0">
                <a:latin typeface="Tahoma"/>
                <a:cs typeface="Tahoma"/>
              </a:rPr>
              <a:t>%</a:t>
            </a:r>
            <a:r>
              <a:rPr spc="55" dirty="0">
                <a:latin typeface="Tahoma"/>
                <a:cs typeface="Tahoma"/>
              </a:rPr>
              <a:t> </a:t>
            </a:r>
            <a:r>
              <a:rPr dirty="0"/>
              <a:t>in</a:t>
            </a:r>
            <a:r>
              <a:rPr spc="150" dirty="0"/>
              <a:t> </a:t>
            </a:r>
            <a:r>
              <a:rPr dirty="0"/>
              <a:t>its</a:t>
            </a:r>
            <a:r>
              <a:rPr spc="150" dirty="0"/>
              <a:t> </a:t>
            </a:r>
            <a:r>
              <a:rPr dirty="0"/>
              <a:t>value</a:t>
            </a:r>
            <a:r>
              <a:rPr spc="150" dirty="0"/>
              <a:t> </a:t>
            </a:r>
            <a:r>
              <a:rPr spc="55" dirty="0"/>
              <a:t>is</a:t>
            </a:r>
            <a:r>
              <a:rPr spc="150" dirty="0"/>
              <a:t> </a:t>
            </a:r>
            <a:r>
              <a:rPr dirty="0"/>
              <a:t>iterated</a:t>
            </a:r>
            <a:r>
              <a:rPr spc="145" dirty="0"/>
              <a:t> </a:t>
            </a:r>
            <a:r>
              <a:rPr dirty="0"/>
              <a:t>for</a:t>
            </a:r>
            <a:r>
              <a:rPr spc="150" dirty="0"/>
              <a:t> </a:t>
            </a:r>
            <a:r>
              <a:rPr dirty="0"/>
              <a:t>10000</a:t>
            </a:r>
            <a:r>
              <a:rPr spc="150" dirty="0"/>
              <a:t> </a:t>
            </a:r>
            <a:r>
              <a:rPr dirty="0"/>
              <a:t>times.</a:t>
            </a:r>
            <a:r>
              <a:rPr spc="280" dirty="0"/>
              <a:t> </a:t>
            </a:r>
            <a:r>
              <a:rPr dirty="0"/>
              <a:t>Try</a:t>
            </a:r>
            <a:r>
              <a:rPr spc="150" dirty="0"/>
              <a:t> </a:t>
            </a:r>
            <a:r>
              <a:rPr dirty="0"/>
              <a:t>to</a:t>
            </a:r>
            <a:r>
              <a:rPr spc="145" dirty="0"/>
              <a:t> </a:t>
            </a:r>
            <a:r>
              <a:rPr dirty="0"/>
              <a:t>round</a:t>
            </a:r>
            <a:r>
              <a:rPr spc="150" dirty="0"/>
              <a:t> </a:t>
            </a:r>
            <a:r>
              <a:rPr dirty="0"/>
              <a:t>or</a:t>
            </a:r>
            <a:r>
              <a:rPr spc="150" dirty="0"/>
              <a:t> </a:t>
            </a:r>
            <a:r>
              <a:rPr dirty="0"/>
              <a:t>truncate</a:t>
            </a:r>
            <a:r>
              <a:rPr spc="150" dirty="0"/>
              <a:t> </a:t>
            </a:r>
            <a:r>
              <a:rPr dirty="0"/>
              <a:t>to</a:t>
            </a:r>
            <a:r>
              <a:rPr spc="150" dirty="0"/>
              <a:t> </a:t>
            </a:r>
            <a:r>
              <a:rPr spc="-25" dirty="0">
                <a:solidFill>
                  <a:srgbClr val="EB801A"/>
                </a:solidFill>
              </a:rPr>
              <a:t>two </a:t>
            </a:r>
            <a:r>
              <a:rPr spc="10" dirty="0">
                <a:solidFill>
                  <a:srgbClr val="EB801A"/>
                </a:solidFill>
              </a:rPr>
              <a:t>decimal</a:t>
            </a:r>
            <a:r>
              <a:rPr spc="145" dirty="0">
                <a:solidFill>
                  <a:srgbClr val="EB801A"/>
                </a:solidFill>
              </a:rPr>
              <a:t> </a:t>
            </a:r>
            <a:r>
              <a:rPr spc="10" dirty="0">
                <a:solidFill>
                  <a:srgbClr val="EB801A"/>
                </a:solidFill>
              </a:rPr>
              <a:t>places</a:t>
            </a:r>
            <a:r>
              <a:rPr spc="150" dirty="0">
                <a:solidFill>
                  <a:srgbClr val="EB801A"/>
                </a:solidFill>
              </a:rPr>
              <a:t> </a:t>
            </a:r>
            <a:r>
              <a:rPr spc="50" dirty="0"/>
              <a:t>using</a:t>
            </a:r>
            <a:r>
              <a:rPr spc="145" dirty="0"/>
              <a:t> </a:t>
            </a:r>
            <a:r>
              <a:rPr spc="10" dirty="0"/>
              <a:t>floor,</a:t>
            </a:r>
            <a:r>
              <a:rPr spc="150" dirty="0"/>
              <a:t> </a:t>
            </a:r>
            <a:r>
              <a:rPr spc="10" dirty="0"/>
              <a:t>ceil,</a:t>
            </a:r>
            <a:r>
              <a:rPr spc="150" dirty="0"/>
              <a:t> </a:t>
            </a:r>
            <a:r>
              <a:rPr spc="55" dirty="0"/>
              <a:t>and</a:t>
            </a:r>
            <a:r>
              <a:rPr spc="145" dirty="0"/>
              <a:t> </a:t>
            </a:r>
            <a:r>
              <a:rPr spc="10" dirty="0"/>
              <a:t>round.</a:t>
            </a:r>
            <a:r>
              <a:rPr spc="280" dirty="0"/>
              <a:t> </a:t>
            </a:r>
            <a:r>
              <a:rPr spc="10" dirty="0"/>
              <a:t>Compare</a:t>
            </a:r>
            <a:r>
              <a:rPr spc="150" dirty="0"/>
              <a:t> </a:t>
            </a:r>
            <a:r>
              <a:rPr spc="10" dirty="0"/>
              <a:t>the</a:t>
            </a:r>
            <a:r>
              <a:rPr spc="145" dirty="0"/>
              <a:t> </a:t>
            </a:r>
            <a:r>
              <a:rPr spc="10" dirty="0"/>
              <a:t>results</a:t>
            </a:r>
            <a:r>
              <a:rPr spc="150" dirty="0"/>
              <a:t>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10" dirty="0"/>
              <a:t>the</a:t>
            </a:r>
            <a:r>
              <a:rPr spc="150" dirty="0"/>
              <a:t> </a:t>
            </a:r>
            <a:r>
              <a:rPr spc="-10" dirty="0"/>
              <a:t>number </a:t>
            </a:r>
            <a:r>
              <a:rPr spc="10" dirty="0"/>
              <a:t>obtained</a:t>
            </a:r>
            <a:r>
              <a:rPr spc="200" dirty="0"/>
              <a:t> </a:t>
            </a:r>
            <a:r>
              <a:rPr spc="50" dirty="0"/>
              <a:t>using</a:t>
            </a:r>
            <a:r>
              <a:rPr spc="204" dirty="0"/>
              <a:t> </a:t>
            </a:r>
            <a:r>
              <a:rPr spc="10" dirty="0"/>
              <a:t>full</a:t>
            </a:r>
            <a:r>
              <a:rPr spc="204" dirty="0"/>
              <a:t> </a:t>
            </a:r>
            <a:r>
              <a:rPr spc="10" dirty="0"/>
              <a:t>computer</a:t>
            </a:r>
            <a:r>
              <a:rPr spc="200" dirty="0"/>
              <a:t> </a:t>
            </a:r>
            <a:r>
              <a:rPr spc="-10" dirty="0"/>
              <a:t>precision.</a:t>
            </a: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pc="10" dirty="0"/>
              <a:t>Please</a:t>
            </a:r>
            <a:r>
              <a:rPr spc="125" dirty="0"/>
              <a:t> </a:t>
            </a:r>
            <a:r>
              <a:rPr spc="10" dirty="0"/>
              <a:t>verify</a:t>
            </a:r>
            <a:r>
              <a:rPr spc="130" dirty="0"/>
              <a:t> </a:t>
            </a:r>
            <a:r>
              <a:rPr spc="10" dirty="0"/>
              <a:t>in</a:t>
            </a:r>
            <a:r>
              <a:rPr spc="130" dirty="0"/>
              <a:t> </a:t>
            </a:r>
            <a:r>
              <a:rPr spc="10" dirty="0"/>
              <a:t>the</a:t>
            </a:r>
            <a:r>
              <a:rPr spc="125" dirty="0"/>
              <a:t> </a:t>
            </a:r>
            <a:r>
              <a:rPr dirty="0"/>
              <a:t>MATLAB</a:t>
            </a:r>
            <a:r>
              <a:rPr spc="130" dirty="0"/>
              <a:t> </a:t>
            </a:r>
            <a:r>
              <a:rPr spc="10" dirty="0"/>
              <a:t>help</a:t>
            </a:r>
            <a:r>
              <a:rPr spc="130" dirty="0"/>
              <a:t> </a:t>
            </a:r>
            <a:r>
              <a:rPr spc="10" dirty="0"/>
              <a:t>how</a:t>
            </a:r>
            <a:r>
              <a:rPr spc="125" dirty="0"/>
              <a:t> </a:t>
            </a:r>
            <a:r>
              <a:rPr spc="10" dirty="0"/>
              <a:t>the</a:t>
            </a:r>
            <a:r>
              <a:rPr spc="130" dirty="0"/>
              <a:t> </a:t>
            </a:r>
            <a:r>
              <a:rPr spc="10" dirty="0"/>
              <a:t>functions</a:t>
            </a:r>
            <a:r>
              <a:rPr spc="130" dirty="0"/>
              <a:t> </a:t>
            </a:r>
            <a:r>
              <a:rPr i="1" spc="10" dirty="0">
                <a:latin typeface="Calibri"/>
                <a:cs typeface="Calibri"/>
              </a:rPr>
              <a:t>rand,</a:t>
            </a:r>
            <a:r>
              <a:rPr i="1" spc="120" dirty="0">
                <a:latin typeface="Calibri"/>
                <a:cs typeface="Calibri"/>
              </a:rPr>
              <a:t> </a:t>
            </a:r>
            <a:r>
              <a:rPr i="1" spc="10" dirty="0">
                <a:latin typeface="Calibri"/>
                <a:cs typeface="Calibri"/>
              </a:rPr>
              <a:t>floor,</a:t>
            </a:r>
            <a:r>
              <a:rPr i="1" spc="125" dirty="0">
                <a:latin typeface="Calibri"/>
                <a:cs typeface="Calibri"/>
              </a:rPr>
              <a:t> </a:t>
            </a:r>
            <a:r>
              <a:rPr i="1" spc="10" dirty="0">
                <a:latin typeface="Calibri"/>
                <a:cs typeface="Calibri"/>
              </a:rPr>
              <a:t>ceil,</a:t>
            </a:r>
            <a:r>
              <a:rPr i="1" spc="120" dirty="0">
                <a:latin typeface="Calibri"/>
                <a:cs typeface="Calibri"/>
              </a:rPr>
              <a:t> </a:t>
            </a:r>
            <a:r>
              <a:rPr i="1" spc="10" dirty="0">
                <a:latin typeface="Calibri"/>
                <a:cs typeface="Calibri"/>
              </a:rPr>
              <a:t>fix,</a:t>
            </a:r>
            <a:r>
              <a:rPr i="1" spc="12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round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work.</a:t>
            </a:r>
          </a:p>
        </p:txBody>
      </p:sp>
      <p:sp>
        <p:nvSpPr>
          <p:cNvPr id="4" name="object 4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1614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Solution</a:t>
            </a:r>
            <a:r>
              <a:rPr spc="-50" dirty="0"/>
              <a:t> </a:t>
            </a:r>
            <a:r>
              <a:rPr spc="-229" dirty="0"/>
              <a:t>-</a:t>
            </a:r>
            <a:r>
              <a:rPr spc="-50" dirty="0"/>
              <a:t> </a:t>
            </a:r>
            <a:r>
              <a:rPr spc="-25" dirty="0"/>
              <a:t>Part</a:t>
            </a:r>
            <a:r>
              <a:rPr spc="-50" dirty="0"/>
              <a:t> </a:t>
            </a:r>
            <a:r>
              <a:rPr spc="-180" dirty="0"/>
              <a:t>1:</a:t>
            </a:r>
            <a:r>
              <a:rPr spc="60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810209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1274" y="821122"/>
            <a:ext cx="3597910" cy="19018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229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Initial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stock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value</a:t>
            </a:r>
            <a:endParaRPr sz="900">
              <a:latin typeface="Courier New"/>
              <a:cs typeface="Courier New"/>
            </a:endParaRPr>
          </a:p>
          <a:p>
            <a:pPr marL="59055">
              <a:lnSpc>
                <a:spcPct val="100000"/>
              </a:lnSpc>
              <a:spcBef>
                <a:spcPts val="13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2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initial_value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1000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59055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n_iterations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10000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59055">
              <a:lnSpc>
                <a:spcPct val="100000"/>
              </a:lnSpc>
              <a:spcBef>
                <a:spcPts val="455"/>
              </a:spcBef>
            </a:pPr>
            <a:r>
              <a:rPr sz="600" b="0" spc="-50" dirty="0">
                <a:solidFill>
                  <a:srgbClr val="22373A"/>
                </a:solidFill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  <a:p>
            <a:pPr marL="59055">
              <a:lnSpc>
                <a:spcPct val="100000"/>
              </a:lnSpc>
              <a:spcBef>
                <a:spcPts val="21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5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Initialize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values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for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different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rounding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methods</a:t>
            </a:r>
            <a:endParaRPr sz="900">
              <a:latin typeface="Courier New"/>
              <a:cs typeface="Courier New"/>
            </a:endParaRPr>
          </a:p>
          <a:p>
            <a:pPr marL="59055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6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value_full_precision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initial_value;</a:t>
            </a:r>
            <a:endParaRPr sz="900">
              <a:latin typeface="Courier New"/>
              <a:cs typeface="Courier New"/>
            </a:endParaRPr>
          </a:p>
          <a:p>
            <a:pPr marL="59055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7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value_floor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initial_value;</a:t>
            </a:r>
            <a:endParaRPr sz="900">
              <a:latin typeface="Courier New"/>
              <a:cs typeface="Courier New"/>
            </a:endParaRPr>
          </a:p>
          <a:p>
            <a:pPr marL="59055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8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value_ceil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initial_value;</a:t>
            </a:r>
            <a:endParaRPr sz="900">
              <a:latin typeface="Courier New"/>
              <a:cs typeface="Courier New"/>
            </a:endParaRPr>
          </a:p>
          <a:p>
            <a:pPr marL="59055">
              <a:lnSpc>
                <a:spcPct val="100000"/>
              </a:lnSpc>
              <a:spcBef>
                <a:spcPts val="16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9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value_round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initial_value;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10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11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Set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random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seed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for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reproducibility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(optional)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12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rng(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42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278607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2195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Solution</a:t>
            </a:r>
            <a:r>
              <a:rPr spc="-50" dirty="0"/>
              <a:t> </a:t>
            </a:r>
            <a:r>
              <a:rPr spc="-229" dirty="0"/>
              <a:t>-</a:t>
            </a:r>
            <a:r>
              <a:rPr spc="-50" dirty="0"/>
              <a:t> </a:t>
            </a:r>
            <a:r>
              <a:rPr spc="-25" dirty="0"/>
              <a:t>Part</a:t>
            </a:r>
            <a:r>
              <a:rPr spc="-50" dirty="0"/>
              <a:t> </a:t>
            </a:r>
            <a:r>
              <a:rPr spc="-135" dirty="0"/>
              <a:t>2:</a:t>
            </a:r>
            <a:r>
              <a:rPr spc="65" dirty="0"/>
              <a:t> </a:t>
            </a:r>
            <a:r>
              <a:rPr spc="-35" dirty="0"/>
              <a:t>Iteration</a:t>
            </a:r>
            <a:r>
              <a:rPr spc="-50" dirty="0"/>
              <a:t> </a:t>
            </a:r>
            <a:r>
              <a:rPr spc="-20"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112398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1274" y="1134887"/>
            <a:ext cx="3392804" cy="3333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13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Iterate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10000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times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with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random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±1%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variation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14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i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:n_iterations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598" y="1442342"/>
            <a:ext cx="3305175" cy="4965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Generate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random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variation: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3D7A7A"/>
                </a:solidFill>
                <a:latin typeface="Courier New"/>
                <a:cs typeface="Courier New"/>
              </a:rPr>
              <a:t>±1%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rand()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gives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[0,1],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so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2*rand()-1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gives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[-</a:t>
            </a:r>
            <a:r>
              <a:rPr sz="900" i="1" spc="-20" dirty="0">
                <a:solidFill>
                  <a:srgbClr val="3D7A7A"/>
                </a:solidFill>
                <a:latin typeface="Courier New"/>
                <a:cs typeface="Courier New"/>
              </a:rPr>
              <a:t>1,1]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variation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rand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()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0.01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274" y="1500548"/>
            <a:ext cx="118745" cy="901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15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16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17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18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19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20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598" y="2069925"/>
            <a:ext cx="4261485" cy="33972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Full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precision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(no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rounding)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variation);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2472296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Solution</a:t>
            </a:r>
            <a:r>
              <a:rPr spc="-50" dirty="0"/>
              <a:t> </a:t>
            </a:r>
            <a:r>
              <a:rPr spc="-229" dirty="0"/>
              <a:t>-</a:t>
            </a:r>
            <a:r>
              <a:rPr spc="-50" dirty="0"/>
              <a:t> </a:t>
            </a:r>
            <a:r>
              <a:rPr spc="-25" dirty="0"/>
              <a:t>Part</a:t>
            </a:r>
            <a:r>
              <a:rPr spc="-45" dirty="0"/>
              <a:t> </a:t>
            </a:r>
            <a:r>
              <a:rPr spc="-135" dirty="0"/>
              <a:t>3:</a:t>
            </a:r>
            <a:r>
              <a:rPr spc="60" dirty="0"/>
              <a:t> </a:t>
            </a:r>
            <a:r>
              <a:rPr spc="-65" dirty="0"/>
              <a:t>Rounding</a:t>
            </a:r>
            <a:r>
              <a:rPr spc="-45" dirty="0"/>
              <a:t> </a:t>
            </a:r>
            <a:r>
              <a:rPr spc="-35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821486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0598" y="832399"/>
            <a:ext cx="2758440" cy="4902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85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Floor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(round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down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to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2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decimal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places)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temp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value_floor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variation);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value_floor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floor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(temp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598" y="1453620"/>
            <a:ext cx="2553335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Ceil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(round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up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to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2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decimal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places)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temp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value_ceil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variation);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value_ceil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ceil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(temp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0598" y="2081178"/>
            <a:ext cx="2963545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Round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(round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to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nearest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2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decimal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places)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temp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value_round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variation);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value_round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=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round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(temp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100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274" y="887430"/>
            <a:ext cx="386715" cy="18472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21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22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23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24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25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26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27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28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29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30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31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32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25" dirty="0">
                <a:solidFill>
                  <a:srgbClr val="007F00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2774797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631" y="75410"/>
            <a:ext cx="22745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Solution</a:t>
            </a:r>
            <a:r>
              <a:rPr spc="-65" dirty="0"/>
              <a:t> </a:t>
            </a:r>
            <a:r>
              <a:rPr spc="-229" dirty="0"/>
              <a:t>-</a:t>
            </a:r>
            <a:r>
              <a:rPr spc="-60" dirty="0"/>
              <a:t> </a:t>
            </a:r>
            <a:r>
              <a:rPr spc="-25" dirty="0"/>
              <a:t>Part</a:t>
            </a:r>
            <a:r>
              <a:rPr spc="-60" dirty="0"/>
              <a:t> </a:t>
            </a:r>
            <a:r>
              <a:rPr spc="-90" dirty="0"/>
              <a:t>4:</a:t>
            </a:r>
            <a:r>
              <a:rPr spc="45" dirty="0"/>
              <a:t> </a:t>
            </a:r>
            <a:r>
              <a:rPr spc="-50" dirty="0"/>
              <a:t>Display</a:t>
            </a:r>
            <a:r>
              <a:rPr spc="-60" dirty="0"/>
              <a:t> </a:t>
            </a:r>
            <a:r>
              <a:rPr spc="-20" dirty="0"/>
              <a:t>Results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104554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1274" y="1056440"/>
            <a:ext cx="4008120" cy="4902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34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Display</a:t>
            </a:r>
            <a:r>
              <a:rPr sz="900" i="1" spc="-1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results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35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'Results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after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%d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iterations:\n'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 n_iterations);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36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'=========================================\n'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274" y="1520790"/>
            <a:ext cx="2094864" cy="8102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37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'Initial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value: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38</a:t>
            </a:r>
            <a:r>
              <a:rPr sz="600" b="0" spc="28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'Full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precision: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39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'Floor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(round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down):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40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'Ceil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(round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BA2121"/>
                </a:solidFill>
                <a:latin typeface="Courier New"/>
                <a:cs typeface="Courier New"/>
              </a:rPr>
              <a:t>up):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41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'Round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(to</a:t>
            </a:r>
            <a:r>
              <a:rPr sz="900" spc="-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nearest):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5337" y="1520790"/>
            <a:ext cx="2143760" cy="8102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%.2f\n'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initial_value);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%.6f\n'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value_full_precision);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%.2f\n'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value_floor);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%.2f\n'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1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value_ceil);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%.2f\n'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value_round);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274" y="2325492"/>
            <a:ext cx="39395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42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'=========================================\n'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2550744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Solution</a:t>
            </a:r>
            <a:r>
              <a:rPr spc="-45" dirty="0"/>
              <a:t> </a:t>
            </a:r>
            <a:r>
              <a:rPr spc="-229" dirty="0"/>
              <a:t>-</a:t>
            </a:r>
            <a:r>
              <a:rPr spc="-45" dirty="0"/>
              <a:t> </a:t>
            </a:r>
            <a:r>
              <a:rPr spc="-25" dirty="0"/>
              <a:t>Part</a:t>
            </a:r>
            <a:r>
              <a:rPr spc="-40" dirty="0"/>
              <a:t> </a:t>
            </a:r>
            <a:r>
              <a:rPr spc="-135" dirty="0"/>
              <a:t>5:</a:t>
            </a:r>
            <a:r>
              <a:rPr spc="65" dirty="0"/>
              <a:t> </a:t>
            </a:r>
            <a:r>
              <a:rPr spc="-60" dirty="0"/>
              <a:t>Differences</a:t>
            </a:r>
            <a:r>
              <a:rPr spc="-40" dirty="0"/>
              <a:t> Analysis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888657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1274" y="899569"/>
            <a:ext cx="3461385" cy="4902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44</a:t>
            </a:r>
            <a:r>
              <a:rPr sz="600" b="0" spc="29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%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Calculate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differences</a:t>
            </a:r>
            <a:r>
              <a:rPr sz="900" i="1" spc="-5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from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3D7A7A"/>
                </a:solidFill>
                <a:latin typeface="Courier New"/>
                <a:cs typeface="Courier New"/>
              </a:rPr>
              <a:t>full</a:t>
            </a:r>
            <a:r>
              <a:rPr sz="900" i="1" spc="-10" dirty="0">
                <a:solidFill>
                  <a:srgbClr val="3D7A7A"/>
                </a:solidFill>
                <a:latin typeface="Courier New"/>
                <a:cs typeface="Courier New"/>
              </a:rPr>
              <a:t> precision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45</a:t>
            </a:r>
            <a:r>
              <a:rPr sz="600" b="0" spc="285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'\nDifferences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from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full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 precision:\n'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  <a:tabLst>
                <a:tab pos="132969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46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'Floor: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%.6f</a:t>
            </a:r>
            <a:r>
              <a:rPr sz="900" spc="-2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(%.2f%%)\n'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598" y="1384142"/>
            <a:ext cx="2690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value_floor,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274" y="1422100"/>
            <a:ext cx="11874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47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48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598" y="1541038"/>
            <a:ext cx="43300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100*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value_floor)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value_full_precision);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274" y="1697934"/>
            <a:ext cx="2778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969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49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'Ceil: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%.6f</a:t>
            </a:r>
            <a:r>
              <a:rPr sz="900" spc="-2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(%.2f%%)\n'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598" y="1854817"/>
            <a:ext cx="26219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value_ceil,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274" y="1892775"/>
            <a:ext cx="11874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50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51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0598" y="2011713"/>
            <a:ext cx="42614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100*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value_ceil)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value_full_precision);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274" y="2168609"/>
            <a:ext cx="27781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9690" algn="l"/>
              </a:tabLst>
            </a:pPr>
            <a:r>
              <a:rPr sz="600" b="0" dirty="0">
                <a:solidFill>
                  <a:srgbClr val="22373A"/>
                </a:solidFill>
                <a:latin typeface="Bookman Old Style"/>
                <a:cs typeface="Bookman Old Style"/>
              </a:rPr>
              <a:t>52</a:t>
            </a:r>
            <a:r>
              <a:rPr sz="600" b="0" spc="270" dirty="0">
                <a:solidFill>
                  <a:srgbClr val="22373A"/>
                </a:solidFill>
                <a:latin typeface="Bookman Old Style"/>
                <a:cs typeface="Bookman Old Style"/>
              </a:rPr>
              <a:t> 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fprintf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BA2121"/>
                </a:solidFill>
                <a:latin typeface="Courier New"/>
                <a:cs typeface="Courier New"/>
              </a:rPr>
              <a:t>'Round: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	%.6f</a:t>
            </a:r>
            <a:r>
              <a:rPr sz="900" spc="-2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A2121"/>
                </a:solidFill>
                <a:latin typeface="Courier New"/>
                <a:cs typeface="Courier New"/>
              </a:rPr>
              <a:t>(%.2f%%)\n'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1274" y="2363449"/>
            <a:ext cx="118745" cy="273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53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600" b="0" spc="-25" dirty="0">
                <a:solidFill>
                  <a:srgbClr val="22373A"/>
                </a:solidFill>
                <a:latin typeface="Bookman Old Style"/>
                <a:cs typeface="Bookman Old Style"/>
              </a:rPr>
              <a:t>54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598" y="2305243"/>
            <a:ext cx="4330065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value_round,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...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100*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(value_full_precision</a:t>
            </a:r>
            <a:r>
              <a:rPr sz="900" spc="-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value_round)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value_full_precision);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9994" y="2707627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5054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Expected</a:t>
            </a:r>
            <a:r>
              <a:rPr spc="-25" dirty="0"/>
              <a:t> </a:t>
            </a:r>
            <a:r>
              <a:rPr spc="-35" dirty="0"/>
              <a:t>observations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329" rIns="0" bIns="0" rtlCol="0">
            <a:spAutoFit/>
          </a:bodyPr>
          <a:lstStyle/>
          <a:p>
            <a:pPr marL="287655" indent="-175260">
              <a:lnSpc>
                <a:spcPct val="100000"/>
              </a:lnSpc>
              <a:spcBef>
                <a:spcPts val="635"/>
              </a:spcBef>
              <a:buFont typeface="Arial"/>
              <a:buChar char="►"/>
              <a:tabLst>
                <a:tab pos="288290" algn="l"/>
              </a:tabLst>
            </a:pPr>
            <a:r>
              <a:rPr spc="20" dirty="0"/>
              <a:t>Floor</a:t>
            </a:r>
            <a:r>
              <a:rPr spc="130" dirty="0"/>
              <a:t> </a:t>
            </a:r>
            <a:r>
              <a:rPr spc="20" dirty="0"/>
              <a:t>will</a:t>
            </a:r>
            <a:r>
              <a:rPr spc="130" dirty="0"/>
              <a:t> </a:t>
            </a:r>
            <a:r>
              <a:rPr spc="20" dirty="0"/>
              <a:t>consistently</a:t>
            </a:r>
            <a:r>
              <a:rPr spc="130" dirty="0"/>
              <a:t> </a:t>
            </a:r>
            <a:r>
              <a:rPr spc="50" dirty="0"/>
              <a:t>lose</a:t>
            </a:r>
            <a:r>
              <a:rPr spc="130" dirty="0"/>
              <a:t> </a:t>
            </a:r>
            <a:r>
              <a:rPr spc="20" dirty="0"/>
              <a:t>value</a:t>
            </a:r>
            <a:r>
              <a:rPr spc="135" dirty="0"/>
              <a:t> </a:t>
            </a:r>
            <a:r>
              <a:rPr spc="20" dirty="0"/>
              <a:t>(downward</a:t>
            </a:r>
            <a:r>
              <a:rPr spc="130" dirty="0"/>
              <a:t> </a:t>
            </a:r>
            <a:r>
              <a:rPr spc="20" dirty="0"/>
              <a:t>bias,</a:t>
            </a:r>
            <a:r>
              <a:rPr spc="130" dirty="0"/>
              <a:t> </a:t>
            </a:r>
            <a:r>
              <a:rPr spc="20" dirty="0"/>
              <a:t>similar</a:t>
            </a:r>
            <a:r>
              <a:rPr spc="130" dirty="0"/>
              <a:t> </a:t>
            </a:r>
            <a:r>
              <a:rPr spc="20" dirty="0"/>
              <a:t>to</a:t>
            </a:r>
            <a:r>
              <a:rPr spc="130" dirty="0"/>
              <a:t> </a:t>
            </a:r>
            <a:r>
              <a:rPr spc="20" dirty="0"/>
              <a:t>Vancouver</a:t>
            </a:r>
            <a:r>
              <a:rPr spc="135" dirty="0"/>
              <a:t> </a:t>
            </a:r>
            <a:r>
              <a:rPr spc="-20" dirty="0"/>
              <a:t>bug)</a:t>
            </a:r>
          </a:p>
          <a:p>
            <a:pPr marL="287655" indent="-175260">
              <a:lnSpc>
                <a:spcPct val="100000"/>
              </a:lnSpc>
              <a:spcBef>
                <a:spcPts val="540"/>
              </a:spcBef>
              <a:buFont typeface="Arial"/>
              <a:buChar char="►"/>
              <a:tabLst>
                <a:tab pos="288290" algn="l"/>
              </a:tabLst>
            </a:pPr>
            <a:r>
              <a:rPr spc="20" dirty="0"/>
              <a:t>Ceil</a:t>
            </a:r>
            <a:r>
              <a:rPr spc="145" dirty="0"/>
              <a:t> </a:t>
            </a:r>
            <a:r>
              <a:rPr spc="20" dirty="0"/>
              <a:t>will</a:t>
            </a:r>
            <a:r>
              <a:rPr spc="150" dirty="0"/>
              <a:t> </a:t>
            </a:r>
            <a:r>
              <a:rPr spc="20" dirty="0"/>
              <a:t>consistently</a:t>
            </a:r>
            <a:r>
              <a:rPr spc="150" dirty="0"/>
              <a:t> </a:t>
            </a:r>
            <a:r>
              <a:rPr spc="20" dirty="0"/>
              <a:t>gain</a:t>
            </a:r>
            <a:r>
              <a:rPr spc="150" dirty="0"/>
              <a:t> </a:t>
            </a:r>
            <a:r>
              <a:rPr spc="20" dirty="0"/>
              <a:t>value</a:t>
            </a:r>
            <a:r>
              <a:rPr spc="150" dirty="0"/>
              <a:t> </a:t>
            </a:r>
            <a:r>
              <a:rPr spc="20" dirty="0"/>
              <a:t>(upward</a:t>
            </a:r>
            <a:r>
              <a:rPr spc="150" dirty="0"/>
              <a:t> </a:t>
            </a:r>
            <a:r>
              <a:rPr spc="-10" dirty="0"/>
              <a:t>bias)</a:t>
            </a:r>
          </a:p>
          <a:p>
            <a:pPr marL="287655" indent="-175260">
              <a:lnSpc>
                <a:spcPct val="100000"/>
              </a:lnSpc>
              <a:spcBef>
                <a:spcPts val="535"/>
              </a:spcBef>
              <a:buFont typeface="Arial"/>
              <a:buChar char="►"/>
              <a:tabLst>
                <a:tab pos="288290" algn="l"/>
              </a:tabLst>
            </a:pPr>
            <a:r>
              <a:rPr spc="20" dirty="0"/>
              <a:t>Round</a:t>
            </a:r>
            <a:r>
              <a:rPr spc="170" dirty="0"/>
              <a:t> </a:t>
            </a:r>
            <a:r>
              <a:rPr spc="55" dirty="0"/>
              <a:t>should</a:t>
            </a:r>
            <a:r>
              <a:rPr spc="170" dirty="0"/>
              <a:t> </a:t>
            </a:r>
            <a:r>
              <a:rPr spc="20" dirty="0"/>
              <a:t>be</a:t>
            </a:r>
            <a:r>
              <a:rPr spc="170" dirty="0"/>
              <a:t> </a:t>
            </a:r>
            <a:r>
              <a:rPr spc="20" dirty="0"/>
              <a:t>closer</a:t>
            </a:r>
            <a:r>
              <a:rPr spc="170" dirty="0"/>
              <a:t> </a:t>
            </a:r>
            <a:r>
              <a:rPr spc="20" dirty="0"/>
              <a:t>to</a:t>
            </a:r>
            <a:r>
              <a:rPr spc="170" dirty="0"/>
              <a:t> </a:t>
            </a:r>
            <a:r>
              <a:rPr spc="20" dirty="0"/>
              <a:t>full</a:t>
            </a:r>
            <a:r>
              <a:rPr spc="170" dirty="0"/>
              <a:t> </a:t>
            </a:r>
            <a:r>
              <a:rPr spc="20" dirty="0"/>
              <a:t>precision</a:t>
            </a:r>
            <a:r>
              <a:rPr spc="170" dirty="0"/>
              <a:t> </a:t>
            </a:r>
            <a:r>
              <a:rPr spc="20" dirty="0"/>
              <a:t>(unbiased</a:t>
            </a:r>
            <a:r>
              <a:rPr spc="170" dirty="0"/>
              <a:t> </a:t>
            </a:r>
            <a:r>
              <a:rPr spc="-10" dirty="0"/>
              <a:t>rounding)</a:t>
            </a:r>
          </a:p>
          <a:p>
            <a:pPr marL="287020" marR="5080" indent="-175260">
              <a:lnSpc>
                <a:spcPct val="118000"/>
              </a:lnSpc>
              <a:spcBef>
                <a:spcPts val="300"/>
              </a:spcBef>
              <a:buFont typeface="Arial"/>
              <a:buChar char="►"/>
              <a:tabLst>
                <a:tab pos="289560" algn="l"/>
              </a:tabLst>
            </a:pPr>
            <a:r>
              <a:rPr spc="10" dirty="0"/>
              <a:t>The</a:t>
            </a:r>
            <a:r>
              <a:rPr spc="155" dirty="0"/>
              <a:t> </a:t>
            </a:r>
            <a:r>
              <a:rPr spc="10" dirty="0"/>
              <a:t>cumulative</a:t>
            </a:r>
            <a:r>
              <a:rPr spc="160" dirty="0"/>
              <a:t> </a:t>
            </a:r>
            <a:r>
              <a:rPr spc="10" dirty="0"/>
              <a:t>effect</a:t>
            </a:r>
            <a:r>
              <a:rPr spc="160" dirty="0"/>
              <a:t> </a:t>
            </a:r>
            <a:r>
              <a:rPr spc="10" dirty="0"/>
              <a:t>over</a:t>
            </a:r>
            <a:r>
              <a:rPr spc="160" dirty="0"/>
              <a:t> </a:t>
            </a:r>
            <a:r>
              <a:rPr dirty="0"/>
              <a:t>10,000</a:t>
            </a:r>
            <a:r>
              <a:rPr spc="155" dirty="0"/>
              <a:t> </a:t>
            </a:r>
            <a:r>
              <a:rPr spc="10" dirty="0"/>
              <a:t>iterations</a:t>
            </a:r>
            <a:r>
              <a:rPr spc="160" dirty="0"/>
              <a:t> </a:t>
            </a:r>
            <a:r>
              <a:rPr spc="10" dirty="0"/>
              <a:t>will</a:t>
            </a:r>
            <a:r>
              <a:rPr spc="160" dirty="0"/>
              <a:t> </a:t>
            </a:r>
            <a:r>
              <a:rPr spc="10" dirty="0"/>
              <a:t>be</a:t>
            </a:r>
            <a:r>
              <a:rPr spc="160" dirty="0"/>
              <a:t> </a:t>
            </a:r>
            <a:r>
              <a:rPr spc="10" dirty="0"/>
              <a:t>significant,</a:t>
            </a:r>
            <a:r>
              <a:rPr spc="160" dirty="0"/>
              <a:t> </a:t>
            </a:r>
            <a:r>
              <a:rPr spc="-10" dirty="0"/>
              <a:t>demonstrating 	</a:t>
            </a:r>
            <a:r>
              <a:rPr spc="10" dirty="0"/>
              <a:t>the</a:t>
            </a:r>
            <a:r>
              <a:rPr spc="155" dirty="0"/>
              <a:t> </a:t>
            </a:r>
            <a:r>
              <a:rPr spc="10" dirty="0"/>
              <a:t>Vancouver</a:t>
            </a:r>
            <a:r>
              <a:rPr spc="155" dirty="0"/>
              <a:t> </a:t>
            </a:r>
            <a:r>
              <a:rPr spc="10" dirty="0"/>
              <a:t>Stock</a:t>
            </a:r>
            <a:r>
              <a:rPr spc="160" dirty="0"/>
              <a:t> </a:t>
            </a:r>
            <a:r>
              <a:rPr spc="10" dirty="0"/>
              <a:t>Exchange</a:t>
            </a:r>
            <a:r>
              <a:rPr spc="155" dirty="0"/>
              <a:t> </a:t>
            </a:r>
            <a:r>
              <a:rPr spc="50" dirty="0"/>
              <a:t>issue</a:t>
            </a:r>
            <a:r>
              <a:rPr spc="160" dirty="0"/>
              <a:t> </a:t>
            </a:r>
            <a:r>
              <a:rPr spc="10" dirty="0"/>
              <a:t>where</a:t>
            </a:r>
            <a:r>
              <a:rPr spc="155" dirty="0"/>
              <a:t> </a:t>
            </a:r>
            <a:r>
              <a:rPr spc="10" dirty="0"/>
              <a:t>the</a:t>
            </a:r>
            <a:r>
              <a:rPr spc="160" dirty="0"/>
              <a:t> </a:t>
            </a:r>
            <a:r>
              <a:rPr spc="10" dirty="0"/>
              <a:t>index</a:t>
            </a:r>
            <a:r>
              <a:rPr spc="155" dirty="0"/>
              <a:t> </a:t>
            </a:r>
            <a:r>
              <a:rPr spc="10" dirty="0"/>
              <a:t>lost</a:t>
            </a:r>
            <a:r>
              <a:rPr spc="160" dirty="0"/>
              <a:t> </a:t>
            </a:r>
            <a:r>
              <a:rPr spc="10" dirty="0"/>
              <a:t>about</a:t>
            </a:r>
            <a:r>
              <a:rPr spc="155" dirty="0"/>
              <a:t> </a:t>
            </a:r>
            <a:r>
              <a:rPr spc="10" dirty="0"/>
              <a:t>50%</a:t>
            </a:r>
            <a:r>
              <a:rPr spc="160" dirty="0"/>
              <a:t> </a:t>
            </a:r>
            <a:r>
              <a:rPr spc="10" dirty="0"/>
              <a:t>of</a:t>
            </a:r>
            <a:r>
              <a:rPr spc="155" dirty="0"/>
              <a:t> </a:t>
            </a:r>
            <a:r>
              <a:rPr spc="-25" dirty="0"/>
              <a:t>its 	</a:t>
            </a:r>
            <a:r>
              <a:rPr spc="10" dirty="0"/>
              <a:t>value</a:t>
            </a:r>
            <a:r>
              <a:rPr spc="190" dirty="0"/>
              <a:t> </a:t>
            </a:r>
            <a:r>
              <a:rPr spc="10" dirty="0"/>
              <a:t>due</a:t>
            </a:r>
            <a:r>
              <a:rPr spc="195" dirty="0"/>
              <a:t> </a:t>
            </a:r>
            <a:r>
              <a:rPr spc="10" dirty="0"/>
              <a:t>to</a:t>
            </a:r>
            <a:r>
              <a:rPr spc="195" dirty="0"/>
              <a:t> </a:t>
            </a:r>
            <a:r>
              <a:rPr spc="10" dirty="0"/>
              <a:t>truncation</a:t>
            </a:r>
            <a:r>
              <a:rPr spc="195" dirty="0"/>
              <a:t> </a:t>
            </a:r>
            <a:r>
              <a:rPr spc="-10" dirty="0"/>
              <a:t>errors!</a:t>
            </a:r>
          </a:p>
        </p:txBody>
      </p:sp>
      <p:sp>
        <p:nvSpPr>
          <p:cNvPr id="4" name="object 4"/>
          <p:cNvSpPr/>
          <p:nvPr/>
        </p:nvSpPr>
        <p:spPr>
          <a:xfrm>
            <a:off x="144005" y="3083890"/>
            <a:ext cx="5472430" cy="0"/>
          </a:xfrm>
          <a:custGeom>
            <a:avLst/>
            <a:gdLst/>
            <a:ahLst/>
            <a:cxnLst/>
            <a:rect l="l" t="t" r="r" b="b"/>
            <a:pathLst>
              <a:path w="5472430">
                <a:moveTo>
                  <a:pt x="0" y="0"/>
                </a:moveTo>
                <a:lnTo>
                  <a:pt x="5471985" y="0"/>
                </a:lnTo>
              </a:path>
            </a:pathLst>
          </a:custGeom>
          <a:ln w="3797">
            <a:solidFill>
              <a:srgbClr val="011E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7088" y="3080509"/>
            <a:ext cx="1097280" cy="132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Numbers,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errors</a:t>
            </a:r>
            <a:r>
              <a:rPr sz="600" spc="1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22373A"/>
                </a:solidFill>
                <a:latin typeface="Calibri"/>
                <a:cs typeface="Calibri"/>
              </a:rPr>
              <a:t>and</a:t>
            </a:r>
            <a:r>
              <a:rPr sz="600" spc="1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22373A"/>
                </a:solidFill>
                <a:latin typeface="Calibri"/>
                <a:cs typeface="Calibri"/>
              </a:rPr>
              <a:t>computers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8005" y="1511348"/>
            <a:ext cx="232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9F9F9"/>
                </a:solidFill>
                <a:latin typeface="Lucida Sans Unicode"/>
                <a:cs typeface="Lucida Sans Unicode"/>
              </a:rPr>
              <a:t>Thank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9F9F9"/>
                </a:solidFill>
                <a:latin typeface="Lucida Sans Unicode"/>
                <a:cs typeface="Lucida Sans Unicode"/>
              </a:rPr>
              <a:t>you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9F9F9"/>
                </a:solidFill>
                <a:latin typeface="Lucida Sans Unicode"/>
                <a:cs typeface="Lucida Sans Unicode"/>
              </a:rPr>
              <a:t>for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9F9F9"/>
                </a:solidFill>
                <a:latin typeface="Lucida Sans Unicode"/>
                <a:cs typeface="Lucida Sans Unicode"/>
              </a:rPr>
              <a:t>the</a:t>
            </a:r>
            <a:r>
              <a:rPr sz="1400" spc="-55" dirty="0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9F9F9"/>
                </a:solidFill>
                <a:latin typeface="Lucida Sans Unicode"/>
                <a:cs typeface="Lucida Sans Unicode"/>
              </a:rPr>
              <a:t>attention!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1681</Words>
  <Application>Microsoft Office PowerPoint</Application>
  <PresentationFormat>Personalizzato</PresentationFormat>
  <Paragraphs>217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9" baseType="lpstr">
      <vt:lpstr>Arial</vt:lpstr>
      <vt:lpstr>Bookman Old Style</vt:lpstr>
      <vt:lpstr>Calibri</vt:lpstr>
      <vt:lpstr>Cambria Math</vt:lpstr>
      <vt:lpstr>Century Gothic</vt:lpstr>
      <vt:lpstr>Corbel</vt:lpstr>
      <vt:lpstr>Courier New</vt:lpstr>
      <vt:lpstr>Lucida Sans Unicode</vt:lpstr>
      <vt:lpstr>Tahoma</vt:lpstr>
      <vt:lpstr>Times New Roman</vt:lpstr>
      <vt:lpstr>Verdana</vt:lpstr>
      <vt:lpstr>Office Theme</vt:lpstr>
      <vt:lpstr>Numbers, errors and computers.</vt:lpstr>
      <vt:lpstr>Numbers representation.</vt:lpstr>
      <vt:lpstr>Elementary operations</vt:lpstr>
      <vt:lpstr>Presentazione standard di PowerPoint</vt:lpstr>
      <vt:lpstr>Compute the Machine Epsilon (MACHEPS)</vt:lpstr>
      <vt:lpstr>Implementation</vt:lpstr>
      <vt:lpstr>Sum of the inverse of numbers (order matters!)</vt:lpstr>
      <vt:lpstr>Implementation</vt:lpstr>
      <vt:lpstr>17 % Display results</vt:lpstr>
      <vt:lpstr>Vancouver: a nickel at a time</vt:lpstr>
      <vt:lpstr>Solution - Part 1: Setup</vt:lpstr>
      <vt:lpstr>Solution - Part 2: Iteration Loop</vt:lpstr>
      <vt:lpstr>Solution - Part 3: Rounding Methods</vt:lpstr>
      <vt:lpstr>Solution - Part 4: Display Results</vt:lpstr>
      <vt:lpstr>Solution - Part 5: Differences Analysis</vt:lpstr>
      <vt:lpstr>Expected observations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Numbers, errors and computers. - Calcoli di Processo dell' Ingegneria Chimica</dc:title>
  <dc:creator>Timoteo Dinelli</dc:creator>
  <cp:lastModifiedBy>Lorenzo Giardini</cp:lastModifiedBy>
  <cp:revision>5</cp:revision>
  <dcterms:created xsi:type="dcterms:W3CDTF">2026-08-11T16:13:55Z</dcterms:created>
  <dcterms:modified xsi:type="dcterms:W3CDTF">2026-08-11T16:33:22Z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2026-08-11T00:00:00Z</vt:filetime>
  </property>
  <property fmtid="{D5CDD505-2E9C-101B-9397-08002B2CF9AE}" pid="5" name="PTEX.FullBanner">
    <vt:lpwstr>This is LuaHBTeX, Version 1.21.0 (TeX Live 2025)</vt:lpwstr>
  </property>
  <property fmtid="{D5CDD505-2E9C-101B-9397-08002B2CF9AE}" pid="6" name="Producer">
    <vt:lpwstr>LuaTeX-1.21.0</vt:lpwstr>
  </property>
</Properties>
</file>